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2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60" r:id="rId1"/>
    <p:sldMasterId id="2147483666" r:id="rId2"/>
  </p:sldMasterIdLst>
  <p:notesMasterIdLst>
    <p:notesMasterId r:id="rId10"/>
  </p:notesMasterIdLst>
  <p:sldIdLst>
    <p:sldId id="256" r:id="rId9"/>
    <p:sldId id="257" r:id="rId8"/>
    <p:sldId id="258" r:id="rId7"/>
    <p:sldId id="259" r:id="rId6"/>
    <p:sldId id="260" r:id="rId5"/>
    <p:sldId id="261" r:id="rId4"/>
    <p:sldId id="262" r:id="rId3"/>
    <p:sldId id="263" r:id="rId23"/>
    <p:sldId id="264" r:id="rId24"/>
    <p:sldId id="265" r:id="rId25"/>
    <p:sldId id="266" r:id="rId26"/>
    <p:sldId id="267" r:id="rId27"/>
    <p:sldId id="268" r:id="rId28"/>
    <p:sldId id="269" r:id="rId29"/>
    <p:sldId id="270" r:id="rId30"/>
    <p:sldId id="271" r:id="rId31"/>
    <p:sldId id="272" r:id="rId32"/>
    <p:sldId id="273" r:id="rId33"/>
    <p:sldId id="274" r:id="rId34"/>
    <p:sldId id="275" r:id="rId35"/>
    <p:sldId id="276" r:id="rId36"/>
    <p:sldId id="277" r:id="rId37"/>
    <p:sldId id="278" r:id="rId38"/>
    <p:sldId id="279" r:id="rId39"/>
    <p:sldId id="280" r:id="rId40"/>
    <p:sldId id="281" r:id="rId41"/>
    <p:sldId id="282" r:id="rId42"/>
    <p:sldId id="283" r:id="rId43"/>
    <p:sldId id="284" r:id="rId44"/>
    <p:sldId id="285" r:id="rId45"/>
    <p:sldId id="286" r:id="rId46"/>
    <p:sldId id="287" r:id="rId47"/>
    <p:sldId id="288" r:id="rId48"/>
    <p:sldId id="289" r:id="rId49"/>
    <p:sldId id="290" r:id="rId50"/>
    <p:sldId id="291" r:id="rId51"/>
    <p:sldId id="292" r:id="rId52"/>
    <p:sldId id="293" r:id="rId53"/>
    <p:sldId id="294" r:id="rId54"/>
    <p:sldId id="295" r:id="rId55"/>
    <p:sldId id="296" r:id="rId56"/>
    <p:sldId id="297" r:id="rId57"/>
    <p:sldId id="298" r:id="rId58"/>
    <p:sldId id="299" r:id="rId59"/>
    <p:sldId id="300" r:id="rId60"/>
    <p:sldId id="301" r:id="rId61"/>
    <p:sldId id="302" r:id="rId62"/>
    <p:sldId id="303" r:id="rId63"/>
    <p:sldId id="304" r:id="rId64"/>
    <p:sldId id="305" r:id="rId65"/>
    <p:sldId id="306" r:id="rId66"/>
    <p:sldId id="307" r:id="rId67"/>
    <p:sldId id="308" r:id="rId68"/>
    <p:sldId id="309" r:id="rId69"/>
    <p:sldId id="310" r:id="rId70"/>
    <p:sldId id="311" r:id="rId71"/>
    <p:sldId id="312" r:id="rId72"/>
    <p:sldId id="313" r:id="rId73"/>
    <p:sldId id="314" r:id="rId74"/>
    <p:sldId id="315" r:id="rId75"/>
    <p:sldId id="316" r:id="rId76"/>
    <p:sldId id="317" r:id="rId77"/>
  </p:sldIdLst>
  <p:sldSz cx="12192000" cy="6858000"/>
  <p:notesSz cx="6858000" cy="9144000"/>
  <p:embeddedFontLst>
    <p:embeddedFont>
      <p:font typeface="Calibri" panose="020F0502020204030204" pitchFamily="34" charset="0"/>
      <p:regular r:id="rId11"/>
      <p:bold r:id="rId12"/>
      <p:italic r:id="rId13"/>
      <p:boldItalic r:id="rId14"/>
    </p:embeddedFont>
    <p:embeddedFont>
      <p:font typeface="Mont Regular" panose="00000700000000000000" pitchFamily="2" charset="0"/>
      <p:regular r:id="rId15"/>
      <p:bold r:id="rId16"/>
    </p:embeddedFont>
    <p:embeddedFont>
      <p:font typeface="Mont SemiBold" panose="00000800000000000000" pitchFamily="2" charset="0"/>
      <p:regular r:id="rId17"/>
      <p:bold r:id="rId18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94" userDrawn="1">
          <p15:clr>
            <a:srgbClr val="A4A3A4"/>
          </p15:clr>
        </p15:guide>
        <p15:guide id="2" pos="347" userDrawn="1">
          <p15:clr>
            <a:srgbClr val="A4A3A4"/>
          </p15:clr>
        </p15:guide>
        <p15:guide id="3" orient="horz" pos="4133" userDrawn="1">
          <p15:clr>
            <a:srgbClr val="A4A3A4"/>
          </p15:clr>
        </p15:guide>
        <p15:guide id="4" pos="733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1A5FD"/>
    <a:srgbClr val="EAF3FF"/>
    <a:srgbClr val="000948"/>
    <a:srgbClr val="081C4F"/>
    <a:srgbClr val="7FB7FF"/>
    <a:srgbClr val="FBFCFE"/>
    <a:srgbClr val="F5F9FE"/>
    <a:srgbClr val="0E296E"/>
    <a:srgbClr val="091E38"/>
    <a:srgbClr val="355BB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175" autoAdjust="0"/>
    <p:restoredTop sz="96374" autoAdjust="0"/>
  </p:normalViewPr>
  <p:slideViewPr>
    <p:cSldViewPr snapToGrid="0" showGuides="1">
      <p:cViewPr varScale="1">
        <p:scale>
          <a:sx n="156" d="100"/>
          <a:sy n="156" d="100"/>
        </p:scale>
        <p:origin x="180" y="264"/>
      </p:cViewPr>
      <p:guideLst>
        <p:guide orient="horz" pos="1094"/>
        <p:guide pos="347"/>
        <p:guide orient="horz" pos="4133"/>
        <p:guide pos="733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7.xml"/><Relationship Id="rId4" Type="http://schemas.openxmlformats.org/officeDocument/2006/relationships/slide" Target="slides/slide6.xml"/><Relationship Id="rId5" Type="http://schemas.openxmlformats.org/officeDocument/2006/relationships/slide" Target="slides/slide5.xml"/><Relationship Id="rId6" Type="http://schemas.openxmlformats.org/officeDocument/2006/relationships/slide" Target="slides/slide4.xml"/><Relationship Id="rId7" Type="http://schemas.openxmlformats.org/officeDocument/2006/relationships/slide" Target="slides/slide3.xml"/><Relationship Id="rId8" Type="http://schemas.openxmlformats.org/officeDocument/2006/relationships/slide" Target="slides/slide2.xml"/><Relationship Id="rId9" Type="http://schemas.openxmlformats.org/officeDocument/2006/relationships/slide" Target="slides/slide1.xml"/><Relationship Id="rId10" Type="http://schemas.openxmlformats.org/officeDocument/2006/relationships/notesMaster" Target="notesMasters/notesMaster1.xml"/><Relationship Id="rId11" Type="http://schemas.openxmlformats.org/officeDocument/2006/relationships/font" Target="fonts/font1.fntdata"/><Relationship Id="rId12" Type="http://schemas.openxmlformats.org/officeDocument/2006/relationships/font" Target="fonts/font2.fntdata"/><Relationship Id="rId13" Type="http://schemas.openxmlformats.org/officeDocument/2006/relationships/font" Target="fonts/font3.fntdata"/><Relationship Id="rId14" Type="http://schemas.openxmlformats.org/officeDocument/2006/relationships/font" Target="fonts/font4.fntdata"/><Relationship Id="rId15" Type="http://schemas.openxmlformats.org/officeDocument/2006/relationships/font" Target="fonts/font5.fntdata"/><Relationship Id="rId16" Type="http://schemas.openxmlformats.org/officeDocument/2006/relationships/font" Target="fonts/font6.fntdata"/><Relationship Id="rId17" Type="http://schemas.openxmlformats.org/officeDocument/2006/relationships/font" Target="fonts/font7.fntdata"/><Relationship Id="rId18" Type="http://schemas.openxmlformats.org/officeDocument/2006/relationships/font" Target="fonts/font8.fntdata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23" Type="http://schemas.openxmlformats.org/officeDocument/2006/relationships/slide" Target="slides/slide8.xml"/><Relationship Id="rId24" Type="http://schemas.openxmlformats.org/officeDocument/2006/relationships/slide" Target="slides/slide9.xml"/><Relationship Id="rId25" Type="http://schemas.openxmlformats.org/officeDocument/2006/relationships/slide" Target="slides/slide10.xml"/><Relationship Id="rId26" Type="http://schemas.openxmlformats.org/officeDocument/2006/relationships/slide" Target="slides/slide11.xml"/><Relationship Id="rId27" Type="http://schemas.openxmlformats.org/officeDocument/2006/relationships/slide" Target="slides/slide12.xml"/><Relationship Id="rId28" Type="http://schemas.openxmlformats.org/officeDocument/2006/relationships/slide" Target="slides/slide13.xml"/><Relationship Id="rId29" Type="http://schemas.openxmlformats.org/officeDocument/2006/relationships/slide" Target="slides/slide14.xml"/><Relationship Id="rId30" Type="http://schemas.openxmlformats.org/officeDocument/2006/relationships/slide" Target="slides/slide15.xml"/><Relationship Id="rId31" Type="http://schemas.openxmlformats.org/officeDocument/2006/relationships/slide" Target="slides/slide16.xml"/><Relationship Id="rId32" Type="http://schemas.openxmlformats.org/officeDocument/2006/relationships/slide" Target="slides/slide17.xml"/><Relationship Id="rId33" Type="http://schemas.openxmlformats.org/officeDocument/2006/relationships/slide" Target="slides/slide18.xml"/><Relationship Id="rId34" Type="http://schemas.openxmlformats.org/officeDocument/2006/relationships/slide" Target="slides/slide19.xml"/><Relationship Id="rId35" Type="http://schemas.openxmlformats.org/officeDocument/2006/relationships/slide" Target="slides/slide20.xml"/><Relationship Id="rId36" Type="http://schemas.openxmlformats.org/officeDocument/2006/relationships/slide" Target="slides/slide21.xml"/><Relationship Id="rId37" Type="http://schemas.openxmlformats.org/officeDocument/2006/relationships/slide" Target="slides/slide22.xml"/><Relationship Id="rId38" Type="http://schemas.openxmlformats.org/officeDocument/2006/relationships/slide" Target="slides/slide23.xml"/><Relationship Id="rId39" Type="http://schemas.openxmlformats.org/officeDocument/2006/relationships/slide" Target="slides/slide24.xml"/><Relationship Id="rId40" Type="http://schemas.openxmlformats.org/officeDocument/2006/relationships/slide" Target="slides/slide25.xml"/><Relationship Id="rId41" Type="http://schemas.openxmlformats.org/officeDocument/2006/relationships/slide" Target="slides/slide26.xml"/><Relationship Id="rId42" Type="http://schemas.openxmlformats.org/officeDocument/2006/relationships/slide" Target="slides/slide27.xml"/><Relationship Id="rId43" Type="http://schemas.openxmlformats.org/officeDocument/2006/relationships/slide" Target="slides/slide28.xml"/><Relationship Id="rId44" Type="http://schemas.openxmlformats.org/officeDocument/2006/relationships/slide" Target="slides/slide29.xml"/><Relationship Id="rId45" Type="http://schemas.openxmlformats.org/officeDocument/2006/relationships/slide" Target="slides/slide30.xml"/><Relationship Id="rId46" Type="http://schemas.openxmlformats.org/officeDocument/2006/relationships/slide" Target="slides/slide31.xml"/><Relationship Id="rId47" Type="http://schemas.openxmlformats.org/officeDocument/2006/relationships/slide" Target="slides/slide32.xml"/><Relationship Id="rId48" Type="http://schemas.openxmlformats.org/officeDocument/2006/relationships/slide" Target="slides/slide33.xml"/><Relationship Id="rId49" Type="http://schemas.openxmlformats.org/officeDocument/2006/relationships/slide" Target="slides/slide34.xml"/><Relationship Id="rId50" Type="http://schemas.openxmlformats.org/officeDocument/2006/relationships/slide" Target="slides/slide35.xml"/><Relationship Id="rId51" Type="http://schemas.openxmlformats.org/officeDocument/2006/relationships/slide" Target="slides/slide36.xml"/><Relationship Id="rId52" Type="http://schemas.openxmlformats.org/officeDocument/2006/relationships/slide" Target="slides/slide37.xml"/><Relationship Id="rId53" Type="http://schemas.openxmlformats.org/officeDocument/2006/relationships/slide" Target="slides/slide38.xml"/><Relationship Id="rId54" Type="http://schemas.openxmlformats.org/officeDocument/2006/relationships/slide" Target="slides/slide39.xml"/><Relationship Id="rId55" Type="http://schemas.openxmlformats.org/officeDocument/2006/relationships/slide" Target="slides/slide40.xml"/><Relationship Id="rId56" Type="http://schemas.openxmlformats.org/officeDocument/2006/relationships/slide" Target="slides/slide41.xml"/><Relationship Id="rId57" Type="http://schemas.openxmlformats.org/officeDocument/2006/relationships/slide" Target="slides/slide42.xml"/><Relationship Id="rId58" Type="http://schemas.openxmlformats.org/officeDocument/2006/relationships/slide" Target="slides/slide43.xml"/><Relationship Id="rId59" Type="http://schemas.openxmlformats.org/officeDocument/2006/relationships/slide" Target="slides/slide44.xml"/><Relationship Id="rId60" Type="http://schemas.openxmlformats.org/officeDocument/2006/relationships/slide" Target="slides/slide45.xml"/><Relationship Id="rId61" Type="http://schemas.openxmlformats.org/officeDocument/2006/relationships/slide" Target="slides/slide46.xml"/><Relationship Id="rId62" Type="http://schemas.openxmlformats.org/officeDocument/2006/relationships/slide" Target="slides/slide47.xml"/><Relationship Id="rId63" Type="http://schemas.openxmlformats.org/officeDocument/2006/relationships/slide" Target="slides/slide48.xml"/><Relationship Id="rId64" Type="http://schemas.openxmlformats.org/officeDocument/2006/relationships/slide" Target="slides/slide49.xml"/><Relationship Id="rId65" Type="http://schemas.openxmlformats.org/officeDocument/2006/relationships/slide" Target="slides/slide50.xml"/><Relationship Id="rId66" Type="http://schemas.openxmlformats.org/officeDocument/2006/relationships/slide" Target="slides/slide51.xml"/><Relationship Id="rId67" Type="http://schemas.openxmlformats.org/officeDocument/2006/relationships/slide" Target="slides/slide52.xml"/><Relationship Id="rId68" Type="http://schemas.openxmlformats.org/officeDocument/2006/relationships/slide" Target="slides/slide53.xml"/><Relationship Id="rId69" Type="http://schemas.openxmlformats.org/officeDocument/2006/relationships/slide" Target="slides/slide54.xml"/><Relationship Id="rId70" Type="http://schemas.openxmlformats.org/officeDocument/2006/relationships/slide" Target="slides/slide55.xml"/><Relationship Id="rId71" Type="http://schemas.openxmlformats.org/officeDocument/2006/relationships/slide" Target="slides/slide56.xml"/><Relationship Id="rId72" Type="http://schemas.openxmlformats.org/officeDocument/2006/relationships/slide" Target="slides/slide57.xml"/><Relationship Id="rId73" Type="http://schemas.openxmlformats.org/officeDocument/2006/relationships/slide" Target="slides/slide58.xml"/><Relationship Id="rId74" Type="http://schemas.openxmlformats.org/officeDocument/2006/relationships/slide" Target="slides/slide59.xml"/><Relationship Id="rId75" Type="http://schemas.openxmlformats.org/officeDocument/2006/relationships/slide" Target="slides/slide60.xml"/><Relationship Id="rId76" Type="http://schemas.openxmlformats.org/officeDocument/2006/relationships/slide" Target="slides/slide61.xml"/><Relationship Id="rId77" Type="http://schemas.openxmlformats.org/officeDocument/2006/relationships/slide" Target="slides/slide6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5DC8EA-21D9-40F8-98D2-55048FC8A8E9}" type="datetimeFigureOut">
              <a:rPr lang="ru-RU" smtClean="0"/>
              <a:t>01.04.2026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45B6D2-EE63-4031-A7A5-B6A56908F4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90680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jpg"/><Relationship Id="rId3" Type="http://schemas.openxmlformats.org/officeDocument/2006/relationships/image" Target="../media/image6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jp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таблице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EAC589-BC81-40B4-B9E9-4847948B4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3" y="671248"/>
            <a:ext cx="11198224" cy="584960"/>
          </a:xfrm>
        </p:spPr>
        <p:txBody>
          <a:bodyPr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8" name="Текст 12">
            <a:extLst>
              <a:ext uri="{FF2B5EF4-FFF2-40B4-BE49-F238E27FC236}">
                <a16:creationId xmlns:a16="http://schemas.microsoft.com/office/drawing/2014/main" id="{0D2F4FB8-F65E-4FDE-98B4-95712A5BF67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2913" y="1228230"/>
            <a:ext cx="5653087" cy="55240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9" name="Таблица 15">
            <a:extLst>
              <a:ext uri="{FF2B5EF4-FFF2-40B4-BE49-F238E27FC236}">
                <a16:creationId xmlns:a16="http://schemas.microsoft.com/office/drawing/2014/main" id="{9A13E51C-23B4-47E1-8B8C-4EAB8630D011}"/>
              </a:ext>
            </a:extLst>
          </p:cNvPr>
          <p:cNvSpPr>
            <a:spLocks noGrp="1"/>
          </p:cNvSpPr>
          <p:nvPr>
            <p:ph type="tbl" sz="quarter" idx="14" hasCustomPrompt="1"/>
          </p:nvPr>
        </p:nvSpPr>
        <p:spPr>
          <a:xfrm>
            <a:off x="442914" y="1970088"/>
            <a:ext cx="11198224" cy="24542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ru-RU" dirty="0"/>
              <a:t>Текст</a:t>
            </a:r>
          </a:p>
        </p:txBody>
      </p:sp>
      <p:sp>
        <p:nvSpPr>
          <p:cNvPr id="10" name="Текст 4">
            <a:extLst>
              <a:ext uri="{FF2B5EF4-FFF2-40B4-BE49-F238E27FC236}">
                <a16:creationId xmlns:a16="http://schemas.microsoft.com/office/drawing/2014/main" id="{7F5680B4-608F-4108-B2F0-AFF34CD3AE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2912" y="4613563"/>
            <a:ext cx="5525511" cy="1504171"/>
          </a:xfrm>
          <a:prstGeom prst="rect">
            <a:avLst/>
          </a:prstGeom>
        </p:spPr>
        <p:txBody>
          <a:bodyPr/>
          <a:lstStyle>
            <a:lvl2pPr>
              <a:defRPr/>
            </a:lvl2pPr>
          </a:lstStyle>
          <a:p>
            <a:pPr lvl="1"/>
            <a:r>
              <a:rPr lang="ru-RU" dirty="0"/>
              <a:t>Нажмите кнопку «увеличить отступ» во вкладке «главная», чтобы сделать текст меньше</a:t>
            </a:r>
          </a:p>
        </p:txBody>
      </p:sp>
      <p:sp>
        <p:nvSpPr>
          <p:cNvPr id="11" name="Текст 4">
            <a:extLst>
              <a:ext uri="{FF2B5EF4-FFF2-40B4-BE49-F238E27FC236}">
                <a16:creationId xmlns:a16="http://schemas.microsoft.com/office/drawing/2014/main" id="{28C8ED11-F0CC-4E0A-8EC4-C2A1B830C4D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23577" y="4613563"/>
            <a:ext cx="5417560" cy="1504171"/>
          </a:xfrm>
          <a:prstGeom prst="rect">
            <a:avLst/>
          </a:prstGeom>
        </p:spPr>
        <p:txBody>
          <a:bodyPr/>
          <a:lstStyle>
            <a:lvl2pPr>
              <a:defRPr/>
            </a:lvl2pPr>
          </a:lstStyle>
          <a:p>
            <a:pPr lvl="1"/>
            <a:r>
              <a:rPr lang="ru-RU" dirty="0"/>
              <a:t>Нажмите кнопку «увеличить отступ» во вкладке «главная», чтобы сделать текст меньше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7C580E99-B03B-4989-BBBA-F6E1354CAD0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3306" y="6273800"/>
            <a:ext cx="357832" cy="279044"/>
          </a:xfrm>
          <a:prstGeom prst="rect">
            <a:avLst/>
          </a:prstGeom>
        </p:spPr>
      </p:pic>
      <p:sp>
        <p:nvSpPr>
          <p:cNvPr id="13" name="Текст 19">
            <a:extLst>
              <a:ext uri="{FF2B5EF4-FFF2-40B4-BE49-F238E27FC236}">
                <a16:creationId xmlns:a16="http://schemas.microsoft.com/office/drawing/2014/main" id="{E91CCC5C-33EC-4650-8BA2-A78F6F41C40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2913" y="6384626"/>
            <a:ext cx="3371850" cy="277813"/>
          </a:xfrm>
          <a:prstGeom prst="rect">
            <a:avLst/>
          </a:prstGeom>
        </p:spPr>
        <p:txBody>
          <a:bodyPr/>
          <a:lstStyle>
            <a:lvl2pPr>
              <a:defRPr>
                <a:solidFill>
                  <a:schemeClr val="tx1"/>
                </a:solidFill>
              </a:defRPr>
            </a:lvl2pPr>
          </a:lstStyle>
          <a:p>
            <a:pPr lvl="1"/>
            <a:r>
              <a:rPr lang="ru-RU" dirty="0"/>
              <a:t>Название презентации</a:t>
            </a:r>
          </a:p>
        </p:txBody>
      </p:sp>
    </p:spTree>
    <p:extLst>
      <p:ext uri="{BB962C8B-B14F-4D97-AF65-F5344CB8AC3E}">
        <p14:creationId xmlns:p14="http://schemas.microsoft.com/office/powerpoint/2010/main" val="22905971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лайд с рисунк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26EB91-71C0-4690-9CBB-45C9B5762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2913" y="671247"/>
            <a:ext cx="11198224" cy="1120247"/>
          </a:xfrm>
        </p:spPr>
        <p:txBody>
          <a:bodyPr>
            <a:normAutofit/>
          </a:bodyPr>
          <a:lstStyle>
            <a:lvl1pPr>
              <a:defRPr sz="3500"/>
            </a:lvl1pPr>
          </a:lstStyle>
          <a:p>
            <a:r>
              <a:rPr lang="ru-RU" dirty="0"/>
              <a:t>Заголовок</a:t>
            </a:r>
          </a:p>
        </p:txBody>
      </p:sp>
      <p:sp>
        <p:nvSpPr>
          <p:cNvPr id="8" name="Текст 12">
            <a:extLst>
              <a:ext uri="{FF2B5EF4-FFF2-40B4-BE49-F238E27FC236}">
                <a16:creationId xmlns:a16="http://schemas.microsoft.com/office/drawing/2014/main" id="{CA8F8B23-E33A-4CAF-BA2D-516123FEBB7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2913" y="1228230"/>
            <a:ext cx="5653087" cy="55240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12D920E0-504C-421C-A25E-3A82B658C2E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42913" y="1791494"/>
            <a:ext cx="4370387" cy="1932608"/>
          </a:xfrm>
          <a:prstGeom prst="rect">
            <a:avLst/>
          </a:prstGeom>
        </p:spPr>
        <p:txBody>
          <a:bodyPr/>
          <a:lstStyle>
            <a:lvl2pPr>
              <a:defRPr/>
            </a:lvl2pPr>
          </a:lstStyle>
          <a:p>
            <a:pPr lvl="1"/>
            <a:r>
              <a:rPr lang="ru-RU" dirty="0"/>
              <a:t>Нажмите кнопку «увеличить отступ» во вкладке «главная», чтобы сделать текст меньше</a:t>
            </a:r>
          </a:p>
        </p:txBody>
      </p:sp>
      <p:sp>
        <p:nvSpPr>
          <p:cNvPr id="11" name="Текст 9">
            <a:extLst>
              <a:ext uri="{FF2B5EF4-FFF2-40B4-BE49-F238E27FC236}">
                <a16:creationId xmlns:a16="http://schemas.microsoft.com/office/drawing/2014/main" id="{DDEC9A70-E4D3-4614-8E55-DE0EF2E730E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2913" y="3831706"/>
            <a:ext cx="4370387" cy="2464622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/>
            </a:lvl2pPr>
          </a:lstStyle>
          <a:p>
            <a:pPr lvl="0"/>
            <a:r>
              <a:rPr lang="ru-RU" dirty="0"/>
              <a:t>Подзаголовок</a:t>
            </a:r>
          </a:p>
          <a:p>
            <a:pPr lvl="1"/>
            <a:r>
              <a:rPr lang="ru-RU" dirty="0"/>
              <a:t>Нажмите кнопку «увеличить отступ» во вкладке «главная», чтобы сделать текст меньше</a:t>
            </a:r>
          </a:p>
        </p:txBody>
      </p:sp>
      <p:sp>
        <p:nvSpPr>
          <p:cNvPr id="13" name="Рисунок 12">
            <a:extLst>
              <a:ext uri="{FF2B5EF4-FFF2-40B4-BE49-F238E27FC236}">
                <a16:creationId xmlns:a16="http://schemas.microsoft.com/office/drawing/2014/main" id="{158CA22C-9BB2-41CA-B2C8-CC858FBCED5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650297" y="1228230"/>
            <a:ext cx="4990840" cy="4532490"/>
          </a:xfrm>
          <a:prstGeom prst="roundRect">
            <a:avLst>
              <a:gd name="adj" fmla="val 9337"/>
            </a:avLst>
          </a:prstGeom>
          <a:solidFill>
            <a:schemeClr val="bg2"/>
          </a:solidFill>
        </p:spPr>
        <p:txBody>
          <a:bodyPr/>
          <a:lstStyle/>
          <a:p>
            <a:r>
              <a:rPr lang="ru-RU"/>
              <a:t>Вставка рисунка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66B2122E-AE0E-42A5-A740-66F97946B12E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3306" y="6273800"/>
            <a:ext cx="357832" cy="279044"/>
          </a:xfrm>
          <a:prstGeom prst="rect">
            <a:avLst/>
          </a:prstGeom>
        </p:spPr>
      </p:pic>
      <p:sp>
        <p:nvSpPr>
          <p:cNvPr id="16" name="Текст 19">
            <a:extLst>
              <a:ext uri="{FF2B5EF4-FFF2-40B4-BE49-F238E27FC236}">
                <a16:creationId xmlns:a16="http://schemas.microsoft.com/office/drawing/2014/main" id="{9E67BA6A-FDC9-4073-9313-D591A2C113A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2913" y="6384626"/>
            <a:ext cx="3371850" cy="277813"/>
          </a:xfrm>
          <a:prstGeom prst="rect">
            <a:avLst/>
          </a:prstGeom>
        </p:spPr>
        <p:txBody>
          <a:bodyPr/>
          <a:lstStyle>
            <a:lvl2pPr>
              <a:defRPr>
                <a:solidFill>
                  <a:schemeClr val="tx1"/>
                </a:solidFill>
              </a:defRPr>
            </a:lvl2pPr>
          </a:lstStyle>
          <a:p>
            <a:pPr lvl="1"/>
            <a:r>
              <a:rPr lang="ru-RU" dirty="0"/>
              <a:t>Название презентации</a:t>
            </a:r>
          </a:p>
        </p:txBody>
      </p:sp>
    </p:spTree>
    <p:extLst>
      <p:ext uri="{BB962C8B-B14F-4D97-AF65-F5344CB8AC3E}">
        <p14:creationId xmlns:p14="http://schemas.microsoft.com/office/powerpoint/2010/main" val="2663171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лайд с карточ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70A48D-437F-4653-BFAE-C05CAB5D45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3500"/>
            </a:lvl1pPr>
          </a:lstStyle>
          <a:p>
            <a:r>
              <a:rPr lang="ru-RU" dirty="0"/>
              <a:t>Слайд с карточками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A77DC3D8-64E0-4DB9-A9D2-F69551DD5E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4240" y="1472596"/>
            <a:ext cx="3636898" cy="4666089"/>
          </a:xfrm>
          <a:prstGeom prst="roundRect">
            <a:avLst>
              <a:gd name="adj" fmla="val 4620"/>
            </a:avLst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74897AA1-EFD3-4762-AA95-DD61A64F15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8394" y="1472596"/>
            <a:ext cx="3636898" cy="4666089"/>
          </a:xfrm>
          <a:prstGeom prst="roundRect">
            <a:avLst>
              <a:gd name="adj" fmla="val 4620"/>
            </a:avLst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54CD1FE0-DE10-4823-B7D2-A020870342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548" y="1472596"/>
            <a:ext cx="3636898" cy="4666089"/>
          </a:xfrm>
          <a:prstGeom prst="roundRect">
            <a:avLst>
              <a:gd name="adj" fmla="val 4620"/>
            </a:avLst>
          </a:prstGeom>
        </p:spPr>
      </p:pic>
      <p:sp>
        <p:nvSpPr>
          <p:cNvPr id="16" name="Текст 15">
            <a:extLst>
              <a:ext uri="{FF2B5EF4-FFF2-40B4-BE49-F238E27FC236}">
                <a16:creationId xmlns:a16="http://schemas.microsoft.com/office/drawing/2014/main" id="{671A6078-29B7-4AF6-A395-12AE9E74D21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39775" y="1723633"/>
            <a:ext cx="3259138" cy="4164013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</p:txBody>
      </p:sp>
      <p:sp>
        <p:nvSpPr>
          <p:cNvPr id="17" name="Текст 15">
            <a:extLst>
              <a:ext uri="{FF2B5EF4-FFF2-40B4-BE49-F238E27FC236}">
                <a16:creationId xmlns:a16="http://schemas.microsoft.com/office/drawing/2014/main" id="{2A73B455-E8B3-455F-A591-A113EDB94AC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412456" y="1723633"/>
            <a:ext cx="3259138" cy="4164013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</p:txBody>
      </p:sp>
      <p:sp>
        <p:nvSpPr>
          <p:cNvPr id="18" name="Текст 15">
            <a:extLst>
              <a:ext uri="{FF2B5EF4-FFF2-40B4-BE49-F238E27FC236}">
                <a16:creationId xmlns:a16="http://schemas.microsoft.com/office/drawing/2014/main" id="{846383FF-D242-4A2B-8DDD-E107B36E43F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193087" y="1723633"/>
            <a:ext cx="3259138" cy="4164013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DD427F59-3571-4CF3-B08C-9B411DD74FC9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3306" y="6273800"/>
            <a:ext cx="357832" cy="279044"/>
          </a:xfrm>
          <a:prstGeom prst="rect">
            <a:avLst/>
          </a:prstGeom>
        </p:spPr>
      </p:pic>
      <p:sp>
        <p:nvSpPr>
          <p:cNvPr id="21" name="Текст 19">
            <a:extLst>
              <a:ext uri="{FF2B5EF4-FFF2-40B4-BE49-F238E27FC236}">
                <a16:creationId xmlns:a16="http://schemas.microsoft.com/office/drawing/2014/main" id="{9BFAAFCB-A779-4104-B125-B8E16D1ECF0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2913" y="6384626"/>
            <a:ext cx="3371850" cy="277813"/>
          </a:xfrm>
          <a:prstGeom prst="rect">
            <a:avLst/>
          </a:prstGeom>
        </p:spPr>
        <p:txBody>
          <a:bodyPr/>
          <a:lstStyle>
            <a:lvl2pPr>
              <a:defRPr>
                <a:solidFill>
                  <a:schemeClr val="tx1"/>
                </a:solidFill>
              </a:defRPr>
            </a:lvl2pPr>
          </a:lstStyle>
          <a:p>
            <a:pPr lvl="1"/>
            <a:r>
              <a:rPr lang="ru-RU" dirty="0"/>
              <a:t>Название презентации</a:t>
            </a:r>
          </a:p>
        </p:txBody>
      </p:sp>
    </p:spTree>
    <p:extLst>
      <p:ext uri="{BB962C8B-B14F-4D97-AF65-F5344CB8AC3E}">
        <p14:creationId xmlns:p14="http://schemas.microsoft.com/office/powerpoint/2010/main" val="28245225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перечисление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Заголовок 1">
            <a:extLst>
              <a:ext uri="{FF2B5EF4-FFF2-40B4-BE49-F238E27FC236}">
                <a16:creationId xmlns:a16="http://schemas.microsoft.com/office/drawing/2014/main" id="{9B66C857-95BF-47E2-8350-8B4B84E11B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2913" y="671247"/>
            <a:ext cx="11198224" cy="1109385"/>
          </a:xfrm>
        </p:spPr>
        <p:txBody>
          <a:bodyPr>
            <a:normAutofit/>
          </a:bodyPr>
          <a:lstStyle>
            <a:lvl1pPr>
              <a:defRPr sz="3500" b="1"/>
            </a:lvl1pPr>
          </a:lstStyle>
          <a:p>
            <a:r>
              <a:rPr lang="ru-RU" dirty="0"/>
              <a:t>Слайд с перечислением</a:t>
            </a:r>
          </a:p>
        </p:txBody>
      </p:sp>
      <p:sp>
        <p:nvSpPr>
          <p:cNvPr id="19" name="Текст 12">
            <a:extLst>
              <a:ext uri="{FF2B5EF4-FFF2-40B4-BE49-F238E27FC236}">
                <a16:creationId xmlns:a16="http://schemas.microsoft.com/office/drawing/2014/main" id="{F3628BC8-F1B5-4631-A176-6D5A879DC48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2913" y="1228230"/>
            <a:ext cx="5653087" cy="55240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1" name="Текст 10">
            <a:extLst>
              <a:ext uri="{FF2B5EF4-FFF2-40B4-BE49-F238E27FC236}">
                <a16:creationId xmlns:a16="http://schemas.microsoft.com/office/drawing/2014/main" id="{29D79CE9-52C3-461F-810C-E375E30BD41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352" y="1720850"/>
            <a:ext cx="3221037" cy="2393950"/>
          </a:xfrm>
          <a:prstGeom prst="roundRect">
            <a:avLst>
              <a:gd name="adj" fmla="val 4333"/>
            </a:avLst>
          </a:prstGeom>
          <a:blipFill>
            <a:blip r:embed="rId2"/>
            <a:stretch>
              <a:fillRect/>
            </a:stretch>
          </a:blipFill>
        </p:spPr>
        <p:txBody>
          <a:bodyPr lIns="180000" tIns="180000" rIns="180000" bIns="180000"/>
          <a:lstStyle>
            <a:lvl1pPr marL="0">
              <a:spcBef>
                <a:spcPts val="300"/>
              </a:spcBef>
              <a:defRPr>
                <a:solidFill>
                  <a:schemeClr val="bg1"/>
                </a:solidFill>
              </a:defRPr>
            </a:lvl1pPr>
            <a:lvl2pPr marL="0">
              <a:spcBef>
                <a:spcPts val="300"/>
              </a:spcBef>
              <a:defRPr>
                <a:solidFill>
                  <a:schemeClr val="bg1"/>
                </a:solidFill>
              </a:defRPr>
            </a:lvl2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</p:txBody>
      </p:sp>
      <p:sp>
        <p:nvSpPr>
          <p:cNvPr id="22" name="Текст 13">
            <a:extLst>
              <a:ext uri="{FF2B5EF4-FFF2-40B4-BE49-F238E27FC236}">
                <a16:creationId xmlns:a16="http://schemas.microsoft.com/office/drawing/2014/main" id="{1805E424-5D31-44D1-9EC3-52E414C8099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219700" y="1690688"/>
            <a:ext cx="6421438" cy="4291012"/>
          </a:xfrm>
          <a:prstGeom prst="rect">
            <a:avLst/>
          </a:prstGeom>
        </p:spPr>
        <p:txBody>
          <a:bodyPr/>
          <a:lstStyle>
            <a:lvl2pPr>
              <a:defRPr/>
            </a:lvl2pPr>
          </a:lstStyle>
          <a:p>
            <a:pPr lvl="1"/>
            <a:r>
              <a:rPr lang="ru-RU" dirty="0"/>
              <a:t>Нажмите кнопку «увеличить отступ» во вкладке «главная», чтобы сделать текст меньше</a:t>
            </a:r>
          </a:p>
        </p:txBody>
      </p:sp>
      <p:sp>
        <p:nvSpPr>
          <p:cNvPr id="25" name="Рисунок 24">
            <a:extLst>
              <a:ext uri="{FF2B5EF4-FFF2-40B4-BE49-F238E27FC236}">
                <a16:creationId xmlns:a16="http://schemas.microsoft.com/office/drawing/2014/main" id="{378B5B71-E233-4A06-9AF1-09B8D519D47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546770" y="1690688"/>
            <a:ext cx="507658" cy="507658"/>
          </a:xfrm>
          <a:prstGeom prst="ellipse">
            <a:avLst/>
          </a:prstGeom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26" name="Рисунок 24">
            <a:extLst>
              <a:ext uri="{FF2B5EF4-FFF2-40B4-BE49-F238E27FC236}">
                <a16:creationId xmlns:a16="http://schemas.microsoft.com/office/drawing/2014/main" id="{6C837D5E-C9FF-4231-894D-1AB8EC0E83F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546770" y="2337615"/>
            <a:ext cx="507658" cy="507658"/>
          </a:xfrm>
          <a:prstGeom prst="ellipse">
            <a:avLst/>
          </a:prstGeom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27" name="Рисунок 24">
            <a:extLst>
              <a:ext uri="{FF2B5EF4-FFF2-40B4-BE49-F238E27FC236}">
                <a16:creationId xmlns:a16="http://schemas.microsoft.com/office/drawing/2014/main" id="{46C065B2-433D-408D-912E-4B4CA6D8C27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546770" y="2984542"/>
            <a:ext cx="507658" cy="507658"/>
          </a:xfrm>
          <a:prstGeom prst="ellipse">
            <a:avLst/>
          </a:prstGeom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28" name="Рисунок 24">
            <a:extLst>
              <a:ext uri="{FF2B5EF4-FFF2-40B4-BE49-F238E27FC236}">
                <a16:creationId xmlns:a16="http://schemas.microsoft.com/office/drawing/2014/main" id="{ACF323D5-91B3-4196-B65C-38DF4E64F13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546770" y="3627337"/>
            <a:ext cx="507658" cy="507658"/>
          </a:xfrm>
          <a:prstGeom prst="ellipse">
            <a:avLst/>
          </a:prstGeom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29" name="Рисунок 24">
            <a:extLst>
              <a:ext uri="{FF2B5EF4-FFF2-40B4-BE49-F238E27FC236}">
                <a16:creationId xmlns:a16="http://schemas.microsoft.com/office/drawing/2014/main" id="{856D2F5B-F5D2-429A-9BB9-85A1BD9A6285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546770" y="4270132"/>
            <a:ext cx="507658" cy="507658"/>
          </a:xfrm>
          <a:prstGeom prst="ellipse">
            <a:avLst/>
          </a:prstGeom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30" name="Рисунок 24">
            <a:extLst>
              <a:ext uri="{FF2B5EF4-FFF2-40B4-BE49-F238E27FC236}">
                <a16:creationId xmlns:a16="http://schemas.microsoft.com/office/drawing/2014/main" id="{14593B76-605D-4E07-B42F-B6BC6E62C60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4546770" y="4913483"/>
            <a:ext cx="507658" cy="507658"/>
          </a:xfrm>
          <a:prstGeom prst="ellipse">
            <a:avLst/>
          </a:prstGeom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/>
              <a:t>Вставка рисунка</a:t>
            </a:r>
            <a:endParaRPr lang="ru-RU" dirty="0"/>
          </a:p>
        </p:txBody>
      </p:sp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8D19212D-20D1-4084-B452-C475734C8364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3306" y="6273800"/>
            <a:ext cx="357832" cy="279044"/>
          </a:xfrm>
          <a:prstGeom prst="rect">
            <a:avLst/>
          </a:prstGeom>
        </p:spPr>
      </p:pic>
      <p:sp>
        <p:nvSpPr>
          <p:cNvPr id="32" name="Текст 19">
            <a:extLst>
              <a:ext uri="{FF2B5EF4-FFF2-40B4-BE49-F238E27FC236}">
                <a16:creationId xmlns:a16="http://schemas.microsoft.com/office/drawing/2014/main" id="{C5ADD586-2521-403E-80B0-9BCB07A363B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42913" y="6384626"/>
            <a:ext cx="3371850" cy="277813"/>
          </a:xfrm>
          <a:prstGeom prst="rect">
            <a:avLst/>
          </a:prstGeom>
        </p:spPr>
        <p:txBody>
          <a:bodyPr/>
          <a:lstStyle>
            <a:lvl2pPr>
              <a:defRPr>
                <a:solidFill>
                  <a:schemeClr val="tx1"/>
                </a:solidFill>
              </a:defRPr>
            </a:lvl2pPr>
          </a:lstStyle>
          <a:p>
            <a:pPr lvl="1"/>
            <a:r>
              <a:rPr lang="ru-RU" dirty="0"/>
              <a:t>Название презентации</a:t>
            </a:r>
          </a:p>
        </p:txBody>
      </p:sp>
    </p:spTree>
    <p:extLst>
      <p:ext uri="{BB962C8B-B14F-4D97-AF65-F5344CB8AC3E}">
        <p14:creationId xmlns:p14="http://schemas.microsoft.com/office/powerpoint/2010/main" val="25497925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олько фо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61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360DFF-4709-4F5A-99A8-A61D0BB31F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2913" y="598488"/>
            <a:ext cx="6200775" cy="2387600"/>
          </a:xfrm>
        </p:spPr>
        <p:txBody>
          <a:bodyPr anchor="t">
            <a:normAutofit/>
          </a:bodyPr>
          <a:lstStyle>
            <a:lvl1pPr algn="l">
              <a:defRPr sz="4800">
                <a:solidFill>
                  <a:schemeClr val="tx1"/>
                </a:solidFill>
                <a:latin typeface="Mont SemiBold" panose="00000800000000000000" pitchFamily="2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A6DF89B-3867-4BAB-8512-217C71B8135D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3766" y="5570290"/>
            <a:ext cx="903591" cy="703510"/>
          </a:xfrm>
          <a:prstGeom prst="rect">
            <a:avLst/>
          </a:prstGeom>
        </p:spPr>
      </p:pic>
      <p:sp>
        <p:nvSpPr>
          <p:cNvPr id="8" name="Текст 19">
            <a:extLst>
              <a:ext uri="{FF2B5EF4-FFF2-40B4-BE49-F238E27FC236}">
                <a16:creationId xmlns:a16="http://schemas.microsoft.com/office/drawing/2014/main" id="{C9DA2715-32BC-4498-B10F-A4A40C2867B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2913" y="6120605"/>
            <a:ext cx="3371850" cy="277813"/>
          </a:xfrm>
        </p:spPr>
        <p:txBody>
          <a:bodyPr/>
          <a:lstStyle>
            <a:lvl2pPr>
              <a:defRPr>
                <a:solidFill>
                  <a:schemeClr val="tx1"/>
                </a:solidFill>
              </a:defRPr>
            </a:lvl2pPr>
          </a:lstStyle>
          <a:p>
            <a:pPr lvl="1"/>
            <a:r>
              <a:rPr lang="ru-RU" dirty="0"/>
              <a:t>Дата презентации</a:t>
            </a:r>
          </a:p>
        </p:txBody>
      </p:sp>
    </p:spTree>
    <p:extLst>
      <p:ext uri="{BB962C8B-B14F-4D97-AF65-F5344CB8AC3E}">
        <p14:creationId xmlns:p14="http://schemas.microsoft.com/office/powerpoint/2010/main" val="5723082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52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арточ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E38C17F1-6121-4ED2-9528-01D2C5C2AD3A}"/>
              </a:ext>
            </a:extLst>
          </p:cNvPr>
          <p:cNvSpPr/>
          <p:nvPr/>
        </p:nvSpPr>
        <p:spPr>
          <a:xfrm>
            <a:off x="4269551" y="1472596"/>
            <a:ext cx="3651213" cy="4674204"/>
          </a:xfrm>
          <a:prstGeom prst="roundRect">
            <a:avLst>
              <a:gd name="adj" fmla="val 4584"/>
            </a:avLst>
          </a:prstGeom>
          <a:solidFill>
            <a:srgbClr val="F5F9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1B043ADE-21B7-4CE6-A204-E3E81EC1C052}"/>
              </a:ext>
            </a:extLst>
          </p:cNvPr>
          <p:cNvSpPr/>
          <p:nvPr/>
        </p:nvSpPr>
        <p:spPr>
          <a:xfrm>
            <a:off x="7988240" y="1472596"/>
            <a:ext cx="3651213" cy="4674204"/>
          </a:xfrm>
          <a:prstGeom prst="roundRect">
            <a:avLst>
              <a:gd name="adj" fmla="val 4584"/>
            </a:avLst>
          </a:prstGeom>
          <a:solidFill>
            <a:srgbClr val="F5F9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5F5F3667-1BCE-47C3-B20C-3805515032FC}"/>
              </a:ext>
            </a:extLst>
          </p:cNvPr>
          <p:cNvSpPr/>
          <p:nvPr/>
        </p:nvSpPr>
        <p:spPr>
          <a:xfrm>
            <a:off x="550862" y="1472596"/>
            <a:ext cx="3651213" cy="4674204"/>
          </a:xfrm>
          <a:prstGeom prst="roundRect">
            <a:avLst>
              <a:gd name="adj" fmla="val 4584"/>
            </a:avLst>
          </a:prstGeom>
          <a:solidFill>
            <a:srgbClr val="F5F9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55CB4F-19F4-408A-BED6-C3E6697B3D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55FE088-06AE-44D2-83AC-6F89B1987B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7873" y="1690688"/>
            <a:ext cx="3134568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CECC3894-6D6E-4507-A3D3-03122A614F6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28675" y="1690688"/>
            <a:ext cx="3114675" cy="412908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</p:txBody>
      </p:sp>
      <p:sp>
        <p:nvSpPr>
          <p:cNvPr id="12" name="Объект 2">
            <a:extLst>
              <a:ext uri="{FF2B5EF4-FFF2-40B4-BE49-F238E27FC236}">
                <a16:creationId xmlns:a16="http://schemas.microsoft.com/office/drawing/2014/main" id="{DF380EC8-535E-482F-884B-FF00ADD83DA1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8228757" y="1690688"/>
            <a:ext cx="3134568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DF706A90-02B8-4304-9400-1A8C7FEEDF37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3306" y="6273800"/>
            <a:ext cx="357832" cy="279044"/>
          </a:xfrm>
          <a:prstGeom prst="rect">
            <a:avLst/>
          </a:prstGeom>
        </p:spPr>
      </p:pic>
      <p:sp>
        <p:nvSpPr>
          <p:cNvPr id="20" name="Текст 19">
            <a:extLst>
              <a:ext uri="{FF2B5EF4-FFF2-40B4-BE49-F238E27FC236}">
                <a16:creationId xmlns:a16="http://schemas.microsoft.com/office/drawing/2014/main" id="{88BCE02A-3F2D-45E9-AD83-28A34DFC12A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2913" y="6384626"/>
            <a:ext cx="3371850" cy="277813"/>
          </a:xfrm>
        </p:spPr>
        <p:txBody>
          <a:bodyPr/>
          <a:lstStyle>
            <a:lvl2pPr>
              <a:defRPr>
                <a:solidFill>
                  <a:schemeClr val="tx1"/>
                </a:solidFill>
              </a:defRPr>
            </a:lvl2pPr>
          </a:lstStyle>
          <a:p>
            <a:pPr lvl="1"/>
            <a:r>
              <a:rPr lang="ru-RU" dirty="0"/>
              <a:t>Название презентации</a:t>
            </a:r>
          </a:p>
        </p:txBody>
      </p:sp>
    </p:spTree>
    <p:extLst>
      <p:ext uri="{BB962C8B-B14F-4D97-AF65-F5344CB8AC3E}">
        <p14:creationId xmlns:p14="http://schemas.microsoft.com/office/powerpoint/2010/main" val="15673630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перечисление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1BACE0-0B11-4DEE-99E8-FF04EF982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00D8968A-E3BF-4278-9BDD-99FB8638667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352" y="1720850"/>
            <a:ext cx="3221037" cy="2393950"/>
          </a:xfrm>
          <a:prstGeom prst="roundRect">
            <a:avLst>
              <a:gd name="adj" fmla="val 4333"/>
            </a:avLst>
          </a:prstGeom>
          <a:solidFill>
            <a:srgbClr val="F5F9FE"/>
          </a:solidFill>
        </p:spPr>
        <p:txBody>
          <a:bodyPr lIns="180000" tIns="180000" rIns="180000" bIns="180000"/>
          <a:lstStyle>
            <a:lvl1pPr marL="0">
              <a:spcBef>
                <a:spcPts val="300"/>
              </a:spcBef>
              <a:defRPr>
                <a:solidFill>
                  <a:schemeClr val="bg1"/>
                </a:solidFill>
              </a:defRPr>
            </a:lvl1pPr>
            <a:lvl2pPr marL="0">
              <a:spcBef>
                <a:spcPts val="300"/>
              </a:spcBef>
              <a:defRPr>
                <a:solidFill>
                  <a:schemeClr val="bg1"/>
                </a:solidFill>
              </a:defRPr>
            </a:lvl2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</p:txBody>
      </p:sp>
      <p:sp>
        <p:nvSpPr>
          <p:cNvPr id="12" name="Текст 12">
            <a:extLst>
              <a:ext uri="{FF2B5EF4-FFF2-40B4-BE49-F238E27FC236}">
                <a16:creationId xmlns:a16="http://schemas.microsoft.com/office/drawing/2014/main" id="{4D019254-AEE4-4C60-8C49-072764EA9AD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2913" y="1228230"/>
            <a:ext cx="5653087" cy="55240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4" name="Текст 13">
            <a:extLst>
              <a:ext uri="{FF2B5EF4-FFF2-40B4-BE49-F238E27FC236}">
                <a16:creationId xmlns:a16="http://schemas.microsoft.com/office/drawing/2014/main" id="{FC9C3A56-913A-4AC7-B463-A142C4AE8D0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219700" y="1690688"/>
            <a:ext cx="6421438" cy="4291012"/>
          </a:xfrm>
        </p:spPr>
        <p:txBody>
          <a:bodyPr/>
          <a:lstStyle>
            <a:lvl2pPr>
              <a:defRPr/>
            </a:lvl2pPr>
          </a:lstStyle>
          <a:p>
            <a:pPr lvl="1"/>
            <a:r>
              <a:rPr lang="ru-RU" dirty="0"/>
              <a:t>Нажмите кнопку «увеличить отступ» во вкладке «главная», чтобы сделать текст меньше</a:t>
            </a:r>
          </a:p>
          <a:p>
            <a:pPr lvl="2"/>
            <a:r>
              <a:rPr lang="ru-RU" dirty="0"/>
              <a:t>Третий уровень</a:t>
            </a:r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E6D24A90-DC22-4F1D-968C-6B3A7401B1C5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3306" y="6273800"/>
            <a:ext cx="357832" cy="279044"/>
          </a:xfrm>
          <a:prstGeom prst="rect">
            <a:avLst/>
          </a:prstGeom>
        </p:spPr>
      </p:pic>
      <p:sp>
        <p:nvSpPr>
          <p:cNvPr id="13" name="Текст 19">
            <a:extLst>
              <a:ext uri="{FF2B5EF4-FFF2-40B4-BE49-F238E27FC236}">
                <a16:creationId xmlns:a16="http://schemas.microsoft.com/office/drawing/2014/main" id="{9A44F16D-F7F0-4B32-9C84-1D93E648960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2913" y="6384626"/>
            <a:ext cx="3371850" cy="277813"/>
          </a:xfrm>
        </p:spPr>
        <p:txBody>
          <a:bodyPr/>
          <a:lstStyle>
            <a:lvl2pPr>
              <a:defRPr>
                <a:solidFill>
                  <a:schemeClr val="tx1"/>
                </a:solidFill>
              </a:defRPr>
            </a:lvl2pPr>
          </a:lstStyle>
          <a:p>
            <a:pPr lvl="1"/>
            <a:r>
              <a:rPr lang="ru-RU" dirty="0"/>
              <a:t>Название презентации</a:t>
            </a:r>
          </a:p>
        </p:txBody>
      </p:sp>
    </p:spTree>
    <p:extLst>
      <p:ext uri="{BB962C8B-B14F-4D97-AF65-F5344CB8AC3E}">
        <p14:creationId xmlns:p14="http://schemas.microsoft.com/office/powerpoint/2010/main" val="31231258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олько фо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88289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онтакты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7ADF5DC7-C739-4BDC-BB45-76E3F1CDAE74}"/>
              </a:ext>
            </a:extLst>
          </p:cNvPr>
          <p:cNvGrpSpPr/>
          <p:nvPr/>
        </p:nvGrpSpPr>
        <p:grpSpPr>
          <a:xfrm>
            <a:off x="6627460" y="1668440"/>
            <a:ext cx="5013677" cy="3632200"/>
            <a:chOff x="7270751" y="1030474"/>
            <a:chExt cx="3867150" cy="2801590"/>
          </a:xfrm>
        </p:grpSpPr>
        <p:sp>
          <p:nvSpPr>
            <p:cNvPr id="6" name="Сквиркл">
              <a:extLst>
                <a:ext uri="{FF2B5EF4-FFF2-40B4-BE49-F238E27FC236}">
                  <a16:creationId xmlns:a16="http://schemas.microsoft.com/office/drawing/2014/main" id="{8FE4899B-F77C-4831-8506-FB49318221C8}"/>
                </a:ext>
              </a:extLst>
            </p:cNvPr>
            <p:cNvSpPr/>
            <p:nvPr/>
          </p:nvSpPr>
          <p:spPr>
            <a:xfrm>
              <a:off x="7270751" y="1030474"/>
              <a:ext cx="3867150" cy="2801590"/>
            </a:xfrm>
            <a:prstGeom prst="roundRect">
              <a:avLst>
                <a:gd name="adj" fmla="val 8974"/>
              </a:avLst>
            </a:prstGeom>
            <a:solidFill>
              <a:srgbClr val="070C2B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8" name="Рисунок 7">
              <a:extLst>
                <a:ext uri="{FF2B5EF4-FFF2-40B4-BE49-F238E27FC236}">
                  <a16:creationId xmlns:a16="http://schemas.microsoft.com/office/drawing/2014/main" id="{46A590D8-CA4F-4350-B4F1-CEA7AB1646F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29537" y="3105221"/>
              <a:ext cx="174554" cy="174554"/>
            </a:xfrm>
            <a:prstGeom prst="rect">
              <a:avLst/>
            </a:prstGeom>
          </p:spPr>
        </p:pic>
        <p:pic>
          <p:nvPicPr>
            <p:cNvPr id="9" name="Рисунок 8">
              <a:extLst>
                <a:ext uri="{FF2B5EF4-FFF2-40B4-BE49-F238E27FC236}">
                  <a16:creationId xmlns:a16="http://schemas.microsoft.com/office/drawing/2014/main" id="{B7353487-F2F5-410D-90E7-8619BA53A5A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29537" y="2732291"/>
              <a:ext cx="174554" cy="174554"/>
            </a:xfrm>
            <a:prstGeom prst="rect">
              <a:avLst/>
            </a:prstGeom>
          </p:spPr>
        </p:pic>
        <p:pic>
          <p:nvPicPr>
            <p:cNvPr id="10" name="Рисунок 9">
              <a:extLst>
                <a:ext uri="{FF2B5EF4-FFF2-40B4-BE49-F238E27FC236}">
                  <a16:creationId xmlns:a16="http://schemas.microsoft.com/office/drawing/2014/main" id="{B6D0EDC7-F549-461F-B5C7-59C42FB18EC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28125" y="2397911"/>
              <a:ext cx="172558" cy="172556"/>
            </a:xfrm>
            <a:prstGeom prst="rect">
              <a:avLst/>
            </a:prstGeom>
          </p:spPr>
        </p:pic>
        <p:pic>
          <p:nvPicPr>
            <p:cNvPr id="11" name="Рисунок 10">
              <a:extLst>
                <a:ext uri="{FF2B5EF4-FFF2-40B4-BE49-F238E27FC236}">
                  <a16:creationId xmlns:a16="http://schemas.microsoft.com/office/drawing/2014/main" id="{F7C74D03-E33C-4909-B782-B8021BB7396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96883" y="1544890"/>
              <a:ext cx="211680" cy="211680"/>
            </a:xfrm>
            <a:prstGeom prst="rect">
              <a:avLst/>
            </a:prstGeom>
          </p:spPr>
        </p:pic>
      </p:grpSp>
      <p:sp>
        <p:nvSpPr>
          <p:cNvPr id="13" name="Текст 12">
            <a:extLst>
              <a:ext uri="{FF2B5EF4-FFF2-40B4-BE49-F238E27FC236}">
                <a16:creationId xmlns:a16="http://schemas.microsoft.com/office/drawing/2014/main" id="{ED64AC22-0091-404A-9C90-22C8DD9C2BA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486650" y="2305374"/>
            <a:ext cx="3724275" cy="1037901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ru-RU" dirty="0"/>
              <a:t>Адрес</a:t>
            </a:r>
          </a:p>
        </p:txBody>
      </p:sp>
      <p:sp>
        <p:nvSpPr>
          <p:cNvPr id="14" name="Текст 12">
            <a:extLst>
              <a:ext uri="{FF2B5EF4-FFF2-40B4-BE49-F238E27FC236}">
                <a16:creationId xmlns:a16="http://schemas.microsoft.com/office/drawing/2014/main" id="{E96CF683-771D-4E00-B585-49A242B8ACF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486650" y="3429000"/>
            <a:ext cx="3724275" cy="361950"/>
          </a:xfrm>
        </p:spPr>
        <p:txBody>
          <a:bodyPr anchor="ctr" anchorCtr="0"/>
          <a:lstStyle>
            <a:lvl1pPr>
              <a:defRPr/>
            </a:lvl1pPr>
          </a:lstStyle>
          <a:p>
            <a:pPr lvl="0"/>
            <a:r>
              <a:rPr lang="ru-RU" dirty="0"/>
              <a:t>Телефон</a:t>
            </a:r>
          </a:p>
        </p:txBody>
      </p:sp>
      <p:sp>
        <p:nvSpPr>
          <p:cNvPr id="15" name="Текст 12">
            <a:extLst>
              <a:ext uri="{FF2B5EF4-FFF2-40B4-BE49-F238E27FC236}">
                <a16:creationId xmlns:a16="http://schemas.microsoft.com/office/drawing/2014/main" id="{27F27141-362B-427E-B7DF-C258ECDA9C9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486650" y="3826037"/>
            <a:ext cx="3724275" cy="361950"/>
          </a:xfrm>
        </p:spPr>
        <p:txBody>
          <a:bodyPr anchor="ctr" anchorCtr="0"/>
          <a:lstStyle>
            <a:lvl1pPr>
              <a:defRPr/>
            </a:lvl1pPr>
          </a:lstStyle>
          <a:p>
            <a:pPr lvl="0"/>
            <a:r>
              <a:rPr lang="ru-RU" dirty="0"/>
              <a:t>Почта</a:t>
            </a:r>
          </a:p>
        </p:txBody>
      </p:sp>
      <p:sp>
        <p:nvSpPr>
          <p:cNvPr id="16" name="Текст 12">
            <a:extLst>
              <a:ext uri="{FF2B5EF4-FFF2-40B4-BE49-F238E27FC236}">
                <a16:creationId xmlns:a16="http://schemas.microsoft.com/office/drawing/2014/main" id="{4F82A75D-1F7E-4275-9471-D21BFC59FCE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486649" y="4290481"/>
            <a:ext cx="3724275" cy="361950"/>
          </a:xfrm>
        </p:spPr>
        <p:txBody>
          <a:bodyPr anchor="ctr" anchorCtr="0"/>
          <a:lstStyle>
            <a:lvl1pPr>
              <a:defRPr/>
            </a:lvl1pPr>
          </a:lstStyle>
          <a:p>
            <a:pPr lvl="0"/>
            <a:r>
              <a:rPr lang="ru-RU" dirty="0"/>
              <a:t>Сайт</a:t>
            </a:r>
          </a:p>
        </p:txBody>
      </p:sp>
      <p:pic>
        <p:nvPicPr>
          <p:cNvPr id="17" name="4_whte.png">
            <a:extLst>
              <a:ext uri="{FF2B5EF4-FFF2-40B4-BE49-F238E27FC236}">
                <a16:creationId xmlns:a16="http://schemas.microsoft.com/office/drawing/2014/main" id="{D77254AE-172E-46E2-ABF4-5BEB2D1E10C8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439063" y="2814557"/>
            <a:ext cx="3571870" cy="1228885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56844760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slideLayout" Target="../slideLayouts/slideLayout7.xml"/><Relationship Id="rId3" Type="http://schemas.openxmlformats.org/officeDocument/2006/relationships/slideLayout" Target="../slideLayouts/slideLayout8.xml"/><Relationship Id="rId4" Type="http://schemas.openxmlformats.org/officeDocument/2006/relationships/slideLayout" Target="../slideLayouts/slideLayout9.xml"/><Relationship Id="rId5" Type="http://schemas.openxmlformats.org/officeDocument/2006/relationships/slideLayout" Target="../slideLayouts/slideLayout10.xml"/><Relationship Id="rId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6E2F6B-CE85-4C5E-8906-9E1897A04B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3" y="671247"/>
            <a:ext cx="11198224" cy="132556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771701E-D677-4988-A176-7928E620A2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2359074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62" r:id="rId2"/>
    <p:sldLayoutId id="2147483663" r:id="rId3"/>
    <p:sldLayoutId id="2147483664" r:id="rId4"/>
    <p:sldLayoutId id="2147483673" r:id="rId5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5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j-lt"/>
          <a:ea typeface="+mn-ea"/>
          <a:cs typeface="+mn-cs"/>
        </a:defRPr>
      </a:lvl1pPr>
      <a:lvl2pPr marL="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2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79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0">
              <a:srgbClr val="398EFD"/>
            </a:gs>
            <a:gs pos="100000">
              <a:srgbClr val="1D71E8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BF711E-F761-4F72-9B31-634CE9DAE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2" y="365125"/>
            <a:ext cx="111982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FFB5865-3151-43A2-A540-46CC1657EF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2913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2"/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E0514DB-6814-407C-8958-FBCF185DE1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42913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876513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4" r:id="rId4"/>
    <p:sldLayoutId id="2147483670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5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j-lt"/>
          <a:ea typeface="+mn-ea"/>
          <a:cs typeface="+mn-cs"/>
        </a:defRPr>
      </a:lvl1pPr>
      <a:lvl2pPr marL="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79">
          <p15:clr>
            <a:srgbClr val="F26B43"/>
          </p15:clr>
        </p15:guide>
        <p15:guide id="2" pos="7333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4249" y="651176"/>
            <a:ext cx="10693901" cy="1422646"/>
          </a:xfrm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600" b="1">
                <a:solidFill>
                  <a:srgbClr val="F5F9FE"/>
                </a:solidFill>
              </a:rPr>
              <a:t>А3 Бизнес-стратегия 2026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>
          <a:xfrm>
            <a:off x="444249" y="2438400"/>
            <a:ext cx="8200000" cy="854963"/>
          </a:xfrm>
        </p:spPr>
        <p:txBody>
          <a:bodyPr wrap="square">
            <a:no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200" b="0">
                <a:solidFill>
                  <a:srgbClr val="F5F9FE"/>
                </a:solidFill>
              </a:rPr>
              <a:t>Горизонт планирования: 2026–2030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200" b="0">
                <a:solidFill>
                  <a:srgbClr val="F5F9FE"/>
                </a:solidFill>
              </a:rPr>
              <a:t>Март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913" y="671247"/>
            <a:ext cx="11198224" cy="849883"/>
          </a:xfr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600"/>
            </a:pPr>
            <a:r>
              <a:rPr sz="2800"/>
              <a:t>1. Vision и стратегические цели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>
          <a:xfrm>
            <a:off x="442913" y="1641130"/>
            <a:ext cx="11198224" cy="429767"/>
          </a:xfrm>
        </p:spPr>
        <p:txBody>
          <a:bodyPr wrap="square">
            <a:no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  <a:defRPr sz="1600"/>
            </a:pPr>
            <a:r>
              <a:rPr sz="1800"/>
              <a:t>1.1 Vision 2030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>
          <a:xfrm>
            <a:off x="442913" y="2170897"/>
            <a:ext cx="11198224" cy="4033729"/>
          </a:xfrm>
        </p:spPr>
        <p:txBody>
          <a:bodyPr wrap="square">
            <a:norm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  <a:defRPr sz="1500"/>
            </a:pPr>
            <a:r>
              <a:rPr sz="1500"/>
              <a:t>Стать одной из ведущих продуктовых финтех IT-компаний в России: устойчивой, быстрорастущей, узнаваемой и диверсифицированной по продуктам, партнёрам и источникам выручки.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442913" y="6384626"/>
            <a:ext cx="11198224" cy="260000"/>
          </a:xfrm>
        </p:spPr>
        <p:txBody>
          <a:bodyPr/>
          <a:lstStyle/>
          <a:p>
            <a:r>
              <a:t>A3 Presentation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913" y="671247"/>
            <a:ext cx="11198224" cy="849883"/>
          </a:xfr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800"/>
            </a:pPr>
            <a:r>
              <a:rPr sz="2800"/>
              <a:t>1.2 Количественные параметры Vision 2030</a:t>
            </a:r>
          </a:p>
        </p:txBody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442914" y="1701130"/>
          <a:ext cx="11198224" cy="4503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1024"/>
                <a:gridCol w="7237200"/>
              </a:tblGrid>
              <a:tr h="306784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Параметр</a:t>
                      </a:r>
                    </a:p>
                  </a:txBody>
                  <a:tcPr marL="40000" marR="40000" marT="20000" marB="20000">
                    <a:solidFill>
                      <a:srgbClr val="1D355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Целевое значение</a:t>
                      </a:r>
                    </a:p>
                  </a:txBody>
                  <a:tcPr marL="40000" marR="40000" marT="20000" marB="20000">
                    <a:solidFill>
                      <a:srgbClr val="1D3557"/>
                    </a:solidFill>
                  </a:tcPr>
                </a:tc>
              </a:tr>
              <a:tr h="306784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Рост выручки</a:t>
                      </a:r>
                    </a:p>
                  </a:txBody>
                  <a:tcPr marL="40000" marR="40000" marT="20000" marB="20000">
                    <a:solidFill>
                      <a:srgbClr val="EBF3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&gt; 45% YoY ежегодно</a:t>
                      </a:r>
                    </a:p>
                  </a:txBody>
                  <a:tcPr marL="40000" marR="40000" marT="20000" marB="20000">
                    <a:solidFill>
                      <a:srgbClr val="EBF3FE"/>
                    </a:solidFill>
                  </a:tcPr>
                </a:tc>
              </a:tr>
              <a:tr h="306784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Выручка к 2030</a:t>
                      </a:r>
                    </a:p>
                  </a:txBody>
                  <a:tcPr marL="40000" marR="40000" marT="20000" marB="20000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10.7 млрд ₽ / год</a:t>
                      </a:r>
                    </a:p>
                  </a:txBody>
                  <a:tcPr marL="40000" marR="40000" marT="20000" marB="20000">
                    <a:solidFill>
                      <a:srgbClr val="F5F7FA"/>
                    </a:solidFill>
                  </a:tcPr>
                </a:tc>
              </a:tr>
              <a:tr h="306784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Структура выручки</a:t>
                      </a:r>
                    </a:p>
                  </a:txBody>
                  <a:tcPr marL="40000" marR="40000" marT="20000" marB="20000">
                    <a:solidFill>
                      <a:srgbClr val="EBF3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70% транзакционная / 30% нетранзакционная</a:t>
                      </a:r>
                    </a:p>
                  </a:txBody>
                  <a:tcPr marL="40000" marR="40000" marT="20000" marB="20000">
                    <a:solidFill>
                      <a:srgbClr val="EBF3FE"/>
                    </a:solidFill>
                  </a:tcPr>
                </a:tc>
              </a:tr>
              <a:tr h="306784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Доля одного продукта</a:t>
                      </a:r>
                    </a:p>
                  </a:txBody>
                  <a:tcPr marL="40000" marR="40000" marT="20000" marB="20000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не более 30% выручки</a:t>
                      </a:r>
                    </a:p>
                  </a:txBody>
                  <a:tcPr marL="40000" marR="40000" marT="20000" marB="20000">
                    <a:solidFill>
                      <a:srgbClr val="F5F7FA"/>
                    </a:solidFill>
                  </a:tcPr>
                </a:tc>
              </a:tr>
              <a:tr h="306784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Доля одного партнёра</a:t>
                      </a:r>
                    </a:p>
                  </a:txBody>
                  <a:tcPr marL="40000" marR="40000" marT="20000" marB="20000">
                    <a:solidFill>
                      <a:srgbClr val="EBF3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не более 20% выручки</a:t>
                      </a:r>
                    </a:p>
                  </a:txBody>
                  <a:tcPr marL="40000" marR="40000" marT="20000" marB="20000">
                    <a:solidFill>
                      <a:srgbClr val="EBF3FE"/>
                    </a:solidFill>
                  </a:tcPr>
                </a:tc>
              </a:tr>
              <a:tr h="306784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Позиция на рынке</a:t>
                      </a:r>
                    </a:p>
                  </a:txBody>
                  <a:tcPr marL="40000" marR="40000" marT="20000" marB="20000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Топ-10 финтех-компаний РФ по выручке</a:t>
                      </a:r>
                    </a:p>
                  </a:txBody>
                  <a:tcPr marL="40000" marR="40000" marT="20000" marB="20000">
                    <a:solidFill>
                      <a:srgbClr val="F5F7FA"/>
                    </a:solidFill>
                  </a:tcPr>
                </a:tc>
              </a:tr>
              <a:tr h="306784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Модель расчётов</a:t>
                      </a:r>
                    </a:p>
                  </a:txBody>
                  <a:tcPr marL="40000" marR="40000" marT="20000" marB="20000">
                    <a:solidFill>
                      <a:srgbClr val="EBF3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Диверсифицированная, включая РНКО</a:t>
                      </a:r>
                    </a:p>
                  </a:txBody>
                  <a:tcPr marL="40000" marR="40000" marT="20000" marB="20000">
                    <a:solidFill>
                      <a:srgbClr val="EBF3FE"/>
                    </a:solidFill>
                  </a:tcPr>
                </a:tc>
              </a:tr>
            </a:tbl>
          </a:graphicData>
        </a:graphic>
      </p:graphicFrame>
      <p:sp>
        <p:nvSpPr>
          <p:cNvPr id="7" name="Text Placeholder 6"/>
          <p:cNvSpPr>
            <a:spLocks noGrp="1"/>
          </p:cNvSpPr>
          <p:nvPr>
            <p:ph type="body" idx="15" sz="quarter"/>
          </p:nvPr>
        </p:nvSpPr>
        <p:spPr>
          <a:xfrm>
            <a:off x="442913" y="6384626"/>
            <a:ext cx="11198224" cy="260000"/>
          </a:xfrm>
        </p:spPr>
        <p:txBody>
          <a:bodyPr/>
          <a:lstStyle/>
          <a:p>
            <a:r>
              <a:t>A3 Presentation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913" y="671247"/>
            <a:ext cx="11198224" cy="849883"/>
          </a:xfr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800"/>
            </a:pPr>
            <a:r>
              <a:rPr sz="2800"/>
              <a:t>1.3 Цели 2026</a:t>
            </a:r>
          </a:p>
        </p:txBody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442914" y="1701130"/>
          <a:ext cx="11198224" cy="4503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15681"/>
                <a:gridCol w="8282543"/>
              </a:tblGrid>
              <a:tr h="223115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Цель</a:t>
                      </a:r>
                    </a:p>
                  </a:txBody>
                  <a:tcPr marL="40000" marR="40000" marT="20000" marB="20000">
                    <a:solidFill>
                      <a:srgbClr val="1D355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Значение / критерий успеха</a:t>
                      </a:r>
                    </a:p>
                  </a:txBody>
                  <a:tcPr marL="40000" marR="40000" marT="20000" marB="20000">
                    <a:solidFill>
                      <a:srgbClr val="1D3557"/>
                    </a:solidFill>
                  </a:tcPr>
                </a:tc>
              </a:tr>
              <a:tr h="223115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Выручка с НДС</a:t>
                      </a:r>
                    </a:p>
                  </a:txBody>
                  <a:tcPr marL="40000" marR="40000" marT="20000" marB="20000">
                    <a:solidFill>
                      <a:srgbClr val="EBF3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2 433 млн ₽</a:t>
                      </a:r>
                    </a:p>
                  </a:txBody>
                  <a:tcPr marL="40000" marR="40000" marT="20000" marB="20000">
                    <a:solidFill>
                      <a:srgbClr val="EBF3FE"/>
                    </a:solidFill>
                  </a:tcPr>
                </a:tc>
              </a:tr>
              <a:tr h="223115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Выручка без НДС</a:t>
                      </a:r>
                    </a:p>
                  </a:txBody>
                  <a:tcPr marL="40000" marR="40000" marT="20000" marB="20000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2 122 млн ₽</a:t>
                      </a:r>
                    </a:p>
                  </a:txBody>
                  <a:tcPr marL="40000" marR="40000" marT="20000" marB="20000">
                    <a:solidFill>
                      <a:srgbClr val="F5F7FA"/>
                    </a:solidFill>
                  </a:tcPr>
                </a:tc>
              </a:tr>
              <a:tr h="223115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Нетранзакционный доход</a:t>
                      </a:r>
                    </a:p>
                  </a:txBody>
                  <a:tcPr marL="40000" marR="40000" marT="20000" marB="20000">
                    <a:solidFill>
                      <a:srgbClr val="EBF3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470 млн ₽ (80% законтрактовано) и выше</a:t>
                      </a:r>
                    </a:p>
                  </a:txBody>
                  <a:tcPr marL="40000" marR="40000" marT="20000" marB="20000">
                    <a:solidFill>
                      <a:srgbClr val="EBF3FE"/>
                    </a:solidFill>
                  </a:tcPr>
                </a:tc>
              </a:tr>
              <a:tr h="223115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Доля Альфа-Банка</a:t>
                      </a:r>
                    </a:p>
                  </a:txBody>
                  <a:tcPr marL="40000" marR="40000" marT="20000" marB="20000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&lt; 40% выручки</a:t>
                      </a:r>
                    </a:p>
                  </a:txBody>
                  <a:tcPr marL="40000" marR="40000" marT="20000" marB="20000">
                    <a:solidFill>
                      <a:srgbClr val="F5F7FA"/>
                    </a:solidFill>
                  </a:tcPr>
                </a:tc>
              </a:tr>
              <a:tr h="223115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НДС от выручки</a:t>
                      </a:r>
                    </a:p>
                  </a:txBody>
                  <a:tcPr marL="40000" marR="40000" marT="20000" marB="20000">
                    <a:solidFill>
                      <a:srgbClr val="EBF3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%</a:t>
                      </a:r>
                    </a:p>
                  </a:txBody>
                  <a:tcPr marL="40000" marR="40000" marT="20000" marB="20000">
                    <a:solidFill>
                      <a:srgbClr val="EBF3FE"/>
                    </a:solidFill>
                  </a:tcPr>
                </a:tc>
              </a:tr>
              <a:tr h="223115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РНКО</a:t>
                      </a:r>
                    </a:p>
                  </a:txBody>
                  <a:tcPr marL="40000" marR="40000" marT="20000" marB="20000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Лицензия ЦБ + открытый корр. счёт + запуск у 1 партнёра</a:t>
                      </a:r>
                    </a:p>
                  </a:txBody>
                  <a:tcPr marL="40000" marR="40000" marT="20000" marB="20000">
                    <a:solidFill>
                      <a:srgbClr val="F5F7FA"/>
                    </a:solidFill>
                  </a:tcPr>
                </a:tc>
              </a:tr>
              <a:tr h="223115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А3 Лаб</a:t>
                      </a:r>
                    </a:p>
                  </a:txBody>
                  <a:tcPr marL="40000" marR="40000" marT="20000" marB="20000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Создание продукта (робот) для формирования п/п в АБС РНКО</a:t>
                      </a:r>
                    </a:p>
                  </a:txBody>
                  <a:tcPr marL="40000" marR="40000" marT="20000" marB="20000">
                    <a:solidFill>
                      <a:srgbClr val="F5F7FA"/>
                    </a:solidFill>
                  </a:tcPr>
                </a:tc>
              </a:tr>
              <a:tr h="223115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Poseidon</a:t>
                      </a:r>
                    </a:p>
                  </a:txBody>
                  <a:tcPr marL="40000" marR="40000" marT="20000" marB="20000">
                    <a:solidFill>
                      <a:srgbClr val="EBF3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Промышленное использование у 6+ партнёров</a:t>
                      </a:r>
                    </a:p>
                  </a:txBody>
                  <a:tcPr marL="40000" marR="40000" marT="20000" marB="20000">
                    <a:solidFill>
                      <a:srgbClr val="EBF3FE"/>
                    </a:solidFill>
                  </a:tcPr>
                </a:tc>
              </a:tr>
              <a:tr h="223115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Банки-партнёры</a:t>
                      </a:r>
                    </a:p>
                  </a:txBody>
                  <a:tcPr marL="40000" marR="40000" marT="20000" marB="20000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ь 3,4</a:t>
                      </a:r>
                    </a:p>
                  </a:txBody>
                  <a:tcPr marL="40000" marR="40000" marT="20000" marB="20000">
                    <a:solidFill>
                      <a:srgbClr val="F5F7FA"/>
                    </a:solidFill>
                  </a:tcPr>
                </a:tc>
              </a:tr>
              <a:tr h="223115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Поставщики</a:t>
                      </a:r>
                    </a:p>
                  </a:txBody>
                  <a:tcPr marL="40000" marR="40000" marT="20000" marB="20000">
                    <a:solidFill>
                      <a:srgbClr val="EBF3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+1 000 новых подключений, итого 3 000+</a:t>
                      </a:r>
                    </a:p>
                  </a:txBody>
                  <a:tcPr marL="40000" marR="40000" marT="20000" marB="20000">
                    <a:solidFill>
                      <a:srgbClr val="EBF3FE"/>
                    </a:solidFill>
                  </a:tcPr>
                </a:tc>
              </a:tr>
            </a:tbl>
          </a:graphicData>
        </a:graphic>
      </p:graphicFrame>
      <p:sp>
        <p:nvSpPr>
          <p:cNvPr id="7" name="Text Placeholder 6"/>
          <p:cNvSpPr>
            <a:spLocks noGrp="1"/>
          </p:cNvSpPr>
          <p:nvPr>
            <p:ph type="body" idx="15" sz="quarter"/>
          </p:nvPr>
        </p:nvSpPr>
        <p:spPr>
          <a:xfrm>
            <a:off x="442913" y="6384626"/>
            <a:ext cx="11198224" cy="260000"/>
          </a:xfrm>
        </p:spPr>
        <p:txBody>
          <a:bodyPr/>
          <a:lstStyle/>
          <a:p>
            <a:r>
              <a:t>A3 Presentation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913" y="671247"/>
            <a:ext cx="11198224" cy="849883"/>
          </a:xfr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800"/>
            </a:pPr>
            <a:r>
              <a:rPr sz="2800"/>
              <a:t>1.4 Показатели 2025</a:t>
            </a:r>
          </a:p>
        </p:txBody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442914" y="1701130"/>
          <a:ext cx="11198224" cy="4503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03254"/>
                <a:gridCol w="6494970"/>
              </a:tblGrid>
              <a:tr h="272697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Показатель</a:t>
                      </a:r>
                    </a:p>
                  </a:txBody>
                  <a:tcPr marL="40000" marR="40000" marT="20000" marB="20000">
                    <a:solidFill>
                      <a:srgbClr val="1D355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Значение</a:t>
                      </a:r>
                    </a:p>
                  </a:txBody>
                  <a:tcPr marL="40000" marR="40000" marT="20000" marB="20000">
                    <a:solidFill>
                      <a:srgbClr val="1D3557"/>
                    </a:solidFill>
                  </a:tcPr>
                </a:tc>
              </a:tr>
              <a:tr h="272697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Выручка с НДС</a:t>
                      </a:r>
                    </a:p>
                  </a:txBody>
                  <a:tcPr marL="40000" marR="40000" marT="20000" marB="20000">
                    <a:solidFill>
                      <a:srgbClr val="EBF3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1 678 млн ₽</a:t>
                      </a:r>
                    </a:p>
                  </a:txBody>
                  <a:tcPr marL="40000" marR="40000" marT="20000" marB="20000">
                    <a:solidFill>
                      <a:srgbClr val="EBF3FE"/>
                    </a:solidFill>
                  </a:tcPr>
                </a:tc>
              </a:tr>
              <a:tr h="272697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Выручка без НДС</a:t>
                      </a:r>
                    </a:p>
                  </a:txBody>
                  <a:tcPr marL="40000" marR="40000" marT="20000" marB="20000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1 643 млн ₽</a:t>
                      </a:r>
                    </a:p>
                  </a:txBody>
                  <a:tcPr marL="40000" marR="40000" marT="20000" marB="20000">
                    <a:solidFill>
                      <a:srgbClr val="F5F7FA"/>
                    </a:solidFill>
                  </a:tcPr>
                </a:tc>
              </a:tr>
              <a:tr h="272697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Нетранзакционный доход</a:t>
                      </a:r>
                    </a:p>
                  </a:txBody>
                  <a:tcPr marL="40000" marR="40000" marT="20000" marB="20000">
                    <a:solidFill>
                      <a:srgbClr val="EBF3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294 млн ₽</a:t>
                      </a:r>
                    </a:p>
                  </a:txBody>
                  <a:tcPr marL="40000" marR="40000" marT="20000" marB="20000">
                    <a:solidFill>
                      <a:srgbClr val="EBF3FE"/>
                    </a:solidFill>
                  </a:tcPr>
                </a:tc>
              </a:tr>
              <a:tr h="272697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Структура выручки</a:t>
                      </a:r>
                    </a:p>
                  </a:txBody>
                  <a:tcPr marL="40000" marR="40000" marT="20000" marB="20000">
                    <a:solidFill>
                      <a:srgbClr val="EBF3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82,4 транзакционная / 17,6% нетранзакционная</a:t>
                      </a:r>
                    </a:p>
                  </a:txBody>
                  <a:tcPr marL="40000" marR="40000" marT="20000" marB="20000">
                    <a:solidFill>
                      <a:srgbClr val="EBF3FE"/>
                    </a:solidFill>
                  </a:tcPr>
                </a:tc>
              </a:tr>
              <a:tr h="272697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Доля Альфа-Банка</a:t>
                      </a:r>
                    </a:p>
                  </a:txBody>
                  <a:tcPr marL="40000" marR="40000" marT="20000" marB="20000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48,7% выручки</a:t>
                      </a:r>
                    </a:p>
                  </a:txBody>
                  <a:tcPr marL="40000" marR="40000" marT="20000" marB="20000">
                    <a:solidFill>
                      <a:srgbClr val="F5F7FA"/>
                    </a:solidFill>
                  </a:tcPr>
                </a:tc>
              </a:tr>
              <a:tr h="272697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Банки-партнёры</a:t>
                      </a:r>
                    </a:p>
                  </a:txBody>
                  <a:tcPr marL="40000" marR="40000" marT="20000" marB="20000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49</a:t>
                      </a:r>
                    </a:p>
                  </a:txBody>
                  <a:tcPr marL="40000" marR="40000" marT="20000" marB="20000">
                    <a:solidFill>
                      <a:srgbClr val="F5F7FA"/>
                    </a:solidFill>
                  </a:tcPr>
                </a:tc>
              </a:tr>
              <a:tr h="272697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Поставщики</a:t>
                      </a:r>
                    </a:p>
                  </a:txBody>
                  <a:tcPr marL="40000" marR="40000" marT="20000" marB="20000">
                    <a:solidFill>
                      <a:srgbClr val="EBF3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2000+</a:t>
                      </a:r>
                    </a:p>
                  </a:txBody>
                  <a:tcPr marL="40000" marR="40000" marT="20000" marB="20000">
                    <a:solidFill>
                      <a:srgbClr val="EBF3FE"/>
                    </a:solidFill>
                  </a:tcPr>
                </a:tc>
              </a:tr>
              <a:tr h="272697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Позиция на рынке</a:t>
                      </a:r>
                    </a:p>
                  </a:txBody>
                  <a:tcPr marL="40000" marR="40000" marT="20000" marB="20000">
                    <a:solidFill>
                      <a:srgbClr val="EBF3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Топ-40 финтех компаний РФ по выручке</a:t>
                      </a:r>
                    </a:p>
                  </a:txBody>
                  <a:tcPr marL="40000" marR="40000" marT="20000" marB="20000">
                    <a:solidFill>
                      <a:srgbClr val="EBF3FE"/>
                    </a:solidFill>
                  </a:tcPr>
                </a:tc>
              </a:tr>
            </a:tbl>
          </a:graphicData>
        </a:graphic>
      </p:graphicFrame>
      <p:sp>
        <p:nvSpPr>
          <p:cNvPr id="7" name="Text Placeholder 6"/>
          <p:cNvSpPr>
            <a:spLocks noGrp="1"/>
          </p:cNvSpPr>
          <p:nvPr>
            <p:ph type="body" idx="15" sz="quarter"/>
          </p:nvPr>
        </p:nvSpPr>
        <p:spPr>
          <a:xfrm>
            <a:off x="442913" y="6384626"/>
            <a:ext cx="11198224" cy="260000"/>
          </a:xfrm>
        </p:spPr>
        <p:txBody>
          <a:bodyPr/>
          <a:lstStyle/>
          <a:p>
            <a:r>
              <a:t>A3 Presentation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913" y="671247"/>
            <a:ext cx="11198224" cy="849883"/>
          </a:xfr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600"/>
            </a:pPr>
            <a:r>
              <a:rPr sz="2800"/>
              <a:t>2. Позиционирование и бренд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>
          <a:xfrm>
            <a:off x="442913" y="1641130"/>
            <a:ext cx="11198224" cy="429767"/>
          </a:xfrm>
        </p:spPr>
        <p:txBody>
          <a:bodyPr wrap="square">
            <a:no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  <a:defRPr sz="1600"/>
            </a:pPr>
            <a:r>
              <a:rPr sz="1800"/>
              <a:t>2.1 Роль бренда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>
          <a:xfrm>
            <a:off x="442913" y="2170897"/>
            <a:ext cx="11198224" cy="4033729"/>
          </a:xfrm>
        </p:spPr>
        <p:txBody>
          <a:bodyPr wrap="square">
            <a:norm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  <a:defRPr sz="1600"/>
            </a:pPr>
            <a:r>
              <a:rPr sz="1600"/>
              <a:t>Инфраструктурный игрок, объединяющий участников финансового рынка.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442913" y="6384626"/>
            <a:ext cx="11198224" cy="260000"/>
          </a:xfrm>
        </p:spPr>
        <p:txBody>
          <a:bodyPr/>
          <a:lstStyle/>
          <a:p>
            <a:r>
              <a:t>A3 Presentation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913" y="671247"/>
            <a:ext cx="11198224" cy="849883"/>
          </a:xfr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600"/>
            </a:pPr>
            <a:r>
              <a:rPr sz="2800"/>
              <a:t>2.2 Positioning Statement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>
          <a:xfrm>
            <a:off x="442913" y="1821130"/>
            <a:ext cx="11198224" cy="4383496"/>
          </a:xfrm>
        </p:spPr>
        <p:txBody>
          <a:bodyPr wrap="square">
            <a:norm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  <a:defRPr sz="1300"/>
            </a:pPr>
            <a:r>
              <a:rPr sz="1300"/>
              <a:t>Для банков, поставщиков услуг и участников финансового рынка мы — инфраструктурный игрок, который обеспечивает эффективное взаимодействие и ускоряет финансовые процессы, объединяя участников рынка, и обладает доступом к ключевым данным и масштабируемой инфраструктуре.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442913" y="6384626"/>
            <a:ext cx="11198224" cy="260000"/>
          </a:xfrm>
        </p:spPr>
        <p:txBody>
          <a:bodyPr/>
          <a:lstStyle/>
          <a:p>
            <a:r>
              <a:t>A3 Presentation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913" y="671247"/>
            <a:ext cx="11198224" cy="849883"/>
          </a:xfr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600"/>
            </a:pPr>
            <a:r>
              <a:rPr sz="2800"/>
              <a:t>2.3 Дифференциатор (Core Differentiation)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>
          <a:xfrm>
            <a:off x="442913" y="1821130"/>
            <a:ext cx="11198224" cy="4383496"/>
          </a:xfrm>
        </p:spPr>
        <p:txBody>
          <a:bodyPr wrap="square">
            <a:normAutofit/>
          </a:bodyPr>
          <a:lstStyle/>
          <a:p>
            <a:pPr marL="400000" indent="-200000">
              <a:lnSpc>
                <a:spcPct val="105000"/>
              </a:lnSpc>
              <a:spcAft>
                <a:spcPts val="500"/>
              </a:spcAft>
              <a:buChar char="•"/>
              <a:defRPr sz="1300"/>
            </a:pPr>
            <a:r>
              <a:rPr sz="1300"/>
              <a:t>Мы — единственная компания на рынке, которая объединяет банки, поставщиков и государственные сервисы (ГИС ГМП, СМЭВ, ГИС ЖКХ) в единую инфраструктуру, обеспечивая скорость, масштаб и точность финансовых операций, недостижимые для отдельных решений.</a:t>
            </a:r>
          </a:p>
          <a:p>
            <a:pPr marL="400000" indent="-200000">
              <a:lnSpc>
                <a:spcPct val="105000"/>
              </a:lnSpc>
              <a:spcAft>
                <a:spcPts val="500"/>
              </a:spcAft>
              <a:buChar char="•"/>
              <a:defRPr sz="1300"/>
            </a:pPr>
            <a:r>
              <a:rPr sz="1300"/>
              <a:t>Стратегический барьер. Наша позиция опирается на две ключевые опоры цифровой экономики — данные и рельсы (доступ к уникальным данным + информационно-платежная инфраструктуры).</a:t>
            </a:r>
          </a:p>
          <a:p>
            <a:pPr marL="400000" indent="-200000">
              <a:lnSpc>
                <a:spcPct val="105000"/>
              </a:lnSpc>
              <a:spcAft>
                <a:spcPts val="500"/>
              </a:spcAft>
              <a:buChar char="•"/>
              <a:defRPr sz="1300"/>
            </a:pPr>
            <a:r>
              <a:rPr sz="1300"/>
              <a:t>Это сочетание формирует конкурентное преимущество, которое дорого, долго и сложно воспроизвести.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442913" y="6384626"/>
            <a:ext cx="11198224" cy="260000"/>
          </a:xfrm>
        </p:spPr>
        <p:txBody>
          <a:bodyPr/>
          <a:lstStyle/>
          <a:p>
            <a:r>
              <a:t>A3 Presentation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913" y="671247"/>
            <a:ext cx="11198224" cy="849883"/>
          </a:xfr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800"/>
            </a:pPr>
            <a:r>
              <a:rPr sz="2800"/>
              <a:t>2.4 Ценностное предложение — три уровня</a:t>
            </a:r>
          </a:p>
        </p:txBody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442914" y="1701130"/>
          <a:ext cx="11198224" cy="4503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5240"/>
                <a:gridCol w="2715205"/>
                <a:gridCol w="6617779"/>
              </a:tblGrid>
              <a:tr h="3400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Уровень</a:t>
                      </a:r>
                    </a:p>
                  </a:txBody>
                  <a:tcPr marL="40000" marR="40000" marT="20000" marB="20000">
                    <a:solidFill>
                      <a:srgbClr val="1D355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Тип ценности</a:t>
                      </a:r>
                    </a:p>
                  </a:txBody>
                  <a:tcPr marL="40000" marR="40000" marT="20000" marB="20000">
                    <a:solidFill>
                      <a:srgbClr val="1D355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Содержание</a:t>
                      </a:r>
                    </a:p>
                  </a:txBody>
                  <a:tcPr marL="40000" marR="40000" marT="20000" marB="20000">
                    <a:solidFill>
                      <a:srgbClr val="1D3557"/>
                    </a:solidFill>
                  </a:tcPr>
                </a:tc>
              </a:tr>
              <a:tr h="340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Функциональная</a:t>
                      </a:r>
                    </a:p>
                  </a:txBody>
                  <a:tcPr marL="40000" marR="40000" marT="20000" marB="20000">
                    <a:solidFill>
                      <a:srgbClr val="EBF3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Что мы делаем</a:t>
                      </a:r>
                    </a:p>
                  </a:txBody>
                  <a:tcPr marL="40000" marR="40000" marT="20000" marB="20000">
                    <a:solidFill>
                      <a:srgbClr val="EBF3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Доступ к данным · Процессинг · Инфраструктура</a:t>
                      </a:r>
                    </a:p>
                  </a:txBody>
                  <a:tcPr marL="40000" marR="40000" marT="20000" marB="20000">
                    <a:solidFill>
                      <a:srgbClr val="EBF3FE"/>
                    </a:solidFill>
                  </a:tcPr>
                </a:tc>
              </a:tr>
              <a:tr h="340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Трансформационная</a:t>
                      </a:r>
                    </a:p>
                  </a:txBody>
                  <a:tcPr marL="40000" marR="40000" marT="20000" marB="20000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Что получает клиент</a:t>
                      </a:r>
                    </a:p>
                  </a:txBody>
                  <a:tcPr marL="40000" marR="40000" marT="20000" marB="20000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Ускорение бизнеса · Рост операций · Финансовая оптимизация · Масштабирование</a:t>
                      </a:r>
                    </a:p>
                  </a:txBody>
                  <a:tcPr marL="40000" marR="40000" marT="20000" marB="20000">
                    <a:solidFill>
                      <a:srgbClr val="F5F7FA"/>
                    </a:solidFill>
                  </a:tcPr>
                </a:tc>
              </a:tr>
              <a:tr h="340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Эмоциональная</a:t>
                      </a:r>
                    </a:p>
                  </a:txBody>
                  <a:tcPr marL="40000" marR="40000" marT="20000" marB="20000">
                    <a:solidFill>
                      <a:srgbClr val="EBF3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Как клиент себя чувствует</a:t>
                      </a:r>
                    </a:p>
                  </a:txBody>
                  <a:tcPr marL="40000" marR="40000" marT="20000" marB="20000">
                    <a:solidFill>
                      <a:srgbClr val="EBF3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Надёжность · Инновационность · Скорость · Лёгкость · Уверенность · Контроль</a:t>
                      </a:r>
                    </a:p>
                  </a:txBody>
                  <a:tcPr marL="40000" marR="40000" marT="20000" marB="20000">
                    <a:solidFill>
                      <a:srgbClr val="EBF3FE"/>
                    </a:solidFill>
                  </a:tcPr>
                </a:tc>
              </a:tr>
            </a:tbl>
          </a:graphicData>
        </a:graphic>
      </p:graphicFrame>
      <p:sp>
        <p:nvSpPr>
          <p:cNvPr id="7" name="Text Placeholder 6"/>
          <p:cNvSpPr>
            <a:spLocks noGrp="1"/>
          </p:cNvSpPr>
          <p:nvPr>
            <p:ph type="body" idx="15" sz="quarter"/>
          </p:nvPr>
        </p:nvSpPr>
        <p:spPr>
          <a:xfrm>
            <a:off x="442913" y="6384626"/>
            <a:ext cx="11198224" cy="260000"/>
          </a:xfrm>
        </p:spPr>
        <p:txBody>
          <a:bodyPr/>
          <a:lstStyle/>
          <a:p>
            <a:r>
              <a:t>A3 Presentation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913" y="671247"/>
            <a:ext cx="11198224" cy="849883"/>
          </a:xfr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800"/>
            </a:pPr>
            <a:r>
              <a:rPr sz="2800"/>
              <a:t>2.5 Messaging Pillars</a:t>
            </a:r>
          </a:p>
        </p:txBody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442914" y="1701130"/>
          <a:ext cx="11198224" cy="4503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2975"/>
                <a:gridCol w="8425249"/>
              </a:tblGrid>
              <a:tr h="3600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Пиллар</a:t>
                      </a:r>
                    </a:p>
                  </a:txBody>
                  <a:tcPr marL="40000" marR="40000" marT="20000" marB="20000">
                    <a:solidFill>
                      <a:srgbClr val="1D355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Ключевое сообщение</a:t>
                      </a:r>
                    </a:p>
                  </a:txBody>
                  <a:tcPr marL="40000" marR="40000" marT="20000" marB="20000">
                    <a:solidFill>
                      <a:srgbClr val="1D3557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Инфраструктура, которая объединяет</a:t>
                      </a:r>
                    </a:p>
                  </a:txBody>
                  <a:tcPr marL="40000" marR="40000" marT="20000" marB="20000">
                    <a:solidFill>
                      <a:srgbClr val="EBF3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Один договор = доступ к 58+ банкам и тысячам поставщиков. Не сервис — новый слой финансовой экономики.</a:t>
                      </a:r>
                    </a:p>
                  </a:txBody>
                  <a:tcPr marL="40000" marR="40000" marT="20000" marB="20000">
                    <a:solidFill>
                      <a:srgbClr val="EBF3FE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Скорость как конкурентное оружие</a:t>
                      </a:r>
                    </a:p>
                  </a:txBody>
                  <a:tcPr marL="40000" marR="40000" marT="20000" marB="20000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Интеграция поставщика за 5 минут через AI. Пока конкурент настраивает, мы уже запускаем следующую.</a:t>
                      </a:r>
                    </a:p>
                  </a:txBody>
                  <a:tcPr marL="40000" marR="40000" marT="20000" marB="20000">
                    <a:solidFill>
                      <a:srgbClr val="F5F7FA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Надежность, которую не замечают</a:t>
                      </a:r>
                    </a:p>
                  </a:txBody>
                  <a:tcPr marL="40000" marR="40000" marT="20000" marB="20000">
                    <a:solidFill>
                      <a:srgbClr val="EBF3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Uptime 99.95%, churn 0%, ни один партнёр не ушёл. Лучшая инфра — та, которую не замечаешь.</a:t>
                      </a:r>
                    </a:p>
                  </a:txBody>
                  <a:tcPr marL="40000" marR="40000" marT="20000" marB="20000">
                    <a:solidFill>
                      <a:srgbClr val="EBF3FE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Доступ к данным, которого нет у других</a:t>
                      </a:r>
                    </a:p>
                  </a:txBody>
                  <a:tcPr marL="40000" marR="40000" marT="20000" marB="20000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Прямые интеграции с ГИС ГМП, СМЭВ, ГИС ЖКХ — эксклюзивный доступ к гос. данным, который нельзя скопировать быстро.</a:t>
                      </a:r>
                    </a:p>
                  </a:txBody>
                  <a:tcPr marL="40000" marR="40000" marT="20000" marB="20000">
                    <a:solidFill>
                      <a:srgbClr val="F5F7FA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Партнер роста, а не поставщик</a:t>
                      </a:r>
                    </a:p>
                  </a:txBody>
                  <a:tcPr marL="40000" marR="40000" marT="20000" marB="20000">
                    <a:solidFill>
                      <a:srgbClr val="EBF3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80% не транзакционной выручки законтрактовано. Растём вместе — win-win зашит в структуру контракта.</a:t>
                      </a:r>
                    </a:p>
                  </a:txBody>
                  <a:tcPr marL="40000" marR="40000" marT="20000" marB="20000">
                    <a:solidFill>
                      <a:srgbClr val="EBF3FE"/>
                    </a:solidFill>
                  </a:tcPr>
                </a:tc>
              </a:tr>
            </a:tbl>
          </a:graphicData>
        </a:graphic>
      </p:graphicFrame>
      <p:sp>
        <p:nvSpPr>
          <p:cNvPr id="7" name="Text Placeholder 6"/>
          <p:cNvSpPr>
            <a:spLocks noGrp="1"/>
          </p:cNvSpPr>
          <p:nvPr>
            <p:ph type="body" idx="15" sz="quarter"/>
          </p:nvPr>
        </p:nvSpPr>
        <p:spPr>
          <a:xfrm>
            <a:off x="442913" y="6384626"/>
            <a:ext cx="11198224" cy="260000"/>
          </a:xfrm>
        </p:spPr>
        <p:txBody>
          <a:bodyPr/>
          <a:lstStyle/>
          <a:p>
            <a:r>
              <a:t>A3 Presentation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913" y="671247"/>
            <a:ext cx="11198224" cy="849883"/>
          </a:xfr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800"/>
            </a:pPr>
            <a:r>
              <a:rPr sz="2800"/>
              <a:t>3. Анализ рынка и SWOT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>
          <a:xfrm>
            <a:off x="442913" y="1701130"/>
            <a:ext cx="11198224" cy="429767"/>
          </a:xfrm>
        </p:spPr>
        <p:txBody>
          <a:bodyPr wrap="square">
            <a:no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  <a:defRPr sz="800"/>
            </a:pPr>
            <a:r>
              <a:rPr sz="1800"/>
              <a:t>3.1 Рыночная позиция</a:t>
            </a:r>
          </a:p>
        </p:txBody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442914" y="2310897"/>
          <a:ext cx="11198224" cy="38937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3609"/>
                <a:gridCol w="8734615"/>
              </a:tblGrid>
              <a:tr h="3200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Параметр</a:t>
                      </a:r>
                    </a:p>
                  </a:txBody>
                  <a:tcPr marL="40000" marR="40000" marT="20000" marB="20000">
                    <a:solidFill>
                      <a:srgbClr val="1D355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Описание</a:t>
                      </a:r>
                    </a:p>
                  </a:txBody>
                  <a:tcPr marL="40000" marR="40000" marT="20000" marB="20000">
                    <a:solidFill>
                      <a:srgbClr val="1D3557"/>
                    </a:solidFill>
                  </a:tcPr>
                </a:tc>
              </a:tr>
              <a:tr h="320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Рынок</a:t>
                      </a:r>
                    </a:p>
                  </a:txBody>
                  <a:tcPr marL="40000" marR="40000" marT="20000" marB="20000">
                    <a:solidFill>
                      <a:srgbClr val="EBF3FE"/>
                    </a:solidFill>
                  </a:tcPr>
                </a:tc>
                <a:tc>
                  <a:txBody>
                    <a:bodyPr wrap="square"/>
                    <a:lstStyle/>
                    <a:p/>
                  </a:txBody>
                  <a:tcPr marL="40000" marR="40000" marT="20000" marB="20000">
                    <a:solidFill>
                      <a:srgbClr val="EBF3FE"/>
                    </a:solidFill>
                  </a:tcPr>
                </a:tc>
              </a:tr>
              <a:tr h="320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География</a:t>
                      </a:r>
                    </a:p>
                  </a:txBody>
                  <a:tcPr marL="40000" marR="40000" marT="20000" marB="20000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Россия (горизонт 5 лет)</a:t>
                      </a:r>
                    </a:p>
                  </a:txBody>
                  <a:tcPr marL="40000" marR="40000" marT="20000" marB="20000">
                    <a:solidFill>
                      <a:srgbClr val="F5F7FA"/>
                    </a:solidFill>
                  </a:tcPr>
                </a:tc>
              </a:tr>
              <a:tr h="320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Конкуренты</a:t>
                      </a:r>
                    </a:p>
                  </a:txBody>
                  <a:tcPr marL="40000" marR="40000" marT="20000" marB="20000">
                    <a:solidFill>
                      <a:srgbClr val="EBF3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Сбер, ВТБ, Т Банк (банки-экосистемы), Элекснет, Монета, Моби Деньги, Система Город, CRM для УК (Бурмистр, Домопульт, PayMO)</a:t>
                      </a:r>
                    </a:p>
                  </a:txBody>
                  <a:tcPr marL="40000" marR="40000" marT="20000" marB="20000">
                    <a:solidFill>
                      <a:srgbClr val="EBF3FE"/>
                    </a:solidFill>
                  </a:tcPr>
                </a:tc>
              </a:tr>
              <a:tr h="320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Рынок поставщиков</a:t>
                      </a:r>
                    </a:p>
                  </a:txBody>
                  <a:tcPr marL="40000" marR="40000" marT="20000" marB="20000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~6 000 целевых организаций, подключено 2 000+, в планах на 2026 год 1000+, и далее потенциал 3 000+</a:t>
                      </a:r>
                    </a:p>
                  </a:txBody>
                  <a:tcPr marL="40000" marR="40000" marT="20000" marB="20000">
                    <a:solidFill>
                      <a:srgbClr val="F5F7FA"/>
                    </a:solidFill>
                  </a:tcPr>
                </a:tc>
              </a:tr>
              <a:tr h="320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Рынок банков</a:t>
                      </a:r>
                    </a:p>
                  </a:txBody>
                  <a:tcPr marL="40000" marR="40000" marT="20000" marB="20000">
                    <a:solidFill>
                      <a:srgbClr val="EBF3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~80 целевых, 49 сейчас, 58 в 2026 (73%), ~20 малых в процессе</a:t>
                      </a:r>
                    </a:p>
                  </a:txBody>
                  <a:tcPr marL="40000" marR="40000" marT="20000" marB="20000">
                    <a:solidFill>
                      <a:srgbClr val="EBF3FE"/>
                    </a:solidFill>
                  </a:tcPr>
                </a:tc>
              </a:tr>
            </a:tbl>
          </a:graphicData>
        </a:graphic>
      </p:graphicFrame>
      <p:sp>
        <p:nvSpPr>
          <p:cNvPr id="7" name="Text Placeholder 6"/>
          <p:cNvSpPr>
            <a:spLocks noGrp="1"/>
          </p:cNvSpPr>
          <p:nvPr>
            <p:ph type="body" idx="15" sz="quarter"/>
          </p:nvPr>
        </p:nvSpPr>
        <p:spPr>
          <a:xfrm>
            <a:off x="442913" y="6384626"/>
            <a:ext cx="11198224" cy="260000"/>
          </a:xfrm>
        </p:spPr>
        <p:txBody>
          <a:bodyPr/>
          <a:lstStyle/>
          <a:p>
            <a:r>
              <a:t>A3 Presentation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913" y="671247"/>
            <a:ext cx="11198224" cy="849883"/>
          </a:xfr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800"/>
            </a:pPr>
            <a:r>
              <a:rPr sz="2800"/>
              <a:t>3.2 Объем рынков*</a:t>
            </a:r>
          </a:p>
        </p:txBody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442914" y="1701130"/>
          <a:ext cx="11198224" cy="4503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4971"/>
                <a:gridCol w="4366338"/>
                <a:gridCol w="3266915"/>
              </a:tblGrid>
              <a:tr h="245427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Рынок / сегмент</a:t>
                      </a:r>
                    </a:p>
                  </a:txBody>
                  <a:tcPr marL="40000" marR="40000" marT="20000" marB="20000">
                    <a:solidFill>
                      <a:srgbClr val="1D355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Объем рынка (2024)</a:t>
                      </a:r>
                    </a:p>
                  </a:txBody>
                  <a:tcPr marL="40000" marR="40000" marT="20000" marB="20000">
                    <a:solidFill>
                      <a:srgbClr val="1D355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Доля А3 GMV (2025)</a:t>
                      </a:r>
                    </a:p>
                  </a:txBody>
                  <a:tcPr marL="40000" marR="40000" marT="20000" marB="20000">
                    <a:solidFill>
                      <a:srgbClr val="1D3557"/>
                    </a:solidFill>
                  </a:tcPr>
                </a:tc>
              </a:tr>
              <a:tr h="245427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81C4F"/>
                          </a:solidFill>
                        </a:rPr>
                        <a:t>ЖКХ</a:t>
                      </a:r>
                    </a:p>
                  </a:txBody>
                  <a:tcPr marL="40000" marR="40000" marT="20000" marB="20000">
                    <a:solidFill>
                      <a:srgbClr val="EBF3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81C4F"/>
                          </a:solidFill>
                        </a:rPr>
                        <a:t>8 496 млрд ₽</a:t>
                      </a:r>
                    </a:p>
                  </a:txBody>
                  <a:tcPr marL="40000" marR="40000" marT="20000" marB="20000">
                    <a:solidFill>
                      <a:srgbClr val="EBF3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81C4F"/>
                          </a:solidFill>
                        </a:rPr>
                        <a:t>2,12%</a:t>
                      </a:r>
                    </a:p>
                  </a:txBody>
                  <a:tcPr marL="40000" marR="40000" marT="20000" marB="20000">
                    <a:solidFill>
                      <a:srgbClr val="EBF3FE"/>
                    </a:solidFill>
                  </a:tcPr>
                </a:tc>
              </a:tr>
              <a:tr h="245427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81C4F"/>
                          </a:solidFill>
                        </a:rPr>
                        <a:t>Налоги</a:t>
                      </a:r>
                    </a:p>
                  </a:txBody>
                  <a:tcPr marL="40000" marR="40000" marT="20000" marB="20000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81C4F"/>
                          </a:solidFill>
                        </a:rPr>
                        <a:t>55 600 млрд ₽</a:t>
                      </a:r>
                    </a:p>
                  </a:txBody>
                  <a:tcPr marL="40000" marR="40000" marT="20000" marB="20000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81C4F"/>
                          </a:solidFill>
                        </a:rPr>
                        <a:t>0,02%</a:t>
                      </a:r>
                    </a:p>
                  </a:txBody>
                  <a:tcPr marL="40000" marR="40000" marT="20000" marB="20000">
                    <a:solidFill>
                      <a:srgbClr val="F5F7FA"/>
                    </a:solidFill>
                  </a:tcPr>
                </a:tc>
              </a:tr>
              <a:tr h="245427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81C4F"/>
                          </a:solidFill>
                        </a:rPr>
                        <a:t>Образование</a:t>
                      </a:r>
                    </a:p>
                  </a:txBody>
                  <a:tcPr marL="40000" marR="40000" marT="20000" marB="20000">
                    <a:solidFill>
                      <a:srgbClr val="EBF3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81C4F"/>
                          </a:solidFill>
                        </a:rPr>
                        <a:t>851 млрд ₽</a:t>
                      </a:r>
                    </a:p>
                  </a:txBody>
                  <a:tcPr marL="40000" marR="40000" marT="20000" marB="20000">
                    <a:solidFill>
                      <a:srgbClr val="EBF3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81C4F"/>
                          </a:solidFill>
                        </a:rPr>
                        <a:t>0,06%</a:t>
                      </a:r>
                    </a:p>
                  </a:txBody>
                  <a:tcPr marL="40000" marR="40000" marT="20000" marB="20000">
                    <a:solidFill>
                      <a:srgbClr val="EBF3FE"/>
                    </a:solidFill>
                  </a:tcPr>
                </a:tc>
              </a:tr>
              <a:tr h="245427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81C4F"/>
                          </a:solidFill>
                        </a:rPr>
                        <a:t>Мобильная связь</a:t>
                      </a:r>
                    </a:p>
                  </a:txBody>
                  <a:tcPr marL="40000" marR="40000" marT="20000" marB="20000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81C4F"/>
                          </a:solidFill>
                        </a:rPr>
                        <a:t>976 млрд ₽</a:t>
                      </a:r>
                    </a:p>
                  </a:txBody>
                  <a:tcPr marL="40000" marR="40000" marT="20000" marB="20000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81C4F"/>
                          </a:solidFill>
                        </a:rPr>
                        <a:t>12,76%</a:t>
                      </a:r>
                    </a:p>
                  </a:txBody>
                  <a:tcPr marL="40000" marR="40000" marT="20000" marB="20000">
                    <a:solidFill>
                      <a:srgbClr val="F5F7FA"/>
                    </a:solidFill>
                  </a:tcPr>
                </a:tc>
              </a:tr>
              <a:tr h="245427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81C4F"/>
                          </a:solidFill>
                        </a:rPr>
                        <a:t>Интернет и ТВ</a:t>
                      </a:r>
                    </a:p>
                  </a:txBody>
                  <a:tcPr marL="40000" marR="40000" marT="20000" marB="20000">
                    <a:solidFill>
                      <a:srgbClr val="EBF3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81C4F"/>
                          </a:solidFill>
                        </a:rPr>
                        <a:t>430 млрд ₽</a:t>
                      </a:r>
                    </a:p>
                  </a:txBody>
                  <a:tcPr marL="40000" marR="40000" marT="20000" marB="20000">
                    <a:solidFill>
                      <a:srgbClr val="EBF3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81C4F"/>
                          </a:solidFill>
                        </a:rPr>
                        <a:t>4,35%</a:t>
                      </a:r>
                    </a:p>
                  </a:txBody>
                  <a:tcPr marL="40000" marR="40000" marT="20000" marB="20000">
                    <a:solidFill>
                      <a:srgbClr val="EBF3FE"/>
                    </a:solidFill>
                  </a:tcPr>
                </a:tc>
              </a:tr>
              <a:tr h="245427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81C4F"/>
                          </a:solidFill>
                        </a:rPr>
                        <a:t>Игры</a:t>
                      </a:r>
                    </a:p>
                  </a:txBody>
                  <a:tcPr marL="40000" marR="40000" marT="20000" marB="20000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81C4F"/>
                          </a:solidFill>
                        </a:rPr>
                        <a:t>187 млрд ₽</a:t>
                      </a:r>
                    </a:p>
                  </a:txBody>
                  <a:tcPr marL="40000" marR="40000" marT="20000" marB="20000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81C4F"/>
                          </a:solidFill>
                        </a:rPr>
                        <a:t>0,91%</a:t>
                      </a:r>
                    </a:p>
                  </a:txBody>
                  <a:tcPr marL="40000" marR="40000" marT="20000" marB="20000">
                    <a:solidFill>
                      <a:srgbClr val="F5F7FA"/>
                    </a:solidFill>
                  </a:tcPr>
                </a:tc>
              </a:tr>
              <a:tr h="245427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81C4F"/>
                          </a:solidFill>
                        </a:rPr>
                        <a:t>Штрафы</a:t>
                      </a:r>
                    </a:p>
                  </a:txBody>
                  <a:tcPr marL="40000" marR="40000" marT="20000" marB="20000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81C4F"/>
                          </a:solidFill>
                        </a:rPr>
                        <a:t>176 млрд ₽</a:t>
                      </a:r>
                    </a:p>
                  </a:txBody>
                  <a:tcPr marL="40000" marR="40000" marT="20000" marB="20000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81C4F"/>
                          </a:solidFill>
                        </a:rPr>
                        <a:t>6,1%</a:t>
                      </a:r>
                    </a:p>
                  </a:txBody>
                  <a:tcPr marL="40000" marR="40000" marT="20000" marB="20000">
                    <a:solidFill>
                      <a:srgbClr val="F5F7FA"/>
                    </a:solidFill>
                  </a:tcPr>
                </a:tc>
              </a:tr>
              <a:tr h="245427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81C4F"/>
                          </a:solidFill>
                        </a:rPr>
                        <a:t>Транспорт</a:t>
                      </a:r>
                    </a:p>
                  </a:txBody>
                  <a:tcPr marL="40000" marR="40000" marT="20000" marB="20000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81C4F"/>
                          </a:solidFill>
                        </a:rPr>
                        <a:t>150 млрд ₽</a:t>
                      </a:r>
                    </a:p>
                  </a:txBody>
                  <a:tcPr marL="40000" marR="40000" marT="20000" marB="20000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81C4F"/>
                          </a:solidFill>
                        </a:rPr>
                        <a:t>1,28%</a:t>
                      </a:r>
                    </a:p>
                  </a:txBody>
                  <a:tcPr marL="40000" marR="40000" marT="20000" marB="20000">
                    <a:solidFill>
                      <a:srgbClr val="F5F7FA"/>
                    </a:solidFill>
                  </a:tcPr>
                </a:tc>
              </a:tr>
              <a:tr h="245427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81C4F"/>
                          </a:solidFill>
                        </a:rPr>
                        <a:t>Пошлины</a:t>
                      </a:r>
                    </a:p>
                  </a:txBody>
                  <a:tcPr marL="40000" marR="40000" marT="20000" marB="20000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81C4F"/>
                          </a:solidFill>
                        </a:rPr>
                        <a:t>139 млрд ₽</a:t>
                      </a:r>
                    </a:p>
                  </a:txBody>
                  <a:tcPr marL="40000" marR="40000" marT="20000" marB="20000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81C4F"/>
                          </a:solidFill>
                        </a:rPr>
                        <a:t>0,33%</a:t>
                      </a:r>
                    </a:p>
                  </a:txBody>
                  <a:tcPr marL="40000" marR="40000" marT="20000" marB="20000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7" name="Text Placeholder 6"/>
          <p:cNvSpPr>
            <a:spLocks noGrp="1"/>
          </p:cNvSpPr>
          <p:nvPr>
            <p:ph type="body" idx="15" sz="quarter"/>
          </p:nvPr>
        </p:nvSpPr>
        <p:spPr>
          <a:xfrm>
            <a:off x="442913" y="6384626"/>
            <a:ext cx="11198224" cy="260000"/>
          </a:xfrm>
        </p:spPr>
        <p:txBody>
          <a:bodyPr/>
          <a:lstStyle/>
          <a:p>
            <a:r>
              <a:t>A3 Presentation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913" y="671247"/>
            <a:ext cx="11198224" cy="849883"/>
          </a:xfr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600"/>
            </a:pPr>
            <a:r>
              <a:rPr sz="2800"/>
              <a:t>3.3 Карта конкурентов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>
          <a:xfrm>
            <a:off x="442913" y="1821130"/>
            <a:ext cx="11198224" cy="4383496"/>
          </a:xfrm>
        </p:spPr>
        <p:txBody>
          <a:bodyPr wrap="square">
            <a:norm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  <a:defRPr sz="1400"/>
            </a:pPr>
            <a:r>
              <a:rPr sz="1400"/>
              <a:t>А3 оперирует в уникальной нише на стыке инфраструктурных финтех-решений для регулярных платежей. Конкурентное поле формируют косвенные игроки, которые закрывают отдельные сегменты цепочки ценности, но не воспроизводят модель А3 целиком.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442913" y="6384626"/>
            <a:ext cx="11198224" cy="260000"/>
          </a:xfrm>
        </p:spPr>
        <p:txBody>
          <a:bodyPr/>
          <a:lstStyle/>
          <a:p>
            <a:r>
              <a:t>A3 Presentation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913" y="671247"/>
            <a:ext cx="11198224" cy="849883"/>
          </a:xfr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800"/>
            </a:pPr>
            <a:r>
              <a:rPr sz="2800"/>
              <a:t>3.3 Карта конкурентов</a:t>
            </a:r>
          </a:p>
        </p:txBody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442914" y="1701130"/>
          <a:ext cx="11198224" cy="4503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7751"/>
                <a:gridCol w="1567751"/>
                <a:gridCol w="3217990"/>
                <a:gridCol w="1567751"/>
                <a:gridCol w="3276981"/>
              </a:tblGrid>
              <a:tr h="306784"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Игрок</a:t>
                      </a:r>
                    </a:p>
                  </a:txBody>
                  <a:tcPr marL="40000" marR="40000" marT="20000" marB="20000">
                    <a:solidFill>
                      <a:srgbClr val="1D355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Тип</a:t>
                      </a:r>
                    </a:p>
                  </a:txBody>
                  <a:tcPr marL="40000" marR="40000" marT="20000" marB="20000">
                    <a:solidFill>
                      <a:srgbClr val="1D355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Зона пересечения</a:t>
                      </a:r>
                    </a:p>
                  </a:txBody>
                  <a:tcPr marL="40000" marR="40000" marT="20000" marB="20000">
                    <a:solidFill>
                      <a:srgbClr val="1D355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Уровень угрозы</a:t>
                      </a:r>
                    </a:p>
                  </a:txBody>
                  <a:tcPr marL="40000" marR="40000" marT="20000" marB="20000">
                    <a:solidFill>
                      <a:srgbClr val="1D355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Зона уязвимости</a:t>
                      </a:r>
                    </a:p>
                  </a:txBody>
                  <a:tcPr marL="40000" marR="40000" marT="20000" marB="20000">
                    <a:solidFill>
                      <a:srgbClr val="1D3557"/>
                    </a:solidFill>
                  </a:tcPr>
                </a:tc>
              </a:tr>
              <a:tr h="306784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081C4F"/>
                          </a:solidFill>
                        </a:rPr>
                        <a:t>Сбер</a:t>
                      </a:r>
                    </a:p>
                  </a:txBody>
                  <a:tcPr marL="40000" marR="40000" marT="20000" marB="20000">
                    <a:solidFill>
                      <a:srgbClr val="F4CCC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081C4F"/>
                          </a:solidFill>
                        </a:rPr>
                        <a:t>Банк-экосистема</a:t>
                      </a:r>
                    </a:p>
                  </a:txBody>
                  <a:tcPr marL="40000" marR="40000" marT="20000" marB="20000">
                    <a:solidFill>
                      <a:srgbClr val="F4CCC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081C4F"/>
                          </a:solidFill>
                        </a:rPr>
                        <a:t>ЖКХ, подписки, платежи. Собственная инфраструктура оплаты ЖКУ</a:t>
                      </a:r>
                    </a:p>
                  </a:txBody>
                  <a:tcPr marL="40000" marR="40000" marT="20000" marB="20000">
                    <a:solidFill>
                      <a:srgbClr val="F4CCC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081C4F"/>
                          </a:solidFill>
                        </a:rPr>
                        <a:t>Высокий</a:t>
                      </a:r>
                    </a:p>
                  </a:txBody>
                  <a:tcPr marL="40000" marR="40000" marT="20000" marB="20000">
                    <a:solidFill>
                      <a:srgbClr val="F4CCC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081C4F"/>
                          </a:solidFill>
                        </a:rPr>
                        <a:t>Подписки + HH — уникальный сервис; есть мультибанковская сеть (меньше, чем у А3). Слабый эккаунтинг, медлительность</a:t>
                      </a:r>
                    </a:p>
                  </a:txBody>
                  <a:tcPr marL="40000" marR="40000" marT="20000" marB="20000">
                    <a:solidFill>
                      <a:srgbClr val="F4CCCC"/>
                    </a:solidFill>
                  </a:tcPr>
                </a:tc>
              </a:tr>
              <a:tr h="306784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081C4F"/>
                          </a:solidFill>
                        </a:rPr>
                        <a:t>ВТБ</a:t>
                      </a:r>
                    </a:p>
                  </a:txBody>
                  <a:tcPr marL="40000" marR="40000" marT="20000" marB="20000">
                    <a:solidFill>
                      <a:srgbClr val="F4CCC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081C4F"/>
                          </a:solidFill>
                        </a:rPr>
                        <a:t>Банк-экосистема</a:t>
                      </a:r>
                    </a:p>
                  </a:txBody>
                  <a:tcPr marL="40000" marR="40000" marT="20000" marB="20000">
                    <a:solidFill>
                      <a:srgbClr val="F4CCC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081C4F"/>
                          </a:solidFill>
                        </a:rPr>
                        <a:t>Платежи, подписки. Развивает собственную инфраструктуру</a:t>
                      </a:r>
                    </a:p>
                  </a:txBody>
                  <a:tcPr marL="40000" marR="40000" marT="20000" marB="20000">
                    <a:solidFill>
                      <a:srgbClr val="F4CCC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081C4F"/>
                          </a:solidFill>
                        </a:rPr>
                        <a:t>Высокий</a:t>
                      </a:r>
                    </a:p>
                  </a:txBody>
                  <a:tcPr marL="40000" marR="40000" marT="20000" marB="20000">
                    <a:solidFill>
                      <a:srgbClr val="F4CCC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081C4F"/>
                          </a:solidFill>
                        </a:rPr>
                        <a:t>Партнер А3 (9,8% трафика); подписки + HH — уникальный сервис; пока нет мульти банковой сети, медлительность</a:t>
                      </a:r>
                    </a:p>
                  </a:txBody>
                  <a:tcPr marL="40000" marR="40000" marT="20000" marB="20000">
                    <a:solidFill>
                      <a:srgbClr val="F4CCCC"/>
                    </a:solidFill>
                  </a:tcPr>
                </a:tc>
              </a:tr>
              <a:tr h="306784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081C4F"/>
                          </a:solidFill>
                        </a:rPr>
                        <a:t>Т Банк</a:t>
                      </a:r>
                    </a:p>
                  </a:txBody>
                  <a:tcPr marL="40000" marR="40000" marT="20000" marB="20000">
                    <a:solidFill>
                      <a:srgbClr val="F4CCC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081C4F"/>
                          </a:solidFill>
                        </a:rPr>
                        <a:t>Банк-экосистема</a:t>
                      </a:r>
                    </a:p>
                  </a:txBody>
                  <a:tcPr marL="40000" marR="40000" marT="20000" marB="20000">
                    <a:solidFill>
                      <a:srgbClr val="F4CCC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081C4F"/>
                          </a:solidFill>
                        </a:rPr>
                        <a:t>Платежи, персонализация. Супер Апп с оплатой услуг</a:t>
                      </a:r>
                    </a:p>
                  </a:txBody>
                  <a:tcPr marL="40000" marR="40000" marT="20000" marB="20000">
                    <a:solidFill>
                      <a:srgbClr val="F4CCC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081C4F"/>
                          </a:solidFill>
                        </a:rPr>
                        <a:t>Средний</a:t>
                      </a:r>
                    </a:p>
                  </a:txBody>
                  <a:tcPr marL="40000" marR="40000" marT="20000" marB="20000">
                    <a:solidFill>
                      <a:srgbClr val="F4CCC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081C4F"/>
                          </a:solidFill>
                        </a:rPr>
                        <a:t>Партнер А3 (6,2% трафика); нет мульти банковой сети, нет планов на ее создание</a:t>
                      </a:r>
                    </a:p>
                  </a:txBody>
                  <a:tcPr marL="40000" marR="40000" marT="20000" marB="20000">
                    <a:solidFill>
                      <a:srgbClr val="F4CCCC"/>
                    </a:solidFill>
                  </a:tcPr>
                </a:tc>
              </a:tr>
              <a:tr h="306784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081C4F"/>
                          </a:solidFill>
                        </a:rPr>
                        <a:t>Монета / Моби Деньги</a:t>
                      </a:r>
                    </a:p>
                  </a:txBody>
                  <a:tcPr marL="40000" marR="40000" marT="20000" marB="20000">
                    <a:solidFill>
                      <a:srgbClr val="F4CCC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081C4F"/>
                          </a:solidFill>
                        </a:rPr>
                        <a:t>Платёжные сервисы</a:t>
                      </a:r>
                    </a:p>
                  </a:txBody>
                  <a:tcPr marL="40000" marR="40000" marT="20000" marB="20000">
                    <a:solidFill>
                      <a:srgbClr val="F4CCC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081C4F"/>
                          </a:solidFill>
                        </a:rPr>
                        <a:t>Прием онлайн-платежей, ЖКХ, гос. платежи</a:t>
                      </a:r>
                    </a:p>
                  </a:txBody>
                  <a:tcPr marL="40000" marR="40000" marT="20000" marB="20000">
                    <a:solidFill>
                      <a:srgbClr val="F4CCC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081C4F"/>
                          </a:solidFill>
                        </a:rPr>
                        <a:t>Средний</a:t>
                      </a:r>
                    </a:p>
                  </a:txBody>
                  <a:tcPr marL="40000" marR="40000" marT="20000" marB="20000">
                    <a:solidFill>
                      <a:srgbClr val="F4CCC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081C4F"/>
                          </a:solidFill>
                        </a:rPr>
                        <a:t>B2C-модель и В2В модель; есть интеграции с ГИС ГМП. Слабый эккаунтинг.</a:t>
                      </a:r>
                    </a:p>
                  </a:txBody>
                  <a:tcPr marL="40000" marR="40000" marT="20000" marB="20000">
                    <a:solidFill>
                      <a:srgbClr val="F4CCCC"/>
                    </a:solidFill>
                  </a:tcPr>
                </a:tc>
              </a:tr>
              <a:tr h="306784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081C4F"/>
                          </a:solidFill>
                        </a:rPr>
                        <a:t>Элекснет</a:t>
                      </a:r>
                    </a:p>
                  </a:txBody>
                  <a:tcPr marL="40000" marR="40000" marT="20000" marB="20000">
                    <a:solidFill>
                      <a:srgbClr val="FFF3C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081C4F"/>
                          </a:solidFill>
                        </a:rPr>
                        <a:t>Платёжный сервис</a:t>
                      </a:r>
                    </a:p>
                  </a:txBody>
                  <a:tcPr marL="40000" marR="40000" marT="20000" marB="20000">
                    <a:solidFill>
                      <a:srgbClr val="FFF3C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081C4F"/>
                          </a:solidFill>
                        </a:rPr>
                        <a:t>Прием платежей ЖКХ, Интернета, сотовой связи, игр</a:t>
                      </a:r>
                    </a:p>
                  </a:txBody>
                  <a:tcPr marL="40000" marR="40000" marT="20000" marB="20000">
                    <a:solidFill>
                      <a:srgbClr val="FFF3C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081C4F"/>
                          </a:solidFill>
                        </a:rPr>
                        <a:t>Низкий</a:t>
                      </a:r>
                    </a:p>
                  </a:txBody>
                  <a:tcPr marL="40000" marR="40000" marT="20000" marB="20000">
                    <a:solidFill>
                      <a:srgbClr val="FFF3C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081C4F"/>
                          </a:solidFill>
                        </a:rPr>
                        <a:t>Наличие мульти банковской сети; нет доступа к ГИС. Слабвй экаунтинг.</a:t>
                      </a:r>
                    </a:p>
                  </a:txBody>
                  <a:tcPr marL="40000" marR="40000" marT="20000" marB="20000">
                    <a:solidFill>
                      <a:srgbClr val="FFF3CD"/>
                    </a:solidFill>
                  </a:tcPr>
                </a:tc>
              </a:tr>
              <a:tr h="306784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081C4F"/>
                          </a:solidFill>
                        </a:rPr>
                        <a:t>Система Город</a:t>
                      </a:r>
                    </a:p>
                  </a:txBody>
                  <a:tcPr marL="40000" marR="40000" marT="20000" marB="20000">
                    <a:solidFill>
                      <a:srgbClr val="FFF3C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081C4F"/>
                          </a:solidFill>
                        </a:rPr>
                        <a:t>Региональный агрегатор</a:t>
                      </a:r>
                    </a:p>
                  </a:txBody>
                  <a:tcPr marL="40000" marR="40000" marT="20000" marB="20000">
                    <a:solidFill>
                      <a:srgbClr val="FFF3C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081C4F"/>
                          </a:solidFill>
                        </a:rPr>
                        <a:t>Оплата ЖКХ, локальные поставщики</a:t>
                      </a:r>
                    </a:p>
                  </a:txBody>
                  <a:tcPr marL="40000" marR="40000" marT="20000" marB="20000">
                    <a:solidFill>
                      <a:srgbClr val="FFF3C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081C4F"/>
                          </a:solidFill>
                        </a:rPr>
                        <a:t>Низкий</a:t>
                      </a:r>
                    </a:p>
                  </a:txBody>
                  <a:tcPr marL="40000" marR="40000" marT="20000" marB="20000">
                    <a:solidFill>
                      <a:srgbClr val="FFF3C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081C4F"/>
                          </a:solidFill>
                        </a:rPr>
                        <a:t>Локальный охват; нет масштаба и технологий</a:t>
                      </a:r>
                    </a:p>
                  </a:txBody>
                  <a:tcPr marL="40000" marR="40000" marT="20000" marB="20000">
                    <a:solidFill>
                      <a:srgbClr val="FFF3CD"/>
                    </a:solidFill>
                  </a:tcPr>
                </a:tc>
              </a:tr>
              <a:tr h="306784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081C4F"/>
                          </a:solidFill>
                        </a:rPr>
                        <a:t>Бурмистр / Домопульт / PayMO</a:t>
                      </a:r>
                    </a:p>
                  </a:txBody>
                  <a:tcPr marL="40000" marR="40000" marT="20000" marB="20000">
                    <a:solidFill>
                      <a:srgbClr val="D4EDD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081C4F"/>
                          </a:solidFill>
                        </a:rPr>
                        <a:t>УК / SaaS для ЖКХ</a:t>
                      </a:r>
                    </a:p>
                  </a:txBody>
                  <a:tcPr marL="40000" marR="40000" marT="20000" marB="20000">
                    <a:solidFill>
                      <a:srgbClr val="D4EDD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081C4F"/>
                          </a:solidFill>
                        </a:rPr>
                        <a:t>Управление УК, оплата ЖКХ, выставление счетов</a:t>
                      </a:r>
                    </a:p>
                  </a:txBody>
                  <a:tcPr marL="40000" marR="40000" marT="20000" marB="20000">
                    <a:solidFill>
                      <a:srgbClr val="D4EDD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081C4F"/>
                          </a:solidFill>
                        </a:rPr>
                        <a:t>Низкий</a:t>
                      </a:r>
                    </a:p>
                  </a:txBody>
                  <a:tcPr marL="40000" marR="40000" marT="20000" marB="20000">
                    <a:solidFill>
                      <a:srgbClr val="D4EDD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081C4F"/>
                          </a:solidFill>
                        </a:rPr>
                        <a:t>Другой слой цепочки; нет процессинга и банковской сети</a:t>
                      </a:r>
                    </a:p>
                  </a:txBody>
                  <a:tcPr marL="40000" marR="40000" marT="20000" marB="20000">
                    <a:solidFill>
                      <a:srgbClr val="D4EDDA"/>
                    </a:solidFill>
                  </a:tcPr>
                </a:tc>
              </a:tr>
            </a:tbl>
          </a:graphicData>
        </a:graphic>
      </p:graphicFrame>
      <p:sp>
        <p:nvSpPr>
          <p:cNvPr id="7" name="Text Placeholder 6"/>
          <p:cNvSpPr>
            <a:spLocks noGrp="1"/>
          </p:cNvSpPr>
          <p:nvPr>
            <p:ph type="body" idx="15" sz="quarter"/>
          </p:nvPr>
        </p:nvSpPr>
        <p:spPr>
          <a:xfrm>
            <a:off x="442913" y="6384626"/>
            <a:ext cx="11198224" cy="260000"/>
          </a:xfrm>
        </p:spPr>
        <p:txBody>
          <a:bodyPr/>
          <a:lstStyle/>
          <a:p>
            <a:r>
              <a:t>A3 Presentation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913" y="671247"/>
            <a:ext cx="11198224" cy="849883"/>
          </a:xfr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600"/>
            </a:pPr>
            <a:r>
              <a:rPr sz="2800"/>
              <a:t>3.3 Карта конкурентов (2)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>
          <a:xfrm>
            <a:off x="442913" y="1821130"/>
            <a:ext cx="11198224" cy="4383496"/>
          </a:xfrm>
        </p:spPr>
        <p:txBody>
          <a:bodyPr wrap="square">
            <a:norm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  <a:defRPr sz="1200"/>
            </a:pPr>
            <a:r>
              <a:rPr sz="1200"/>
              <a:t>Ни один конкурент не воспроизводит модель А3 целиком: мультибанковская сеть (58+ банков) + агрегация поставщиков (2 000+) + прямой доступ к ГИС ГМП, СМЭВ, ГИС ЖКХ. Главные риски — Сбер и ВТБ, которые строят собственную инфраструктуру. Митигация: развитие уникальных технологий (HH, Notification, Poseidon), углубление экосистемы партнерств и запуск РНКО как независимого расчетного центра. Быстрота принятия решений и идеальный эккаунтинг.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442913" y="6384626"/>
            <a:ext cx="11198224" cy="260000"/>
          </a:xfrm>
        </p:spPr>
        <p:txBody>
          <a:bodyPr/>
          <a:lstStyle/>
          <a:p>
            <a:r>
              <a:t>A3 Presentation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913" y="671247"/>
            <a:ext cx="11198224" cy="849883"/>
          </a:xfr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600"/>
            </a:pPr>
            <a:r>
              <a:rPr sz="2800"/>
              <a:t>3.4 Ключевые рыночные тренды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>
          <a:xfrm>
            <a:off x="442913" y="1821130"/>
            <a:ext cx="11198224" cy="4383496"/>
          </a:xfrm>
        </p:spPr>
        <p:txBody>
          <a:bodyPr wrap="square">
            <a:normAutofit/>
          </a:bodyPr>
          <a:lstStyle/>
          <a:p>
            <a:pPr marL="400000" indent="-200000">
              <a:lnSpc>
                <a:spcPct val="105000"/>
              </a:lnSpc>
              <a:spcAft>
                <a:spcPts val="500"/>
              </a:spcAft>
              <a:buChar char="•"/>
              <a:defRPr sz="1500"/>
            </a:pPr>
            <a:r>
              <a:rPr sz="1500"/>
              <a:t>Персонализация B2B: возможность делать персонализированные офферы и уведомления внутри банковских приложений</a:t>
            </a:r>
          </a:p>
          <a:p>
            <a:pPr marL="400000" indent="-200000">
              <a:lnSpc>
                <a:spcPct val="105000"/>
              </a:lnSpc>
              <a:spcAft>
                <a:spcPts val="500"/>
              </a:spcAft>
              <a:buChar char="•"/>
              <a:defRPr sz="1500"/>
            </a:pPr>
            <a:r>
              <a:rPr sz="1500"/>
              <a:t>Цифровизация платежей: рост доли безналичных и онлайн-платежей</a:t>
            </a:r>
          </a:p>
          <a:p>
            <a:pPr marL="400000" indent="-200000">
              <a:lnSpc>
                <a:spcPct val="105000"/>
              </a:lnSpc>
              <a:spcAft>
                <a:spcPts val="500"/>
              </a:spcAft>
              <a:buChar char="•"/>
              <a:defRPr sz="1500"/>
            </a:pPr>
            <a:r>
              <a:rPr sz="1500"/>
              <a:t>Внедрение AI: автоматизация интеграций, аналитика, персонализация</a:t>
            </a:r>
          </a:p>
          <a:p>
            <a:pPr marL="400000" indent="-200000">
              <a:lnSpc>
                <a:spcPct val="105000"/>
              </a:lnSpc>
              <a:spcAft>
                <a:spcPts val="500"/>
              </a:spcAft>
              <a:buChar char="•"/>
              <a:defRPr sz="1500"/>
            </a:pPr>
            <a:r>
              <a:rPr sz="1500"/>
              <a:t>Цифровой рубль: A3 может занять позицию инфраструктуры цифрового рубля</a:t>
            </a:r>
          </a:p>
          <a:p>
            <a:pPr marL="400000" indent="-200000">
              <a:lnSpc>
                <a:spcPct val="105000"/>
              </a:lnSpc>
              <a:spcAft>
                <a:spcPts val="500"/>
              </a:spcAft>
              <a:buChar char="•"/>
              <a:defRPr sz="1500"/>
            </a:pPr>
            <a:r>
              <a:rPr sz="1500"/>
              <a:t>Регуляторное давление через СМЭВ: толкает игроков к использованию шлюза А3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442913" y="6384626"/>
            <a:ext cx="11198224" cy="260000"/>
          </a:xfrm>
        </p:spPr>
        <p:txBody>
          <a:bodyPr/>
          <a:lstStyle/>
          <a:p>
            <a:r>
              <a:t>A3 Presentation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913" y="671247"/>
            <a:ext cx="11198224" cy="849883"/>
          </a:xfr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800"/>
            </a:pPr>
            <a:r>
              <a:rPr sz="2800"/>
              <a:t>3.5 Критерии выбора А3 клиентами</a:t>
            </a:r>
          </a:p>
        </p:txBody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442914" y="1701130"/>
          <a:ext cx="11198224" cy="4503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3609"/>
                <a:gridCol w="8734615"/>
              </a:tblGrid>
              <a:tr h="3600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Сегмент</a:t>
                      </a:r>
                    </a:p>
                  </a:txBody>
                  <a:tcPr marL="40000" marR="40000" marT="20000" marB="20000">
                    <a:solidFill>
                      <a:srgbClr val="1D355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Ключевые критерии выбора</a:t>
                      </a:r>
                    </a:p>
                  </a:txBody>
                  <a:tcPr marL="40000" marR="40000" marT="20000" marB="20000">
                    <a:solidFill>
                      <a:srgbClr val="1D3557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Банки</a:t>
                      </a:r>
                    </a:p>
                  </a:txBody>
                  <a:tcPr marL="40000" marR="40000" marT="20000" marB="20000">
                    <a:solidFill>
                      <a:srgbClr val="EBF3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Линейка продуктов для роста сервиса · Количество поставщиков · Стоимость · Качество данных · Доступ к госсистемам · Надёжность инфраструктуры</a:t>
                      </a:r>
                    </a:p>
                  </a:txBody>
                  <a:tcPr marL="40000" marR="40000" marT="20000" marB="20000">
                    <a:solidFill>
                      <a:srgbClr val="EBF3FE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Поставщики</a:t>
                      </a:r>
                    </a:p>
                  </a:txBody>
                  <a:tcPr marL="40000" marR="40000" marT="20000" marB="20000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Количество банков в сети · Стоимость · Надёжность · Скорость интеграции</a:t>
                      </a:r>
                    </a:p>
                  </a:txBody>
                  <a:tcPr marL="40000" marR="40000" marT="20000" marB="20000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7" name="Text Placeholder 6"/>
          <p:cNvSpPr>
            <a:spLocks noGrp="1"/>
          </p:cNvSpPr>
          <p:nvPr>
            <p:ph type="body" idx="15" sz="quarter"/>
          </p:nvPr>
        </p:nvSpPr>
        <p:spPr>
          <a:xfrm>
            <a:off x="442913" y="6384626"/>
            <a:ext cx="11198224" cy="260000"/>
          </a:xfrm>
        </p:spPr>
        <p:txBody>
          <a:bodyPr/>
          <a:lstStyle/>
          <a:p>
            <a:r>
              <a:t>A3 Presentation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913" y="671247"/>
            <a:ext cx="11198224" cy="849883"/>
          </a:xfr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800"/>
            </a:pPr>
            <a:r>
              <a:rPr sz="2800"/>
              <a:t>3.6 SWOT-анализ</a:t>
            </a:r>
          </a:p>
        </p:txBody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442914" y="1701130"/>
          <a:ext cx="11198224" cy="4503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03254"/>
                <a:gridCol w="6494970"/>
              </a:tblGrid>
              <a:tr h="4200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81C4F"/>
                          </a:solidFill>
                        </a:rPr>
                        <a:t>Strengths — сильные стороны</a:t>
                      </a:r>
                    </a:p>
                    <a:p>
                      <a:r>
                        <a:rPr sz="1000" b="1">
                          <a:solidFill>
                            <a:srgbClr val="081C4F"/>
                          </a:solidFill>
                        </a:rPr>
                        <a:t>Уникальная сеть: 58+ банков + тысячи поставщиков</a:t>
                      </a:r>
                    </a:p>
                    <a:p>
                      <a:r>
                        <a:rPr sz="1000" b="1">
                          <a:solidFill>
                            <a:srgbClr val="081C4F"/>
                          </a:solidFill>
                        </a:rPr>
                        <a:t>Доступ к ГИС ГМП, СМЭВ, ГИС ЖКХ</a:t>
                      </a:r>
                    </a:p>
                    <a:p>
                      <a:r>
                        <a:rPr sz="1000" b="1">
                          <a:solidFill>
                            <a:srgbClr val="081C4F"/>
                          </a:solidFill>
                        </a:rPr>
                        <a:t>Уникальная технология HH/Notification</a:t>
                      </a:r>
                    </a:p>
                    <a:p>
                      <a:r>
                        <a:rPr sz="1000" b="1">
                          <a:solidFill>
                            <a:srgbClr val="081C4F"/>
                          </a:solidFill>
                        </a:rPr>
                        <a:t>AI-интеграция: 5 минут (было 15 дней)</a:t>
                      </a:r>
                    </a:p>
                    <a:p>
                      <a:r>
                        <a:rPr sz="1000" b="1">
                          <a:solidFill>
                            <a:srgbClr val="081C4F"/>
                          </a:solidFill>
                        </a:rPr>
                        <a:t>Churn rate 0% — ни один партнер не ушёл</a:t>
                      </a:r>
                    </a:p>
                    <a:p>
                      <a:r>
                        <a:rPr sz="1000" b="1">
                          <a:solidFill>
                            <a:srgbClr val="081C4F"/>
                          </a:solidFill>
                        </a:rPr>
                        <a:t>Связанная продуктовая линейка</a:t>
                      </a:r>
                    </a:p>
                  </a:txBody>
                  <a:tcPr marL="40000" marR="40000" marT="20000" marB="20000">
                    <a:solidFill>
                      <a:srgbClr val="EAF3D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81C4F"/>
                          </a:solidFill>
                        </a:rPr>
                        <a:t>Weaknesses — слабые стороны</a:t>
                      </a:r>
                    </a:p>
                    <a:p>
                      <a:r>
                        <a:rPr sz="1000" b="1">
                          <a:solidFill>
                            <a:srgbClr val="081C4F"/>
                          </a:solidFill>
                        </a:rPr>
                        <a:t>Концентрация: Альфа-Банк &gt;40% выручки</a:t>
                      </a:r>
                    </a:p>
                    <a:p>
                      <a:r>
                        <a:rPr sz="1000" b="1">
                          <a:solidFill>
                            <a:srgbClr val="081C4F"/>
                          </a:solidFill>
                        </a:rPr>
                        <a:t>Один расчетный банк — инфраструктурный риск</a:t>
                      </a:r>
                    </a:p>
                    <a:p>
                      <a:r>
                        <a:rPr sz="1000" b="1">
                          <a:solidFill>
                            <a:srgbClr val="081C4F"/>
                          </a:solidFill>
                        </a:rPr>
                        <a:t>Слабая узнаваемость бренда на рынке</a:t>
                      </a:r>
                    </a:p>
                    <a:p>
                      <a:r>
                        <a:rPr sz="1000" b="1">
                          <a:solidFill>
                            <a:srgbClr val="081C4F"/>
                          </a:solidFill>
                        </a:rPr>
                        <a:t>Низкое AI-проникновение внутри команды</a:t>
                      </a:r>
                    </a:p>
                    <a:p>
                      <a:r>
                        <a:rPr sz="1000" b="1">
                          <a:solidFill>
                            <a:srgbClr val="081C4F"/>
                          </a:solidFill>
                        </a:rPr>
                        <a:t>Нет формализованной GTM-воронки и SLA</a:t>
                      </a:r>
                    </a:p>
                  </a:txBody>
                  <a:tcPr marL="40000" marR="40000" marT="20000" marB="20000">
                    <a:solidFill>
                      <a:srgbClr val="FCEBEB"/>
                    </a:solidFill>
                  </a:tcPr>
                </a:tc>
              </a:tr>
              <a:tr h="420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Opportunities — возможности</a:t>
                      </a:r>
                    </a:p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Новые сегменты: МФО, страхование</a:t>
                      </a:r>
                    </a:p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Монетизация поставщиков</a:t>
                      </a:r>
                    </a:p>
                    <a:p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Цифровой рубль — занять позицию инфраструктуры</a:t>
                      </a:r>
                    </a:p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РНКО как независимый расчётный центр</a:t>
                      </a:r>
                    </a:p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А3 Лаб как продуктовая песочница</a:t>
                      </a:r>
                    </a:p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Персонализация B2B-уведомлений через AI</a:t>
                      </a:r>
                    </a:p>
                  </a:txBody>
                  <a:tcPr marL="40000" marR="40000" marT="20000" marB="20000">
                    <a:solidFill>
                      <a:srgbClr val="E6F1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Threats — угрозы</a:t>
                      </a:r>
                    </a:p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Сбер/ВТБ строят собственную инфраструктуру</a:t>
                      </a:r>
                    </a:p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Регуляторные изменения ЦБ (РНКО, платежи)</a:t>
                      </a:r>
                    </a:p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Уход ключевых партнеров (ПСБ и др.)</a:t>
                      </a:r>
                    </a:p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Отмена реестра российского ПО</a:t>
                      </a:r>
                    </a:p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AI у конкурентов — потеря техно преимущества</a:t>
                      </a:r>
                    </a:p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Ужесточение налоговой политики</a:t>
                      </a:r>
                    </a:p>
                  </a:txBody>
                  <a:tcPr marL="40000" marR="40000" marT="20000" marB="20000">
                    <a:solidFill>
                      <a:srgbClr val="FAEEDA"/>
                    </a:solidFill>
                  </a:tcPr>
                </a:tc>
              </a:tr>
            </a:tbl>
          </a:graphicData>
        </a:graphic>
      </p:graphicFrame>
      <p:sp>
        <p:nvSpPr>
          <p:cNvPr id="7" name="Text Placeholder 6"/>
          <p:cNvSpPr>
            <a:spLocks noGrp="1"/>
          </p:cNvSpPr>
          <p:nvPr>
            <p:ph type="body" idx="15" sz="quarter"/>
          </p:nvPr>
        </p:nvSpPr>
        <p:spPr>
          <a:xfrm>
            <a:off x="442913" y="6384626"/>
            <a:ext cx="11198224" cy="260000"/>
          </a:xfrm>
        </p:spPr>
        <p:txBody>
          <a:bodyPr/>
          <a:lstStyle/>
          <a:p>
            <a:r>
              <a:t>A3 Presentation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913" y="671247"/>
            <a:ext cx="11198224" cy="849883"/>
          </a:xfr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600"/>
            </a:pPr>
            <a:r>
              <a:rPr sz="2800"/>
              <a:t>4. Go-to-market и продажи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>
          <a:xfrm>
            <a:off x="442913" y="1821130"/>
            <a:ext cx="11198224" cy="4383496"/>
          </a:xfrm>
        </p:spPr>
        <p:txBody>
          <a:bodyPr wrap="square">
            <a:norm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  <a:defRPr sz="1600"/>
            </a:pPr>
            <a:r>
              <a:rPr sz="1600"/>
              <a:t>4.1 Два сегмента — две модели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442913" y="6384626"/>
            <a:ext cx="11198224" cy="260000"/>
          </a:xfrm>
        </p:spPr>
        <p:txBody>
          <a:bodyPr/>
          <a:lstStyle/>
          <a:p>
            <a:r>
              <a:t>A3 Presentation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913" y="671247"/>
            <a:ext cx="11198224" cy="849883"/>
          </a:xfr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800"/>
            </a:pPr>
            <a:r>
              <a:rPr sz="2800"/>
              <a:t>Сегмент 1: Поставщики ЖКУ</a:t>
            </a:r>
          </a:p>
        </p:txBody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442914" y="1701130"/>
          <a:ext cx="11198224" cy="4503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37224"/>
                <a:gridCol w="7661000"/>
              </a:tblGrid>
              <a:tr h="245427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Параметр</a:t>
                      </a:r>
                    </a:p>
                  </a:txBody>
                  <a:tcPr marL="40000" marR="40000" marT="20000" marB="20000">
                    <a:solidFill>
                      <a:srgbClr val="1D355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Значение</a:t>
                      </a:r>
                    </a:p>
                  </a:txBody>
                  <a:tcPr marL="40000" marR="40000" marT="20000" marB="20000">
                    <a:solidFill>
                      <a:srgbClr val="1D3557"/>
                    </a:solidFill>
                  </a:tcPr>
                </a:tc>
              </a:tr>
              <a:tr h="245427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Объём рынка</a:t>
                      </a:r>
                    </a:p>
                  </a:txBody>
                  <a:tcPr marL="40000" marR="40000" marT="20000" marB="20000">
                    <a:solidFill>
                      <a:srgbClr val="EBF3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~6 000 целевых организаций</a:t>
                      </a:r>
                    </a:p>
                  </a:txBody>
                  <a:tcPr marL="40000" marR="40000" marT="20000" marB="20000">
                    <a:solidFill>
                      <a:srgbClr val="EBF3FE"/>
                    </a:solidFill>
                  </a:tcPr>
                </a:tc>
              </a:tr>
              <a:tr h="245427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Текущая база</a:t>
                      </a:r>
                    </a:p>
                  </a:txBody>
                  <a:tcPr marL="40000" marR="40000" marT="20000" marB="20000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2 000+ подключено</a:t>
                      </a:r>
                    </a:p>
                  </a:txBody>
                  <a:tcPr marL="40000" marR="40000" marT="20000" marB="20000">
                    <a:solidFill>
                      <a:srgbClr val="F5F7FA"/>
                    </a:solidFill>
                  </a:tcPr>
                </a:tc>
              </a:tr>
              <a:tr h="245427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Остаток потенциала</a:t>
                      </a:r>
                    </a:p>
                  </a:txBody>
                  <a:tcPr marL="40000" marR="40000" marT="20000" marB="20000">
                    <a:solidFill>
                      <a:srgbClr val="EBF3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~3 000 организаций</a:t>
                      </a:r>
                    </a:p>
                  </a:txBody>
                  <a:tcPr marL="40000" marR="40000" marT="20000" marB="20000">
                    <a:solidFill>
                      <a:srgbClr val="EBF3FE"/>
                    </a:solidFill>
                  </a:tcPr>
                </a:tc>
              </a:tr>
              <a:tr h="245427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Источники лидов</a:t>
                      </a:r>
                    </a:p>
                  </a:txBody>
                  <a:tcPr marL="40000" marR="40000" marT="20000" marB="20000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CRM · Файл ГИС ЖКХ · Холодный поиск · Портал ЖКХ</a:t>
                      </a:r>
                    </a:p>
                  </a:txBody>
                  <a:tcPr marL="40000" marR="40000" marT="20000" marB="20000">
                    <a:solidFill>
                      <a:srgbClr val="F5F7FA"/>
                    </a:solidFill>
                  </a:tcPr>
                </a:tc>
              </a:tr>
              <a:tr h="245427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Команда продаж</a:t>
                      </a:r>
                    </a:p>
                  </a:txBody>
                  <a:tcPr marL="40000" marR="40000" marT="20000" marB="20000">
                    <a:solidFill>
                      <a:srgbClr val="EBF3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~10 менеджеров (договоры)</a:t>
                      </a:r>
                    </a:p>
                  </a:txBody>
                  <a:tcPr marL="40000" marR="40000" marT="20000" marB="20000">
                    <a:solidFill>
                      <a:srgbClr val="EBF3FE"/>
                    </a:solidFill>
                  </a:tcPr>
                </a:tc>
              </a:tr>
              <a:tr h="245427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Интеграция</a:t>
                      </a:r>
                    </a:p>
                  </a:txBody>
                  <a:tcPr marL="40000" marR="40000" marT="20000" marB="20000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AI: 5 минут (было 15 дней) — аналитики + PM</a:t>
                      </a:r>
                    </a:p>
                  </a:txBody>
                  <a:tcPr marL="40000" marR="40000" marT="20000" marB="20000">
                    <a:solidFill>
                      <a:srgbClr val="F5F7FA"/>
                    </a:solidFill>
                  </a:tcPr>
                </a:tc>
              </a:tr>
              <a:tr h="245427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Цель 2026</a:t>
                      </a:r>
                    </a:p>
                  </a:txBody>
                  <a:tcPr marL="40000" marR="40000" marT="20000" marB="20000">
                    <a:solidFill>
                      <a:srgbClr val="EBF3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+1 000 новых подключений, итого 3 000+</a:t>
                      </a:r>
                    </a:p>
                  </a:txBody>
                  <a:tcPr marL="40000" marR="40000" marT="20000" marB="20000">
                    <a:solidFill>
                      <a:srgbClr val="EBF3FE"/>
                    </a:solidFill>
                  </a:tcPr>
                </a:tc>
              </a:tr>
              <a:tr h="245427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Цель 2027</a:t>
                      </a:r>
                    </a:p>
                  </a:txBody>
                  <a:tcPr marL="40000" marR="40000" marT="20000" marB="20000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+2 000 новых подключений, итого 5 000+</a:t>
                      </a:r>
                    </a:p>
                  </a:txBody>
                  <a:tcPr marL="40000" marR="40000" marT="20000" marB="20000">
                    <a:solidFill>
                      <a:srgbClr val="F5F7FA"/>
                    </a:solidFill>
                  </a:tcPr>
                </a:tc>
              </a:tr>
              <a:tr h="245427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Лаг выхода на объём</a:t>
                      </a:r>
                    </a:p>
                  </a:txBody>
                  <a:tcPr marL="40000" marR="40000" marT="20000" marB="20000">
                    <a:solidFill>
                      <a:srgbClr val="EBF3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~6 месяцев от открытия до стабильного потока</a:t>
                      </a:r>
                    </a:p>
                  </a:txBody>
                  <a:tcPr marL="40000" marR="40000" marT="20000" marB="20000">
                    <a:solidFill>
                      <a:srgbClr val="EBF3FE"/>
                    </a:solidFill>
                  </a:tcPr>
                </a:tc>
              </a:tr>
            </a:tbl>
          </a:graphicData>
        </a:graphic>
      </p:graphicFrame>
      <p:sp>
        <p:nvSpPr>
          <p:cNvPr id="7" name="Text Placeholder 6"/>
          <p:cNvSpPr>
            <a:spLocks noGrp="1"/>
          </p:cNvSpPr>
          <p:nvPr>
            <p:ph type="body" idx="15" sz="quarter"/>
          </p:nvPr>
        </p:nvSpPr>
        <p:spPr>
          <a:xfrm>
            <a:off x="442913" y="6384626"/>
            <a:ext cx="11198224" cy="260000"/>
          </a:xfrm>
        </p:spPr>
        <p:txBody>
          <a:bodyPr/>
          <a:lstStyle/>
          <a:p>
            <a:r>
              <a:t>A3 Presentation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913" y="671247"/>
            <a:ext cx="11198224" cy="849883"/>
          </a:xfr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800"/>
            </a:pPr>
            <a:r>
              <a:rPr sz="2800"/>
              <a:t>Сегмент 2: Банки-партнёры</a:t>
            </a:r>
          </a:p>
        </p:txBody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442914" y="1701130"/>
          <a:ext cx="11198224" cy="4503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40905"/>
                <a:gridCol w="8257319"/>
              </a:tblGrid>
              <a:tr h="3200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Параметр</a:t>
                      </a:r>
                    </a:p>
                  </a:txBody>
                  <a:tcPr marL="60000" marR="60000" marT="30000" marB="30000">
                    <a:solidFill>
                      <a:srgbClr val="1D355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Значение</a:t>
                      </a:r>
                    </a:p>
                  </a:txBody>
                  <a:tcPr marL="60000" marR="60000" marT="30000" marB="30000">
                    <a:solidFill>
                      <a:srgbClr val="1D3557"/>
                    </a:solidFill>
                  </a:tcPr>
                </a:tc>
              </a:tr>
              <a:tr h="32000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81C4F"/>
                          </a:solidFill>
                        </a:rPr>
                        <a:t>Целевой рынок</a:t>
                      </a:r>
                    </a:p>
                  </a:txBody>
                  <a:tcPr marL="60000" marR="60000" marT="30000" marB="30000">
                    <a:solidFill>
                      <a:srgbClr val="EBF3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81C4F"/>
                          </a:solidFill>
                        </a:rPr>
                        <a:t>~80 банков</a:t>
                      </a:r>
                    </a:p>
                  </a:txBody>
                  <a:tcPr marL="60000" marR="60000" marT="30000" marB="30000">
                    <a:solidFill>
                      <a:srgbClr val="EBF3FE"/>
                    </a:solidFill>
                  </a:tcPr>
                </a:tc>
              </a:tr>
              <a:tr h="32000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81C4F"/>
                          </a:solidFill>
                        </a:rPr>
                        <a:t>На борту</a:t>
                      </a:r>
                    </a:p>
                  </a:txBody>
                  <a:tcPr marL="60000" marR="60000" marT="30000" marB="30000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/>
                  </a:txBody>
                  <a:tcPr marL="60000" marR="60000" marT="30000" marB="30000">
                    <a:solidFill>
                      <a:srgbClr val="F5F7FA"/>
                    </a:solidFill>
                  </a:tcPr>
                </a:tc>
              </a:tr>
              <a:tr h="32000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81C4F"/>
                          </a:solidFill>
                        </a:rPr>
                        <a:t>В процессе</a:t>
                      </a:r>
                    </a:p>
                  </a:txBody>
                  <a:tcPr marL="60000" marR="60000" marT="30000" marB="30000">
                    <a:solidFill>
                      <a:srgbClr val="EBF3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81C4F"/>
                          </a:solidFill>
                        </a:rPr>
                        <a:t>~20 малых банков</a:t>
                      </a:r>
                    </a:p>
                  </a:txBody>
                  <a:tcPr marL="60000" marR="60000" marT="30000" marB="30000">
                    <a:solidFill>
                      <a:srgbClr val="EBF3FE"/>
                    </a:solidFill>
                  </a:tcPr>
                </a:tc>
              </a:tr>
              <a:tr h="32000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81C4F"/>
                          </a:solidFill>
                        </a:rPr>
                        <a:t>Команда</a:t>
                      </a:r>
                    </a:p>
                  </a:txBody>
                  <a:tcPr marL="60000" marR="60000" marT="30000" marB="30000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81C4F"/>
                          </a:solidFill>
                        </a:rPr>
                        <a:t>5 продажников (новые сделки + upsell) + 5 аккаунт-менеджеров (поддержка)</a:t>
                      </a:r>
                    </a:p>
                  </a:txBody>
                  <a:tcPr marL="60000" marR="60000" marT="30000" marB="30000">
                    <a:solidFill>
                      <a:srgbClr val="F5F7FA"/>
                    </a:solidFill>
                  </a:tcPr>
                </a:tc>
              </a:tr>
              <a:tr h="32000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81C4F"/>
                          </a:solidFill>
                        </a:rPr>
                        <a:t>Путь к клиенту</a:t>
                      </a:r>
                    </a:p>
                  </a:txBody>
                  <a:tcPr marL="60000" marR="60000" marT="30000" marB="30000">
                    <a:solidFill>
                      <a:srgbClr val="EBF3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81C4F"/>
                          </a:solidFill>
                        </a:rPr>
                        <a:t>Департамент развития · Продуктовые команды · Форумы / ивенты · Собственные мероприятия</a:t>
                      </a:r>
                    </a:p>
                  </a:txBody>
                  <a:tcPr marL="60000" marR="60000" marT="30000" marB="30000">
                    <a:solidFill>
                      <a:srgbClr val="EBF3FE"/>
                    </a:solidFill>
                  </a:tcPr>
                </a:tc>
              </a:tr>
              <a:tr h="32000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81C4F"/>
                          </a:solidFill>
                        </a:rPr>
                        <a:t>Churn rate</a:t>
                      </a:r>
                    </a:p>
                  </a:txBody>
                  <a:tcPr marL="60000" marR="60000" marT="30000" marB="30000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81C4F"/>
                          </a:solidFill>
                        </a:rPr>
                        <a:t>0% — ни один банк не ушёл</a:t>
                      </a:r>
                    </a:p>
                  </a:txBody>
                  <a:tcPr marL="60000" marR="60000" marT="30000" marB="30000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7" name="Text Placeholder 6"/>
          <p:cNvSpPr>
            <a:spLocks noGrp="1"/>
          </p:cNvSpPr>
          <p:nvPr>
            <p:ph type="body" idx="15" sz="quarter"/>
          </p:nvPr>
        </p:nvSpPr>
        <p:spPr>
          <a:xfrm>
            <a:off x="442913" y="6384626"/>
            <a:ext cx="11198224" cy="260000"/>
          </a:xfrm>
        </p:spPr>
        <p:txBody>
          <a:bodyPr/>
          <a:lstStyle/>
          <a:p>
            <a:r>
              <a:t>A3 Presentation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913" y="671247"/>
            <a:ext cx="11198224" cy="849883"/>
          </a:xfr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800"/>
            </a:pPr>
            <a:r>
              <a:rPr sz="2800"/>
              <a:t>4.2 Метрики проникновения продуктов в портфель банков</a:t>
            </a:r>
          </a:p>
        </p:txBody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442914" y="1701130"/>
          <a:ext cx="11198224" cy="4503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39319"/>
                <a:gridCol w="1567751"/>
                <a:gridCol w="3891154"/>
              </a:tblGrid>
              <a:tr h="3200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Метрика</a:t>
                      </a:r>
                    </a:p>
                  </a:txBody>
                  <a:tcPr marL="40000" marR="40000" marT="20000" marB="20000">
                    <a:solidFill>
                      <a:srgbClr val="1D355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2025</a:t>
                      </a:r>
                    </a:p>
                  </a:txBody>
                  <a:tcPr marL="40000" marR="40000" marT="20000" marB="20000">
                    <a:solidFill>
                      <a:srgbClr val="1D355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2026 (цель)</a:t>
                      </a:r>
                    </a:p>
                  </a:txBody>
                  <a:tcPr marL="40000" marR="40000" marT="20000" marB="20000">
                    <a:solidFill>
                      <a:srgbClr val="1D3557"/>
                    </a:solidFill>
                  </a:tcPr>
                </a:tc>
              </a:tr>
              <a:tr h="320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Количество партнёров</a:t>
                      </a:r>
                    </a:p>
                  </a:txBody>
                  <a:tcPr marL="40000" marR="40000" marT="20000" marB="20000">
                    <a:solidFill>
                      <a:srgbClr val="EBF3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49</a:t>
                      </a:r>
                    </a:p>
                  </a:txBody>
                  <a:tcPr marL="40000" marR="40000" marT="20000" marB="20000">
                    <a:solidFill>
                      <a:srgbClr val="EBF3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58 (+18%)</a:t>
                      </a:r>
                    </a:p>
                  </a:txBody>
                  <a:tcPr marL="40000" marR="40000" marT="20000" marB="20000">
                    <a:solidFill>
                      <a:srgbClr val="EBF3FE"/>
                    </a:solidFill>
                  </a:tcPr>
                </a:tc>
              </a:tr>
              <a:tr h="320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Среднее проникновение</a:t>
                      </a:r>
                    </a:p>
                  </a:txBody>
                  <a:tcPr marL="40000" marR="40000" marT="20000" marB="20000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1.47</a:t>
                      </a:r>
                    </a:p>
                  </a:txBody>
                  <a:tcPr marL="40000" marR="40000" marT="20000" marB="20000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1.90 (+29%)</a:t>
                      </a:r>
                    </a:p>
                  </a:txBody>
                  <a:tcPr marL="40000" marR="40000" marT="20000" marB="20000">
                    <a:solidFill>
                      <a:srgbClr val="F5F7FA"/>
                    </a:solidFill>
                  </a:tcPr>
                </a:tc>
              </a:tr>
              <a:tr h="320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Проникновение Топ-10</a:t>
                      </a:r>
                    </a:p>
                  </a:txBody>
                  <a:tcPr marL="40000" marR="40000" marT="20000" marB="20000">
                    <a:solidFill>
                      <a:srgbClr val="EBF3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2.4</a:t>
                      </a:r>
                    </a:p>
                  </a:txBody>
                  <a:tcPr marL="40000" marR="40000" marT="20000" marB="20000">
                    <a:solidFill>
                      <a:srgbClr val="EBF3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3.5 (+46%)</a:t>
                      </a:r>
                    </a:p>
                  </a:txBody>
                  <a:tcPr marL="40000" marR="40000" marT="20000" marB="20000">
                    <a:solidFill>
                      <a:srgbClr val="EBF3FE"/>
                    </a:solidFill>
                  </a:tcPr>
                </a:tc>
              </a:tr>
              <a:tr h="320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Банки 80% дохода</a:t>
                      </a:r>
                    </a:p>
                  </a:txBody>
                  <a:tcPr marL="40000" marR="40000" marT="20000" marB="20000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3.0</a:t>
                      </a:r>
                    </a:p>
                  </a:txBody>
                  <a:tcPr marL="40000" marR="40000" marT="20000" marB="20000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3.5 (+17%)</a:t>
                      </a:r>
                    </a:p>
                  </a:txBody>
                  <a:tcPr marL="40000" marR="40000" marT="20000" marB="20000">
                    <a:solidFill>
                      <a:srgbClr val="F5F7FA"/>
                    </a:solidFill>
                  </a:tcPr>
                </a:tc>
              </a:tr>
              <a:tr h="320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Банки 20% дохода (хвост)</a:t>
                      </a:r>
                    </a:p>
                  </a:txBody>
                  <a:tcPr marL="40000" marR="40000" marT="20000" marB="20000">
                    <a:solidFill>
                      <a:srgbClr val="EBF3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1.33</a:t>
                      </a:r>
                    </a:p>
                  </a:txBody>
                  <a:tcPr marL="40000" marR="40000" marT="20000" marB="20000">
                    <a:solidFill>
                      <a:srgbClr val="EBF3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1.78 (+34%)</a:t>
                      </a:r>
                    </a:p>
                  </a:txBody>
                  <a:tcPr marL="40000" marR="40000" marT="20000" marB="20000">
                    <a:solidFill>
                      <a:srgbClr val="EBF3FE"/>
                    </a:solidFill>
                  </a:tcPr>
                </a:tc>
              </a:tr>
            </a:tbl>
          </a:graphicData>
        </a:graphic>
      </p:graphicFrame>
      <p:sp>
        <p:nvSpPr>
          <p:cNvPr id="7" name="Text Placeholder 6"/>
          <p:cNvSpPr>
            <a:spLocks noGrp="1"/>
          </p:cNvSpPr>
          <p:nvPr>
            <p:ph type="body" idx="15" sz="quarter"/>
          </p:nvPr>
        </p:nvSpPr>
        <p:spPr>
          <a:xfrm>
            <a:off x="442913" y="6384626"/>
            <a:ext cx="11198224" cy="260000"/>
          </a:xfrm>
        </p:spPr>
        <p:txBody>
          <a:bodyPr/>
          <a:lstStyle/>
          <a:p>
            <a:r>
              <a:t>A3 Presentation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913" y="671247"/>
            <a:ext cx="11198224" cy="849883"/>
          </a:xfr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600"/>
            </a:pPr>
            <a:r>
              <a:rPr sz="2800"/>
              <a:t>4.3 Account Management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>
          <a:xfrm>
            <a:off x="442913" y="1821130"/>
            <a:ext cx="11198224" cy="4383496"/>
          </a:xfrm>
        </p:spPr>
        <p:txBody>
          <a:bodyPr wrap="square">
            <a:norm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400"/>
            </a:pPr>
            <a:r>
              <a:rPr sz="1400"/>
              <a:t>Структура: 5 продажников (новые сделки, upsell, стратегические встречи) + 5 аккаунт-менеджеров (операционные вопросы, рутина, поддержка).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400"/>
            </a:pPr>
            <a:r>
              <a:rPr sz="1400"/>
              <a:t>Ритм контактов: регулярные встречи, мероприятия, рассылки. Банки узнают о новых продуктах через менеджера и на встречах.</a:t>
            </a:r>
          </a:p>
          <a:p>
            <a:pPr marL="400000" indent="-200000">
              <a:lnSpc>
                <a:spcPct val="105000"/>
              </a:lnSpc>
              <a:spcAft>
                <a:spcPts val="500"/>
              </a:spcAft>
              <a:buChar char="•"/>
              <a:defRPr sz="1400"/>
            </a:pPr>
            <a:r>
              <a:rPr sz="1400"/>
              <a:t>Сегментация портфеля: Топ-10 (ядро) · Средние 20–30 (потенциал) · Хвост (базовое ведение)</a:t>
            </a:r>
          </a:p>
          <a:p>
            <a:pPr marL="400000" indent="-200000">
              <a:lnSpc>
                <a:spcPct val="105000"/>
              </a:lnSpc>
              <a:spcAft>
                <a:spcPts val="500"/>
              </a:spcAft>
              <a:buChar char="•"/>
              <a:defRPr sz="1400"/>
            </a:pPr>
            <a:r>
              <a:rPr sz="1400"/>
              <a:t>Upsell-план: для каждого банка хвоста — конкретный следующий продукт и квартал</a:t>
            </a:r>
          </a:p>
          <a:p>
            <a:pPr marL="400000" indent="-200000">
              <a:lnSpc>
                <a:spcPct val="105000"/>
              </a:lnSpc>
              <a:spcAft>
                <a:spcPts val="500"/>
              </a:spcAft>
              <a:buChar char="•"/>
              <a:defRPr sz="1400"/>
            </a:pPr>
            <a:r>
              <a:rPr sz="1400"/>
              <a:t>NPS / Health Score: внедряется через маркетинг-департамент</a:t>
            </a:r>
          </a:p>
          <a:p>
            <a:pPr marL="400000" indent="-200000">
              <a:lnSpc>
                <a:spcPct val="105000"/>
              </a:lnSpc>
              <a:spcAft>
                <a:spcPts val="500"/>
              </a:spcAft>
              <a:buChar char="•"/>
              <a:defRPr sz="1400"/>
            </a:pPr>
            <a:r>
              <a:rPr sz="1400"/>
              <a:t>SLA-прозрачность: автоуведомления из Jira о статусе заявки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442913" y="6384626"/>
            <a:ext cx="11198224" cy="260000"/>
          </a:xfrm>
        </p:spPr>
        <p:txBody>
          <a:bodyPr/>
          <a:lstStyle/>
          <a:p>
            <a:r>
              <a:t>A3 Presentation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913" y="671247"/>
            <a:ext cx="11198224" cy="849883"/>
          </a:xfr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800"/>
            </a:pPr>
            <a:r>
              <a:rPr sz="2800"/>
              <a:t>4.4 Customer Journey поставщика</a:t>
            </a:r>
          </a:p>
        </p:txBody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442914" y="1701130"/>
          <a:ext cx="11198224" cy="4503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0605"/>
                <a:gridCol w="2398415"/>
                <a:gridCol w="6569204"/>
              </a:tblGrid>
              <a:tr h="306784"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Этап</a:t>
                      </a:r>
                    </a:p>
                  </a:txBody>
                  <a:tcPr marL="40000" marR="40000" marT="20000" marB="20000">
                    <a:solidFill>
                      <a:srgbClr val="1D355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Статус</a:t>
                      </a:r>
                    </a:p>
                  </a:txBody>
                  <a:tcPr marL="40000" marR="40000" marT="20000" marB="20000">
                    <a:solidFill>
                      <a:srgbClr val="1D355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Описание</a:t>
                      </a:r>
                    </a:p>
                  </a:txBody>
                  <a:tcPr marL="40000" marR="40000" marT="20000" marB="20000">
                    <a:solidFill>
                      <a:srgbClr val="1D3557"/>
                    </a:solidFill>
                  </a:tcPr>
                </a:tc>
              </a:tr>
              <a:tr h="306784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081C4F"/>
                          </a:solidFill>
                        </a:rPr>
                        <a:t>01. Лид</a:t>
                      </a:r>
                    </a:p>
                  </a:txBody>
                  <a:tcPr marL="40000" marR="40000" marT="20000" marB="20000">
                    <a:solidFill>
                      <a:srgbClr val="EBF3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081C4F"/>
                          </a:solidFill>
                        </a:rPr>
                        <a:t>Работает</a:t>
                      </a:r>
                    </a:p>
                  </a:txBody>
                  <a:tcPr marL="40000" marR="40000" marT="20000" marB="20000">
                    <a:solidFill>
                      <a:srgbClr val="EBF3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081C4F"/>
                          </a:solidFill>
                        </a:rPr>
                        <a:t>CRM / ГИС ЖКХ / холодный поиск / портал ЖКХ</a:t>
                      </a:r>
                    </a:p>
                  </a:txBody>
                  <a:tcPr marL="40000" marR="40000" marT="20000" marB="20000">
                    <a:solidFill>
                      <a:srgbClr val="EBF3FE"/>
                    </a:solidFill>
                  </a:tcPr>
                </a:tc>
              </a:tr>
              <a:tr h="306784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081C4F"/>
                          </a:solidFill>
                        </a:rPr>
                        <a:t>02. Договор</a:t>
                      </a:r>
                    </a:p>
                  </a:txBody>
                  <a:tcPr marL="40000" marR="40000" marT="20000" marB="20000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081C4F"/>
                          </a:solidFill>
                        </a:rPr>
                        <a:t>Работает</a:t>
                      </a:r>
                    </a:p>
                  </a:txBody>
                  <a:tcPr marL="40000" marR="40000" marT="20000" marB="20000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/>
                  </a:txBody>
                  <a:tcPr marL="40000" marR="40000" marT="20000" marB="20000">
                    <a:solidFill>
                      <a:srgbClr val="F5F7FA"/>
                    </a:solidFill>
                  </a:tcPr>
                </a:tc>
              </a:tr>
              <a:tr h="306784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081C4F"/>
                          </a:solidFill>
                        </a:rPr>
                        <a:t>03. Интеграция</a:t>
                      </a:r>
                    </a:p>
                  </a:txBody>
                  <a:tcPr marL="40000" marR="40000" marT="20000" marB="20000">
                    <a:solidFill>
                      <a:srgbClr val="EBF3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081C4F"/>
                          </a:solidFill>
                        </a:rPr>
                        <a:t>Конкур. преим.</a:t>
                      </a:r>
                    </a:p>
                  </a:txBody>
                  <a:tcPr marL="40000" marR="40000" marT="20000" marB="20000">
                    <a:solidFill>
                      <a:srgbClr val="EBF3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081C4F"/>
                          </a:solidFill>
                        </a:rPr>
                        <a:t>AI: 5 минут · аналитики + PM</a:t>
                      </a:r>
                    </a:p>
                  </a:txBody>
                  <a:tcPr marL="40000" marR="40000" marT="20000" marB="20000">
                    <a:solidFill>
                      <a:srgbClr val="EBF3FE"/>
                    </a:solidFill>
                  </a:tcPr>
                </a:tc>
              </a:tr>
              <a:tr h="306784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081C4F"/>
                          </a:solidFill>
                        </a:rPr>
                        <a:t>04. Открытие банками</a:t>
                      </a:r>
                    </a:p>
                  </a:txBody>
                  <a:tcPr marL="40000" marR="40000" marT="20000" marB="20000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081C4F"/>
                          </a:solidFill>
                        </a:rPr>
                        <a:t>Самостоятельное открытие банками</a:t>
                      </a:r>
                    </a:p>
                  </a:txBody>
                  <a:tcPr marL="40000" marR="40000" marT="20000" marB="20000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081C4F"/>
                          </a:solidFill>
                        </a:rPr>
                        <a:t>Банки сами решают срок открытия — внедряем систему для активного открытия: автоуведомления банков о новых поставщиках, Quarterly report банку</a:t>
                      </a:r>
                    </a:p>
                  </a:txBody>
                  <a:tcPr marL="40000" marR="40000" marT="20000" marB="20000">
                    <a:solidFill>
                      <a:srgbClr val="F5F7FA"/>
                    </a:solidFill>
                  </a:tcPr>
                </a:tc>
              </a:tr>
              <a:tr h="306784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081C4F"/>
                          </a:solidFill>
                        </a:rPr>
                        <a:t>05. Выход на объём</a:t>
                      </a:r>
                    </a:p>
                  </a:txBody>
                  <a:tcPr marL="40000" marR="40000" marT="20000" marB="20000">
                    <a:solidFill>
                      <a:srgbClr val="EBF3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081C4F"/>
                          </a:solidFill>
                        </a:rPr>
                        <a:t>6 мес. лаг</a:t>
                      </a:r>
                    </a:p>
                  </a:txBody>
                  <a:tcPr marL="40000" marR="40000" marT="20000" marB="20000">
                    <a:solidFill>
                      <a:srgbClr val="EBF3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081C4F"/>
                          </a:solidFill>
                        </a:rPr>
                        <a:t>~6 месяцев от открытия до нормального платежного потока</a:t>
                      </a:r>
                    </a:p>
                  </a:txBody>
                  <a:tcPr marL="40000" marR="40000" marT="20000" marB="20000">
                    <a:solidFill>
                      <a:srgbClr val="EBF3FE"/>
                    </a:solidFill>
                  </a:tcPr>
                </a:tc>
              </a:tr>
              <a:tr h="306784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081C4F"/>
                          </a:solidFill>
                        </a:rPr>
                        <a:t>06. Поддержка</a:t>
                      </a:r>
                    </a:p>
                  </a:txBody>
                  <a:tcPr marL="40000" marR="40000" marT="20000" marB="20000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081C4F"/>
                          </a:solidFill>
                        </a:rPr>
                        <a:t>Улучшить</a:t>
                      </a:r>
                    </a:p>
                  </a:txBody>
                  <a:tcPr marL="40000" marR="40000" marT="20000" marB="20000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/>
                  </a:txBody>
                  <a:tcPr marL="40000" marR="40000" marT="20000" marB="20000">
                    <a:solidFill>
                      <a:srgbClr val="F5F7FA"/>
                    </a:solidFill>
                  </a:tcPr>
                </a:tc>
              </a:tr>
              <a:tr h="306784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081C4F"/>
                          </a:solidFill>
                        </a:rPr>
                        <a:t>07. Метрики</a:t>
                      </a:r>
                    </a:p>
                  </a:txBody>
                  <a:tcPr marL="40000" marR="40000" marT="20000" marB="20000">
                    <a:solidFill>
                      <a:srgbClr val="EBF3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081C4F"/>
                          </a:solidFill>
                        </a:rPr>
                        <a:t>В процессе</a:t>
                      </a:r>
                    </a:p>
                  </a:txBody>
                  <a:tcPr marL="40000" marR="40000" marT="20000" marB="20000">
                    <a:solidFill>
                      <a:srgbClr val="EBF3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081C4F"/>
                          </a:solidFill>
                        </a:rPr>
                        <a:t>NPS/CSAT внедряется.</a:t>
                      </a:r>
                    </a:p>
                  </a:txBody>
                  <a:tcPr marL="40000" marR="40000" marT="20000" marB="20000">
                    <a:solidFill>
                      <a:srgbClr val="EBF3FE"/>
                    </a:solidFill>
                  </a:tcPr>
                </a:tc>
              </a:tr>
            </a:tbl>
          </a:graphicData>
        </a:graphic>
      </p:graphicFrame>
      <p:sp>
        <p:nvSpPr>
          <p:cNvPr id="7" name="Text Placeholder 6"/>
          <p:cNvSpPr>
            <a:spLocks noGrp="1"/>
          </p:cNvSpPr>
          <p:nvPr>
            <p:ph type="body" idx="15" sz="quarter"/>
          </p:nvPr>
        </p:nvSpPr>
        <p:spPr>
          <a:xfrm>
            <a:off x="442913" y="6384626"/>
            <a:ext cx="11198224" cy="260000"/>
          </a:xfrm>
        </p:spPr>
        <p:txBody>
          <a:bodyPr/>
          <a:lstStyle/>
          <a:p>
            <a:r>
              <a:t>A3 Presentation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913" y="671247"/>
            <a:ext cx="11198224" cy="849883"/>
          </a:xfr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800"/>
            </a:pPr>
            <a:r>
              <a:rPr sz="2800"/>
              <a:t>5. Продуктовый роадмап 2026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>
          <a:xfrm>
            <a:off x="442913" y="1701130"/>
            <a:ext cx="11198224" cy="429767"/>
          </a:xfrm>
        </p:spPr>
        <p:txBody>
          <a:bodyPr wrap="square">
            <a:no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  <a:defRPr sz="800"/>
            </a:pPr>
            <a:r>
              <a:rPr sz="1800"/>
              <a:t>5.1 Транзакционные продукты (Poseidon / Платежный ОД)</a:t>
            </a:r>
          </a:p>
        </p:txBody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442914" y="2310897"/>
          <a:ext cx="11198224" cy="38937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3609"/>
                <a:gridCol w="8734615"/>
              </a:tblGrid>
              <a:tr h="4000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Квартал</a:t>
                      </a:r>
                    </a:p>
                  </a:txBody>
                  <a:tcPr marL="40000" marR="40000" marT="20000" marB="20000">
                    <a:solidFill>
                      <a:srgbClr val="1D355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Ключевые задачи</a:t>
                      </a:r>
                    </a:p>
                  </a:txBody>
                  <a:tcPr marL="40000" marR="40000" marT="20000" marB="20000">
                    <a:solidFill>
                      <a:srgbClr val="1D3557"/>
                    </a:solidFill>
                  </a:tcPr>
                </a:tc>
              </a:tr>
              <a:tr h="400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Q1 2026</a:t>
                      </a:r>
                    </a:p>
                  </a:txBody>
                  <a:tcPr marL="40000" marR="40000" marT="20000" marB="20000">
                    <a:solidFill>
                      <a:srgbClr val="EBF3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Poseidon в проде: ОТП, Т-Банк · Poseidon покрывает 80% поставщиков А3 · Запуск HH/Notification: Совкомбанк (HH) · A3 СМЭВ ХАБ: интеграция с Kili · 175 договоров с поставщиками · SaaS договоры: Т Банк, ГПБ, Альфа Банк</a:t>
                      </a:r>
                    </a:p>
                  </a:txBody>
                  <a:tcPr marL="40000" marR="40000" marT="20000" marB="20000">
                    <a:solidFill>
                      <a:srgbClr val="EBF3FE"/>
                    </a:solidFill>
                  </a:tcPr>
                </a:tc>
              </a:tr>
              <a:tr h="400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Q2 2026</a:t>
                      </a:r>
                    </a:p>
                  </a:txBody>
                  <a:tcPr marL="40000" marR="40000" marT="20000" marB="20000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HH/Notification: Т Банк, Яндекс, ГПБ, ВТБ · СМЭВ ХАБ: скидочная подписка, партнёры МПП/Росштрафы/ВТБ/Т Банк/ГПБ/Райф · 225 договоров с поставщиками</a:t>
                      </a:r>
                    </a:p>
                  </a:txBody>
                  <a:tcPr marL="40000" marR="40000" marT="20000" marB="20000">
                    <a:solidFill>
                      <a:srgbClr val="F5F7FA"/>
                    </a:solidFill>
                  </a:tcPr>
                </a:tc>
              </a:tr>
              <a:tr h="400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Q3 2026</a:t>
                      </a:r>
                    </a:p>
                  </a:txBody>
                  <a:tcPr marL="40000" marR="40000" marT="20000" marB="20000">
                    <a:solidFill>
                      <a:srgbClr val="EBF3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Расширение Poseidon · Масштабирование HH/Notification · Тестовая среда для партнёров · Переход на ВС 2.7.0 (ГИС ГМП) · 280 договоров с поставщиками</a:t>
                      </a:r>
                    </a:p>
                  </a:txBody>
                  <a:tcPr marL="40000" marR="40000" marT="20000" marB="20000">
                    <a:solidFill>
                      <a:srgbClr val="EBF3FE"/>
                    </a:solidFill>
                  </a:tcPr>
                </a:tc>
              </a:tr>
              <a:tr h="400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Q4 2026</a:t>
                      </a:r>
                    </a:p>
                  </a:txBody>
                  <a:tcPr marL="40000" marR="40000" marT="20000" marB="20000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Подготовка к налоговому периоду · Система автоматизированной сверки · Масштабирование по всем партнёрам · 305 договоров с поставщиками</a:t>
                      </a:r>
                    </a:p>
                  </a:txBody>
                  <a:tcPr marL="40000" marR="40000" marT="20000" marB="20000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7" name="Text Placeholder 6"/>
          <p:cNvSpPr>
            <a:spLocks noGrp="1"/>
          </p:cNvSpPr>
          <p:nvPr>
            <p:ph type="body" idx="15" sz="quarter"/>
          </p:nvPr>
        </p:nvSpPr>
        <p:spPr>
          <a:xfrm>
            <a:off x="442913" y="6384626"/>
            <a:ext cx="11198224" cy="260000"/>
          </a:xfrm>
        </p:spPr>
        <p:txBody>
          <a:bodyPr/>
          <a:lstStyle/>
          <a:p>
            <a:r>
              <a:t>A3 Presentation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913" y="671247"/>
            <a:ext cx="11198224" cy="849883"/>
          </a:xfr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800"/>
            </a:pPr>
            <a:r>
              <a:rPr sz="2800"/>
              <a:t>5.2 Нетранзакционные продукты (IC)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>
          <a:xfrm>
            <a:off x="442913" y="1701130"/>
            <a:ext cx="11198224" cy="429767"/>
          </a:xfrm>
        </p:spPr>
        <p:txBody>
          <a:bodyPr wrap="square">
            <a:no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  <a:defRPr sz="800"/>
            </a:pPr>
            <a:r>
              <a:rPr sz="1800"/>
              <a:t>Финансовые цели не транзакционного направления</a:t>
            </a:r>
          </a:p>
        </p:txBody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442914" y="2310897"/>
          <a:ext cx="11198224" cy="38937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7630"/>
                <a:gridCol w="1750115"/>
                <a:gridCol w="7250479"/>
              </a:tblGrid>
              <a:tr h="245427"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Направление</a:t>
                      </a:r>
                    </a:p>
                  </a:txBody>
                  <a:tcPr marL="40000" marR="40000" marT="20000" marB="20000">
                    <a:solidFill>
                      <a:srgbClr val="1D355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Квартал</a:t>
                      </a:r>
                    </a:p>
                  </a:txBody>
                  <a:tcPr marL="40000" marR="40000" marT="20000" marB="20000">
                    <a:solidFill>
                      <a:srgbClr val="1D355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Задачи</a:t>
                      </a:r>
                    </a:p>
                  </a:txBody>
                  <a:tcPr marL="40000" marR="40000" marT="20000" marB="20000">
                    <a:solidFill>
                      <a:srgbClr val="1D3557"/>
                    </a:solidFill>
                  </a:tcPr>
                </a:tc>
              </a:tr>
              <a:tr h="245427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081C4F"/>
                          </a:solidFill>
                        </a:rPr>
                        <a:t>Подписки</a:t>
                      </a:r>
                    </a:p>
                  </a:txBody>
                  <a:tcPr marL="40000" marR="40000" marT="20000" marB="20000">
                    <a:solidFill>
                      <a:srgbClr val="EBF3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081C4F"/>
                          </a:solidFill>
                        </a:rPr>
                        <a:t>Q1–Q2</a:t>
                      </a:r>
                    </a:p>
                  </a:txBody>
                  <a:tcPr marL="40000" marR="40000" marT="20000" marB="20000">
                    <a:solidFill>
                      <a:srgbClr val="EBF3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081C4F"/>
                          </a:solidFill>
                        </a:rPr>
                        <a:t>Мега Агрегатор ГИС ГМП (дискавери) · Шэринг подписок (СМЭВ) · Household ВТБ · Kili: перевод подписок Альфы</a:t>
                      </a:r>
                    </a:p>
                  </a:txBody>
                  <a:tcPr marL="40000" marR="40000" marT="20000" marB="20000">
                    <a:solidFill>
                      <a:srgbClr val="EBF3FE"/>
                    </a:solidFill>
                  </a:tcPr>
                </a:tc>
              </a:tr>
              <a:tr h="245427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081C4F"/>
                          </a:solidFill>
                        </a:rPr>
                        <a:t>Подписки</a:t>
                      </a:r>
                    </a:p>
                  </a:txBody>
                  <a:tcPr marL="40000" marR="40000" marT="20000" marB="20000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081C4F"/>
                          </a:solidFill>
                        </a:rPr>
                        <a:t>Q3</a:t>
                      </a:r>
                    </a:p>
                  </a:txBody>
                  <a:tcPr marL="40000" marR="40000" marT="20000" marB="20000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/>
                  </a:txBody>
                  <a:tcPr marL="40000" marR="40000" marT="20000" marB="20000">
                    <a:solidFill>
                      <a:srgbClr val="F5F7FA"/>
                    </a:solidFill>
                  </a:tcPr>
                </a:tc>
              </a:tr>
              <a:tr h="245427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081C4F"/>
                          </a:solidFill>
                        </a:rPr>
                        <a:t>Подписки</a:t>
                      </a:r>
                    </a:p>
                  </a:txBody>
                  <a:tcPr marL="40000" marR="40000" marT="20000" marB="20000">
                    <a:solidFill>
                      <a:srgbClr val="EBF3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081C4F"/>
                          </a:solidFill>
                        </a:rPr>
                        <a:t>Q4</a:t>
                      </a:r>
                    </a:p>
                  </a:txBody>
                  <a:tcPr marL="40000" marR="40000" marT="20000" marB="20000">
                    <a:solidFill>
                      <a:srgbClr val="EBF3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081C4F"/>
                          </a:solidFill>
                        </a:rPr>
                        <a:t>ГИС ЖКХ прямые подписки · +281 интеграций · Wildberries Банк · Синара HouseHold</a:t>
                      </a:r>
                    </a:p>
                  </a:txBody>
                  <a:tcPr marL="40000" marR="40000" marT="20000" marB="20000">
                    <a:solidFill>
                      <a:srgbClr val="EBF3FE"/>
                    </a:solidFill>
                  </a:tcPr>
                </a:tc>
              </a:tr>
              <a:tr h="245427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081C4F"/>
                          </a:solidFill>
                        </a:rPr>
                        <a:t>Новые доходы</a:t>
                      </a:r>
                    </a:p>
                  </a:txBody>
                  <a:tcPr marL="40000" marR="40000" marT="20000" marB="20000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081C4F"/>
                          </a:solidFill>
                        </a:rPr>
                        <a:t>Q1–Q2</a:t>
                      </a:r>
                    </a:p>
                  </a:txBody>
                  <a:tcPr marL="40000" marR="40000" marT="20000" marB="20000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081C4F"/>
                          </a:solidFill>
                        </a:rPr>
                        <a:t>Страховки при платеже (аналитика) · A3.Reports (поиск клиентов) · Счётчики — пилот с Альфой</a:t>
                      </a:r>
                    </a:p>
                  </a:txBody>
                  <a:tcPr marL="40000" marR="40000" marT="20000" marB="20000">
                    <a:solidFill>
                      <a:srgbClr val="F5F7FA"/>
                    </a:solidFill>
                  </a:tcPr>
                </a:tc>
              </a:tr>
              <a:tr h="245427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081C4F"/>
                          </a:solidFill>
                        </a:rPr>
                        <a:t>Новые доходы</a:t>
                      </a:r>
                    </a:p>
                  </a:txBody>
                  <a:tcPr marL="40000" marR="40000" marT="20000" marB="20000">
                    <a:solidFill>
                      <a:srgbClr val="EBF3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081C4F"/>
                          </a:solidFill>
                        </a:rPr>
                        <a:t>Q3</a:t>
                      </a:r>
                    </a:p>
                  </a:txBody>
                  <a:tcPr marL="40000" marR="40000" marT="20000" marB="20000">
                    <a:solidFill>
                      <a:srgbClr val="EBF3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081C4F"/>
                          </a:solidFill>
                        </a:rPr>
                        <a:t>Доставка инвойсов без подписки (после R&amp;D дискавери в Q2)</a:t>
                      </a:r>
                    </a:p>
                  </a:txBody>
                  <a:tcPr marL="40000" marR="40000" marT="20000" marB="20000">
                    <a:solidFill>
                      <a:srgbClr val="EBF3FE"/>
                    </a:solidFill>
                  </a:tcPr>
                </a:tc>
              </a:tr>
              <a:tr h="245427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081C4F"/>
                          </a:solidFill>
                        </a:rPr>
                        <a:t>Новые доходы</a:t>
                      </a:r>
                    </a:p>
                  </a:txBody>
                  <a:tcPr marL="40000" marR="40000" marT="20000" marB="20000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081C4F"/>
                          </a:solidFill>
                        </a:rPr>
                        <a:t>Q4</a:t>
                      </a:r>
                    </a:p>
                  </a:txBody>
                  <a:tcPr marL="40000" marR="40000" marT="20000" marB="20000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081C4F"/>
                          </a:solidFill>
                        </a:rPr>
                        <a:t>A3.Report v2 (асинхронное взаимодействие) · Счётчики ГИС ЖКХ (если готовы)</a:t>
                      </a:r>
                    </a:p>
                  </a:txBody>
                  <a:tcPr marL="40000" marR="40000" marT="20000" marB="20000">
                    <a:solidFill>
                      <a:srgbClr val="F5F7FA"/>
                    </a:solidFill>
                  </a:tcPr>
                </a:tc>
              </a:tr>
              <a:tr h="245427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081C4F"/>
                          </a:solidFill>
                        </a:rPr>
                        <a:t>Устойчивость</a:t>
                      </a:r>
                    </a:p>
                  </a:txBody>
                  <a:tcPr marL="40000" marR="40000" marT="20000" marB="20000">
                    <a:solidFill>
                      <a:srgbClr val="EBF3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081C4F"/>
                          </a:solidFill>
                        </a:rPr>
                        <a:t>Q1–Q2</a:t>
                      </a:r>
                    </a:p>
                  </a:txBody>
                  <a:tcPr marL="40000" marR="40000" marT="20000" marB="20000">
                    <a:solidFill>
                      <a:srgbClr val="EBF3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081C4F"/>
                          </a:solidFill>
                        </a:rPr>
                        <a:t>PA_Service (система доступов) · Система лимитов (апрель) · Биллинг MVP</a:t>
                      </a:r>
                    </a:p>
                  </a:txBody>
                  <a:tcPr marL="40000" marR="40000" marT="20000" marB="20000">
                    <a:solidFill>
                      <a:srgbClr val="EBF3FE"/>
                    </a:solidFill>
                  </a:tcPr>
                </a:tc>
              </a:tr>
              <a:tr h="245427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081C4F"/>
                          </a:solidFill>
                        </a:rPr>
                        <a:t>Устойчивость</a:t>
                      </a:r>
                    </a:p>
                  </a:txBody>
                  <a:tcPr marL="40000" marR="40000" marT="20000" marB="20000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081C4F"/>
                          </a:solidFill>
                        </a:rPr>
                        <a:t>Q3</a:t>
                      </a:r>
                    </a:p>
                  </a:txBody>
                  <a:tcPr marL="40000" marR="40000" marT="20000" marB="20000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/>
                  </a:txBody>
                  <a:tcPr marL="40000" marR="40000" marT="20000" marB="20000">
                    <a:solidFill>
                      <a:srgbClr val="F5F7FA"/>
                    </a:solidFill>
                  </a:tcPr>
                </a:tc>
              </a:tr>
              <a:tr h="245427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081C4F"/>
                          </a:solidFill>
                        </a:rPr>
                        <a:t>Устойчивость</a:t>
                      </a:r>
                    </a:p>
                  </a:txBody>
                  <a:tcPr marL="40000" marR="40000" marT="20000" marB="20000">
                    <a:solidFill>
                      <a:srgbClr val="EBF3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081C4F"/>
                          </a:solidFill>
                        </a:rPr>
                        <a:t>Q4</a:t>
                      </a:r>
                    </a:p>
                  </a:txBody>
                  <a:tcPr marL="40000" marR="40000" marT="20000" marB="20000">
                    <a:solidFill>
                      <a:srgbClr val="EBF3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081C4F"/>
                          </a:solidFill>
                        </a:rPr>
                        <a:t>Автоматизированная сверка подписок · Налоговый период</a:t>
                      </a:r>
                    </a:p>
                  </a:txBody>
                  <a:tcPr marL="40000" marR="40000" marT="20000" marB="20000">
                    <a:solidFill>
                      <a:srgbClr val="EBF3FE"/>
                    </a:solidFill>
                  </a:tcPr>
                </a:tc>
              </a:tr>
            </a:tbl>
          </a:graphicData>
        </a:graphic>
      </p:graphicFrame>
      <p:sp>
        <p:nvSpPr>
          <p:cNvPr id="7" name="Text Placeholder 6"/>
          <p:cNvSpPr>
            <a:spLocks noGrp="1"/>
          </p:cNvSpPr>
          <p:nvPr>
            <p:ph type="body" idx="15" sz="quarter"/>
          </p:nvPr>
        </p:nvSpPr>
        <p:spPr>
          <a:xfrm>
            <a:off x="442913" y="6384626"/>
            <a:ext cx="11198224" cy="260000"/>
          </a:xfrm>
        </p:spPr>
        <p:txBody>
          <a:bodyPr/>
          <a:lstStyle/>
          <a:p>
            <a:r>
              <a:t>A3 Presentation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913" y="671247"/>
            <a:ext cx="11198224" cy="849883"/>
          </a:xfr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800"/>
            </a:pPr>
            <a:r>
              <a:rPr sz="2800"/>
              <a:t>5.2 Нетранзакционные продукты (IC)</a:t>
            </a:r>
          </a:p>
        </p:txBody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442914" y="1701130"/>
          <a:ext cx="11198224" cy="4503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3499"/>
                <a:gridCol w="2613377"/>
                <a:gridCol w="6261348"/>
              </a:tblGrid>
              <a:tr h="3200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Квартал</a:t>
                      </a:r>
                    </a:p>
                  </a:txBody>
                  <a:tcPr marL="40000" marR="40000" marT="20000" marB="20000">
                    <a:solidFill>
                      <a:srgbClr val="1D355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Доход</a:t>
                      </a:r>
                    </a:p>
                  </a:txBody>
                  <a:tcPr marL="40000" marR="40000" marT="20000" marB="20000">
                    <a:solidFill>
                      <a:srgbClr val="1D355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Нарастающий итог</a:t>
                      </a:r>
                    </a:p>
                  </a:txBody>
                  <a:tcPr marL="40000" marR="40000" marT="20000" marB="20000">
                    <a:solidFill>
                      <a:srgbClr val="1D3557"/>
                    </a:solidFill>
                  </a:tcPr>
                </a:tc>
              </a:tr>
              <a:tr h="320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Q1 2026</a:t>
                      </a:r>
                    </a:p>
                  </a:txBody>
                  <a:tcPr marL="40000" marR="40000" marT="20000" marB="20000">
                    <a:solidFill>
                      <a:srgbClr val="EBF3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104.3 млн ₽</a:t>
                      </a:r>
                    </a:p>
                  </a:txBody>
                  <a:tcPr marL="40000" marR="40000" marT="20000" marB="20000">
                    <a:solidFill>
                      <a:srgbClr val="EBF3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104.3 млн ₽</a:t>
                      </a:r>
                    </a:p>
                  </a:txBody>
                  <a:tcPr marL="40000" marR="40000" marT="20000" marB="20000">
                    <a:solidFill>
                      <a:srgbClr val="EBF3FE"/>
                    </a:solidFill>
                  </a:tcPr>
                </a:tc>
              </a:tr>
              <a:tr h="320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Q2 2026</a:t>
                      </a:r>
                    </a:p>
                  </a:txBody>
                  <a:tcPr marL="40000" marR="40000" marT="20000" marB="20000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111.3 млн ₽</a:t>
                      </a:r>
                    </a:p>
                  </a:txBody>
                  <a:tcPr marL="40000" marR="40000" marT="20000" marB="20000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215.6 млн ₽</a:t>
                      </a:r>
                    </a:p>
                  </a:txBody>
                  <a:tcPr marL="40000" marR="40000" marT="20000" marB="20000">
                    <a:solidFill>
                      <a:srgbClr val="F5F7FA"/>
                    </a:solidFill>
                  </a:tcPr>
                </a:tc>
              </a:tr>
              <a:tr h="320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Q3 2026</a:t>
                      </a:r>
                    </a:p>
                  </a:txBody>
                  <a:tcPr marL="40000" marR="40000" marT="20000" marB="20000">
                    <a:solidFill>
                      <a:srgbClr val="EBF3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119.0 млн ₽</a:t>
                      </a:r>
                    </a:p>
                  </a:txBody>
                  <a:tcPr marL="40000" marR="40000" marT="20000" marB="20000">
                    <a:solidFill>
                      <a:srgbClr val="EBF3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334.6 млн ₽</a:t>
                      </a:r>
                    </a:p>
                  </a:txBody>
                  <a:tcPr marL="40000" marR="40000" marT="20000" marB="20000">
                    <a:solidFill>
                      <a:srgbClr val="EBF3FE"/>
                    </a:solidFill>
                  </a:tcPr>
                </a:tc>
              </a:tr>
              <a:tr h="320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Q4 2026</a:t>
                      </a:r>
                    </a:p>
                  </a:txBody>
                  <a:tcPr marL="40000" marR="40000" marT="20000" marB="20000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135.7 млн ₽</a:t>
                      </a:r>
                    </a:p>
                  </a:txBody>
                  <a:tcPr marL="40000" marR="40000" marT="20000" marB="20000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470.3 млн ₽</a:t>
                      </a:r>
                    </a:p>
                  </a:txBody>
                  <a:tcPr marL="40000" marR="40000" marT="20000" marB="20000">
                    <a:solidFill>
                      <a:srgbClr val="F5F7FA"/>
                    </a:solidFill>
                  </a:tcPr>
                </a:tc>
              </a:tr>
              <a:tr h="320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Итого 2026</a:t>
                      </a:r>
                    </a:p>
                  </a:txBody>
                  <a:tcPr marL="40000" marR="40000" marT="20000" marB="20000">
                    <a:solidFill>
                      <a:srgbClr val="EBF3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470.3 млн ₽</a:t>
                      </a:r>
                    </a:p>
                  </a:txBody>
                  <a:tcPr marL="40000" marR="40000" marT="20000" marB="20000">
                    <a:solidFill>
                      <a:srgbClr val="EBF3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80% законтрактовано (376.2 млн ₽)</a:t>
                      </a:r>
                    </a:p>
                  </a:txBody>
                  <a:tcPr marL="40000" marR="40000" marT="20000" marB="20000">
                    <a:solidFill>
                      <a:srgbClr val="EBF3FE"/>
                    </a:solidFill>
                  </a:tcPr>
                </a:tc>
              </a:tr>
              <a:tr h="320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Цель 2030</a:t>
                      </a:r>
                    </a:p>
                  </a:txBody>
                  <a:tcPr marL="40000" marR="40000" marT="20000" marB="20000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~3 000 млн ₽</a:t>
                      </a:r>
                    </a:p>
                  </a:txBody>
                  <a:tcPr marL="40000" marR="40000" marT="20000" marB="20000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Органический рост (45%) + регуляторный буст</a:t>
                      </a:r>
                    </a:p>
                  </a:txBody>
                  <a:tcPr marL="40000" marR="40000" marT="20000" marB="20000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7" name="Text Placeholder 6"/>
          <p:cNvSpPr>
            <a:spLocks noGrp="1"/>
          </p:cNvSpPr>
          <p:nvPr>
            <p:ph type="body" idx="15" sz="quarter"/>
          </p:nvPr>
        </p:nvSpPr>
        <p:spPr>
          <a:xfrm>
            <a:off x="442913" y="6384626"/>
            <a:ext cx="11198224" cy="260000"/>
          </a:xfrm>
        </p:spPr>
        <p:txBody>
          <a:bodyPr/>
          <a:lstStyle/>
          <a:p>
            <a:r>
              <a:t>A3 Presentation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913" y="671247"/>
            <a:ext cx="11198224" cy="849883"/>
          </a:xfr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600"/>
            </a:pPr>
            <a:r>
              <a:rPr sz="2800"/>
              <a:t>5.3 R&amp;D новые продукты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>
          <a:xfrm>
            <a:off x="442913" y="1821130"/>
            <a:ext cx="11198224" cy="4383496"/>
          </a:xfrm>
        </p:spPr>
        <p:txBody>
          <a:bodyPr wrap="square">
            <a:norm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500"/>
            </a:pPr>
            <a:r>
              <a:rPr sz="1500"/>
              <a:t>Цель: построить системный пайплайн проверки гипотез и новых продуктов для роста выручки и диверсификации бизнеса А3.</a:t>
            </a:r>
          </a:p>
          <a:p>
            <a:pPr marL="400000" indent="-200000">
              <a:lnSpc>
                <a:spcPct val="105000"/>
              </a:lnSpc>
              <a:spcAft>
                <a:spcPts val="500"/>
              </a:spcAft>
              <a:buChar char="•"/>
              <a:defRPr sz="1500"/>
            </a:pPr>
            <a:r>
              <a:rPr sz="1500"/>
              <a:t>Процесс Double Diamond запущен, первые инициативы в работе: МФО в процессе оплаты ЖКУ, A3.pay (account2account платежи), сбор задолженностей ЖКУ.</a:t>
            </a:r>
          </a:p>
          <a:p>
            <a:pPr marL="400000" indent="-200000">
              <a:lnSpc>
                <a:spcPct val="105000"/>
              </a:lnSpc>
              <a:spcAft>
                <a:spcPts val="500"/>
              </a:spcAft>
              <a:buChar char="•"/>
              <a:defRPr sz="1500"/>
            </a:pPr>
            <a:r>
              <a:rPr sz="1500"/>
              <a:t>Банк идей = единый бэклог, синхронизирован с Jira</a:t>
            </a:r>
          </a:p>
          <a:p>
            <a:pPr marL="400000" indent="-200000">
              <a:lnSpc>
                <a:spcPct val="105000"/>
              </a:lnSpc>
              <a:spcAft>
                <a:spcPts val="500"/>
              </a:spcAft>
              <a:buChar char="•"/>
              <a:defRPr sz="1500"/>
            </a:pPr>
            <a:r>
              <a:rPr sz="1500"/>
              <a:t>ICE-приоритизация со стейкхолдерами раз в 2 недели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442913" y="6384626"/>
            <a:ext cx="11198224" cy="260000"/>
          </a:xfrm>
        </p:spPr>
        <p:txBody>
          <a:bodyPr/>
          <a:lstStyle/>
          <a:p>
            <a:r>
              <a:t>A3 Presentation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913" y="671247"/>
            <a:ext cx="11198224" cy="849883"/>
          </a:xfr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600"/>
            </a:pPr>
            <a:r>
              <a:rPr sz="2800"/>
              <a:t>5.3 R&amp;D новые продукты (2)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>
          <a:xfrm>
            <a:off x="442913" y="1821130"/>
            <a:ext cx="11198224" cy="4383496"/>
          </a:xfrm>
        </p:spPr>
        <p:txBody>
          <a:bodyPr wrap="square">
            <a:normAutofit/>
          </a:bodyPr>
          <a:lstStyle/>
          <a:p>
            <a:pPr marL="400000" indent="-200000">
              <a:lnSpc>
                <a:spcPct val="105000"/>
              </a:lnSpc>
              <a:spcAft>
                <a:spcPts val="500"/>
              </a:spcAft>
              <a:buChar char="•"/>
              <a:defRPr sz="1400"/>
            </a:pPr>
            <a:r>
              <a:rPr sz="1400"/>
              <a:t>Юнит-экономика: по поставщикам/интеграциям, по партнёрам, по продуктовым направлениям</a:t>
            </a:r>
          </a:p>
          <a:p>
            <a:pPr marL="400000" indent="-200000">
              <a:lnSpc>
                <a:spcPct val="105000"/>
              </a:lnSpc>
              <a:spcAft>
                <a:spcPts val="500"/>
              </a:spcAft>
              <a:buChar char="•"/>
              <a:defRPr sz="1400"/>
            </a:pPr>
            <a:r>
              <a:rPr sz="1400"/>
              <a:t>Инициатива: Инфраструктура цифрового рубля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400"/>
            </a:pPr>
            <a:r>
              <a:rPr sz="1400"/>
              <a:t>Q2 2026 (Discovery): • Анализ архитектуры платформы цифрового рубля ЦБ • Определение роли А3: оператор расчетов через РНКО? Шлюз между цифровым рублём и ЖКХ-платежами? • Встречи с ЦБ и банками-партнерами</a:t>
            </a:r>
          </a:p>
          <a:p>
            <a:pPr marL="400000" indent="-200000">
              <a:lnSpc>
                <a:spcPct val="105000"/>
              </a:lnSpc>
              <a:spcAft>
                <a:spcPts val="500"/>
              </a:spcAft>
              <a:buChar char="•"/>
              <a:defRPr sz="1400"/>
            </a:pPr>
            <a:r>
              <a:rPr sz="1400"/>
              <a:t>Q3 2026 (Proof of Concept):</a:t>
            </a:r>
            <a:br/>
            <a:r>
              <a:rPr sz="1400"/>
              <a:t>• Техническое прототипирование с командой Payments</a:t>
            </a:r>
          </a:p>
          <a:p>
            <a:pPr marL="400000" indent="-200000">
              <a:lnSpc>
                <a:spcPct val="105000"/>
              </a:lnSpc>
              <a:spcAft>
                <a:spcPts val="500"/>
              </a:spcAft>
              <a:buChar char="•"/>
              <a:defRPr sz="1400"/>
            </a:pPr>
            <a:r>
              <a:rPr sz="1400"/>
              <a:t>Q4 2026 — Пилот:</a:t>
            </a:r>
            <a:br/>
            <a:r>
              <a:rPr sz="1400"/>
              <a:t>• Пилотный запуск с ограниченным объемом</a:t>
            </a:r>
            <a:br/>
            <a:r>
              <a:rPr sz="1400"/>
              <a:t>• Тестирование с 1 банком-партнером</a:t>
            </a:r>
            <a:br/>
            <a:r>
              <a:rPr sz="1400"/>
              <a:t>• Оценка unit-экономики и масштабируемости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442913" y="6384626"/>
            <a:ext cx="11198224" cy="260000"/>
          </a:xfrm>
        </p:spPr>
        <p:txBody>
          <a:bodyPr/>
          <a:lstStyle/>
          <a:p>
            <a:r>
              <a:t>A3 Presentation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913" y="671247"/>
            <a:ext cx="11198224" cy="849883"/>
          </a:xfr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800"/>
            </a:pPr>
            <a:r>
              <a:rPr sz="2800"/>
              <a:t>6. Устойчивость и инфраструктура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>
          <a:xfrm>
            <a:off x="442913" y="1701130"/>
            <a:ext cx="11198224" cy="429767"/>
          </a:xfrm>
        </p:spPr>
        <p:txBody>
          <a:bodyPr wrap="square">
            <a:no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  <a:defRPr sz="800"/>
            </a:pPr>
            <a:r>
              <a:rPr sz="1800"/>
              <a:t>6.1 РНКО — получение лицензии</a:t>
            </a:r>
          </a:p>
        </p:txBody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442914" y="2310897"/>
          <a:ext cx="11198224" cy="38937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03254"/>
                <a:gridCol w="6494970"/>
              </a:tblGrid>
              <a:tr h="272697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Этап</a:t>
                      </a:r>
                    </a:p>
                  </a:txBody>
                  <a:tcPr marL="40000" marR="40000" marT="20000" marB="20000">
                    <a:solidFill>
                      <a:srgbClr val="1D355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Срок / статус</a:t>
                      </a:r>
                    </a:p>
                  </a:txBody>
                  <a:tcPr marL="40000" marR="40000" marT="20000" marB="20000">
                    <a:solidFill>
                      <a:srgbClr val="1D3557"/>
                    </a:solidFill>
                  </a:tcPr>
                </a:tc>
              </a:tr>
              <a:tr h="272697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Регистрация и активация ЛК в ЦБ РФ</a:t>
                      </a:r>
                    </a:p>
                  </a:txBody>
                  <a:tcPr marL="40000" marR="40000" marT="20000" marB="20000">
                    <a:solidFill>
                      <a:srgbClr val="EBF3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Q1 2026 — выполнено</a:t>
                      </a:r>
                    </a:p>
                  </a:txBody>
                  <a:tcPr marL="40000" marR="40000" marT="20000" marB="20000">
                    <a:solidFill>
                      <a:srgbClr val="EBF3FE"/>
                    </a:solidFill>
                  </a:tcPr>
                </a:tc>
              </a:tr>
              <a:tr h="272697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Согласование наименования РНКО</a:t>
                      </a:r>
                    </a:p>
                  </a:txBody>
                  <a:tcPr marL="40000" marR="40000" marT="20000" marB="20000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Q1 2026</a:t>
                      </a:r>
                    </a:p>
                  </a:txBody>
                  <a:tcPr marL="40000" marR="40000" marT="20000" marB="20000">
                    <a:solidFill>
                      <a:srgbClr val="F5F7FA"/>
                    </a:solidFill>
                  </a:tcPr>
                </a:tc>
              </a:tr>
              <a:tr h="272697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Подготовка документов, Совет директоров</a:t>
                      </a:r>
                    </a:p>
                  </a:txBody>
                  <a:tcPr marL="40000" marR="40000" marT="20000" marB="20000">
                    <a:solidFill>
                      <a:srgbClr val="EBF3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Февраль 2026</a:t>
                      </a:r>
                    </a:p>
                  </a:txBody>
                  <a:tcPr marL="40000" marR="40000" marT="20000" marB="20000">
                    <a:solidFill>
                      <a:srgbClr val="EBF3FE"/>
                    </a:solidFill>
                  </a:tcPr>
                </a:tc>
              </a:tr>
              <a:tr h="272697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Подача документов в ЦБ</a:t>
                      </a:r>
                    </a:p>
                  </a:txBody>
                  <a:tcPr marL="40000" marR="40000" marT="20000" marB="20000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18.02.2026</a:t>
                      </a:r>
                    </a:p>
                  </a:txBody>
                  <a:tcPr marL="40000" marR="40000" marT="20000" marB="20000">
                    <a:solidFill>
                      <a:srgbClr val="F5F7FA"/>
                    </a:solidFill>
                  </a:tcPr>
                </a:tc>
              </a:tr>
              <a:tr h="272697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Регистрация юридического лица РНКО</a:t>
                      </a:r>
                    </a:p>
                  </a:txBody>
                  <a:tcPr marL="40000" marR="40000" marT="20000" marB="20000">
                    <a:solidFill>
                      <a:srgbClr val="EBF3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Q2 2026</a:t>
                      </a:r>
                    </a:p>
                  </a:txBody>
                  <a:tcPr marL="40000" marR="40000" marT="20000" marB="20000">
                    <a:solidFill>
                      <a:srgbClr val="EBF3FE"/>
                    </a:solidFill>
                  </a:tcPr>
                </a:tc>
              </a:tr>
              <a:tr h="272697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Получение лицензии ЦБ</a:t>
                      </a:r>
                    </a:p>
                  </a:txBody>
                  <a:tcPr marL="40000" marR="40000" marT="20000" marB="20000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Q2 2026</a:t>
                      </a:r>
                    </a:p>
                  </a:txBody>
                  <a:tcPr marL="40000" marR="40000" marT="20000" marB="20000">
                    <a:solidFill>
                      <a:srgbClr val="F5F7FA"/>
                    </a:solidFill>
                  </a:tcPr>
                </a:tc>
              </a:tr>
              <a:tr h="272697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Открытие корреспондентского счета</a:t>
                      </a:r>
                    </a:p>
                  </a:txBody>
                  <a:tcPr marL="40000" marR="40000" marT="20000" marB="20000">
                    <a:solidFill>
                      <a:srgbClr val="EBF3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Q3 2026</a:t>
                      </a:r>
                    </a:p>
                  </a:txBody>
                  <a:tcPr marL="40000" marR="40000" marT="20000" marB="20000">
                    <a:solidFill>
                      <a:srgbClr val="EBF3FE"/>
                    </a:solidFill>
                  </a:tcPr>
                </a:tc>
              </a:tr>
              <a:tr h="272697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Запуск операций с первым партнёром</a:t>
                      </a:r>
                    </a:p>
                  </a:txBody>
                  <a:tcPr marL="40000" marR="40000" marT="20000" marB="20000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Q4 2026</a:t>
                      </a:r>
                    </a:p>
                  </a:txBody>
                  <a:tcPr marL="40000" marR="40000" marT="20000" marB="20000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7" name="Text Placeholder 6"/>
          <p:cNvSpPr>
            <a:spLocks noGrp="1"/>
          </p:cNvSpPr>
          <p:nvPr>
            <p:ph type="body" idx="15" sz="quarter"/>
          </p:nvPr>
        </p:nvSpPr>
        <p:spPr>
          <a:xfrm>
            <a:off x="442913" y="6384626"/>
            <a:ext cx="11198224" cy="260000"/>
          </a:xfrm>
        </p:spPr>
        <p:txBody>
          <a:bodyPr/>
          <a:lstStyle/>
          <a:p>
            <a:r>
              <a:t>A3 Presentation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913" y="671247"/>
            <a:ext cx="11198224" cy="849883"/>
          </a:xfr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600"/>
            </a:pPr>
            <a:r>
              <a:rPr sz="2800"/>
              <a:t>Q1 2026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>
          <a:xfrm>
            <a:off x="442913" y="1821130"/>
            <a:ext cx="11198224" cy="4383496"/>
          </a:xfrm>
        </p:spPr>
        <p:txBody>
          <a:bodyPr wrap="square">
            <a:normAutofit/>
          </a:bodyPr>
          <a:lstStyle/>
          <a:p>
            <a:pPr marL="400000" indent="-200000">
              <a:lnSpc>
                <a:spcPct val="105000"/>
              </a:lnSpc>
              <a:spcAft>
                <a:spcPts val="500"/>
              </a:spcAft>
              <a:buChar char="•"/>
              <a:defRPr sz="1500"/>
            </a:pPr>
            <a:r>
              <a:rPr sz="1500"/>
              <a:t>Подписание контракта с РТКом на 2-й ЦОД</a:t>
            </a:r>
          </a:p>
          <a:p>
            <a:pPr marL="400000" indent="-200000">
              <a:lnSpc>
                <a:spcPct val="105000"/>
              </a:lnSpc>
              <a:spcAft>
                <a:spcPts val="500"/>
              </a:spcAft>
              <a:buChar char="•"/>
              <a:defRPr sz="1500"/>
            </a:pPr>
            <a:r>
              <a:rPr sz="1500"/>
              <a:t>Подписание контракта с ЯндексОблаком</a:t>
            </a:r>
          </a:p>
          <a:p>
            <a:pPr marL="400000" indent="-200000">
              <a:lnSpc>
                <a:spcPct val="105000"/>
              </a:lnSpc>
              <a:spcAft>
                <a:spcPts val="500"/>
              </a:spcAft>
              <a:buChar char="•"/>
              <a:defRPr sz="1500"/>
            </a:pPr>
            <a:r>
              <a:rPr sz="1500"/>
              <a:t>Сетевая коммутация между ЦОДами и ЯндексОблаком</a:t>
            </a:r>
          </a:p>
          <a:p>
            <a:pPr marL="400000" indent="-200000">
              <a:lnSpc>
                <a:spcPct val="105000"/>
              </a:lnSpc>
              <a:spcAft>
                <a:spcPts val="500"/>
              </a:spcAft>
              <a:buChar char="•"/>
              <a:defRPr sz="1500"/>
            </a:pPr>
            <a:r>
              <a:rPr sz="1500"/>
              <a:t>Монтаж оборудования во 2-м ЦОДе</a:t>
            </a:r>
          </a:p>
          <a:p>
            <a:pPr marL="400000" indent="-200000">
              <a:lnSpc>
                <a:spcPct val="105000"/>
              </a:lnSpc>
              <a:spcAft>
                <a:spcPts val="500"/>
              </a:spcAft>
              <a:buChar char="•"/>
              <a:defRPr sz="1500"/>
            </a:pPr>
            <a:r>
              <a:rPr sz="1500"/>
              <a:t>Запуск Poseidon в ЯндексОблаке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442913" y="6384626"/>
            <a:ext cx="11198224" cy="260000"/>
          </a:xfrm>
        </p:spPr>
        <p:txBody>
          <a:bodyPr/>
          <a:lstStyle/>
          <a:p>
            <a:r>
              <a:t>A3 Presentation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913" y="671247"/>
            <a:ext cx="11198224" cy="849883"/>
          </a:xfr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600"/>
            </a:pPr>
            <a:r>
              <a:rPr sz="2800"/>
              <a:t>Q2 2026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>
          <a:xfrm>
            <a:off x="442913" y="1821130"/>
            <a:ext cx="11198224" cy="4383496"/>
          </a:xfrm>
        </p:spPr>
        <p:txBody>
          <a:bodyPr wrap="square">
            <a:normAutofit/>
          </a:bodyPr>
          <a:lstStyle/>
          <a:p>
            <a:pPr marL="400000" indent="-200000">
              <a:lnSpc>
                <a:spcPct val="105000"/>
              </a:lnSpc>
              <a:spcAft>
                <a:spcPts val="500"/>
              </a:spcAft>
              <a:buChar char="•"/>
              <a:defRPr sz="1200"/>
            </a:pPr>
            <a:r>
              <a:rPr sz="1200"/>
              <a:t>Перевод всех партнеров на автономный режим работы</a:t>
            </a:r>
          </a:p>
          <a:p>
            <a:pPr marL="400000" indent="-200000">
              <a:lnSpc>
                <a:spcPct val="105000"/>
              </a:lnSpc>
              <a:spcAft>
                <a:spcPts val="500"/>
              </a:spcAft>
              <a:buChar char="•"/>
              <a:defRPr sz="1200"/>
            </a:pPr>
            <a:r>
              <a:rPr sz="1200"/>
              <a:t>Перенастройка сетей</a:t>
            </a:r>
          </a:p>
          <a:p>
            <a:pPr marL="400000" indent="-200000">
              <a:lnSpc>
                <a:spcPct val="105000"/>
              </a:lnSpc>
              <a:spcAft>
                <a:spcPts val="500"/>
              </a:spcAft>
              <a:buChar char="•"/>
              <a:defRPr sz="1200"/>
            </a:pPr>
            <a:r>
              <a:rPr sz="1200"/>
              <a:t>Выделение серверов под реплики БД</a:t>
            </a:r>
          </a:p>
          <a:p>
            <a:pPr marL="400000" indent="-200000">
              <a:lnSpc>
                <a:spcPct val="105000"/>
              </a:lnSpc>
              <a:spcAft>
                <a:spcPts val="500"/>
              </a:spcAft>
              <a:buChar char="•"/>
              <a:defRPr sz="1200"/>
            </a:pPr>
            <a:r>
              <a:rPr sz="1200"/>
              <a:t>k8s pci</a:t>
            </a:r>
          </a:p>
          <a:p>
            <a:pPr marL="400000" indent="-200000">
              <a:lnSpc>
                <a:spcPct val="105000"/>
              </a:lnSpc>
              <a:spcAft>
                <a:spcPts val="500"/>
              </a:spcAft>
              <a:buChar char="•"/>
              <a:defRPr sz="1200"/>
            </a:pPr>
            <a:r>
              <a:rPr sz="1200"/>
              <a:t>k8s invoice</a:t>
            </a:r>
          </a:p>
          <a:p>
            <a:pPr marL="400000" indent="-200000">
              <a:lnSpc>
                <a:spcPct val="105000"/>
              </a:lnSpc>
              <a:spcAft>
                <a:spcPts val="500"/>
              </a:spcAft>
              <a:buChar char="•"/>
              <a:defRPr sz="1200"/>
            </a:pPr>
            <a:r>
              <a:rPr sz="1200"/>
              <a:t>Перенос hadoop</a:t>
            </a:r>
          </a:p>
          <a:p>
            <a:pPr marL="400000" indent="-200000">
              <a:lnSpc>
                <a:spcPct val="105000"/>
              </a:lnSpc>
              <a:spcAft>
                <a:spcPts val="500"/>
              </a:spcAft>
              <a:buChar char="•"/>
              <a:defRPr sz="1200"/>
            </a:pPr>
            <a:r>
              <a:rPr sz="1200"/>
              <a:t>Решение проблемы с кросс-цодовой генерацией id транзакции</a:t>
            </a:r>
          </a:p>
          <a:p>
            <a:pPr marL="400000" indent="-200000">
              <a:lnSpc>
                <a:spcPct val="105000"/>
              </a:lnSpc>
              <a:spcAft>
                <a:spcPts val="500"/>
              </a:spcAft>
              <a:buChar char="•"/>
              <a:defRPr sz="1200"/>
            </a:pPr>
            <a:r>
              <a:rPr sz="1200"/>
              <a:t>Перевод всех партнеров на автономку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442913" y="6384626"/>
            <a:ext cx="11198224" cy="260000"/>
          </a:xfrm>
        </p:spPr>
        <p:txBody>
          <a:bodyPr/>
          <a:lstStyle/>
          <a:p>
            <a:r>
              <a:t>A3 Presentation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913" y="671247"/>
            <a:ext cx="11198224" cy="849883"/>
          </a:xfr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800"/>
            </a:pPr>
            <a:r>
              <a:rPr sz="2800"/>
              <a:t>6.3 SaaS-перевод и снижение НДС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>
          <a:xfrm>
            <a:off x="442913" y="1701130"/>
            <a:ext cx="11198224" cy="429767"/>
          </a:xfrm>
        </p:spPr>
        <p:txBody>
          <a:bodyPr wrap="square">
            <a:no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  <a:defRPr sz="800"/>
            </a:pPr>
            <a:r>
              <a:rPr sz="1800"/>
              <a:t>Цель: НДС от общей выручки не превышает 10%.</a:t>
            </a:r>
          </a:p>
        </p:txBody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442914" y="2310897"/>
          <a:ext cx="11198224" cy="38937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83606"/>
                <a:gridCol w="6614618"/>
              </a:tblGrid>
              <a:tr h="3200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Партнер</a:t>
                      </a:r>
                    </a:p>
                  </a:txBody>
                  <a:tcPr marL="60000" marR="60000" marT="30000" marB="30000">
                    <a:solidFill>
                      <a:srgbClr val="1D355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Статус</a:t>
                      </a:r>
                    </a:p>
                  </a:txBody>
                  <a:tcPr marL="60000" marR="60000" marT="30000" marB="30000">
                    <a:solidFill>
                      <a:srgbClr val="1D3557"/>
                    </a:solidFill>
                  </a:tcPr>
                </a:tc>
              </a:tr>
              <a:tr h="32000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81C4F"/>
                          </a:solidFill>
                        </a:rPr>
                        <a:t>Альфа-Банк</a:t>
                      </a:r>
                    </a:p>
                  </a:txBody>
                  <a:tcPr marL="60000" marR="60000" marT="30000" marB="30000">
                    <a:solidFill>
                      <a:srgbClr val="EBF3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81C4F"/>
                          </a:solidFill>
                        </a:rPr>
                        <a:t>Договор SaaS подписан · ДС на перевод комиссии</a:t>
                      </a:r>
                    </a:p>
                  </a:txBody>
                  <a:tcPr marL="60000" marR="60000" marT="30000" marB="30000">
                    <a:solidFill>
                      <a:srgbClr val="EBF3FE"/>
                    </a:solidFill>
                  </a:tcPr>
                </a:tc>
              </a:tr>
              <a:tr h="32000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81C4F"/>
                          </a:solidFill>
                        </a:rPr>
                        <a:t>Т Банк</a:t>
                      </a:r>
                    </a:p>
                  </a:txBody>
                  <a:tcPr marL="60000" marR="60000" marT="30000" marB="30000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81C4F"/>
                          </a:solidFill>
                        </a:rPr>
                        <a:t>Договор SaaS · ДС на перевод комиссии</a:t>
                      </a:r>
                    </a:p>
                  </a:txBody>
                  <a:tcPr marL="60000" marR="60000" marT="30000" marB="30000">
                    <a:solidFill>
                      <a:srgbClr val="F5F7FA"/>
                    </a:solidFill>
                  </a:tcPr>
                </a:tc>
              </a:tr>
              <a:tr h="32000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81C4F"/>
                          </a:solidFill>
                        </a:rPr>
                        <a:t>ГПБ</a:t>
                      </a:r>
                    </a:p>
                  </a:txBody>
                  <a:tcPr marL="60000" marR="60000" marT="30000" marB="30000">
                    <a:solidFill>
                      <a:srgbClr val="EBF3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81C4F"/>
                          </a:solidFill>
                        </a:rPr>
                        <a:t>Договор SaaS · ДС на перевод комиссии</a:t>
                      </a:r>
                    </a:p>
                  </a:txBody>
                  <a:tcPr marL="60000" marR="60000" marT="30000" marB="30000">
                    <a:solidFill>
                      <a:srgbClr val="EBF3FE"/>
                    </a:solidFill>
                  </a:tcPr>
                </a:tc>
              </a:tr>
              <a:tr h="32000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81C4F"/>
                          </a:solidFill>
                        </a:rPr>
                        <a:t>Райффайзенбанк</a:t>
                      </a:r>
                    </a:p>
                  </a:txBody>
                  <a:tcPr marL="60000" marR="60000" marT="30000" marB="30000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81C4F"/>
                          </a:solidFill>
                        </a:rPr>
                        <a:t>ДС на перевод комиссии</a:t>
                      </a:r>
                    </a:p>
                  </a:txBody>
                  <a:tcPr marL="60000" marR="60000" marT="30000" marB="30000">
                    <a:solidFill>
                      <a:srgbClr val="F5F7FA"/>
                    </a:solidFill>
                  </a:tcPr>
                </a:tc>
              </a:tr>
              <a:tr h="32000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81C4F"/>
                          </a:solidFill>
                        </a:rPr>
                        <a:t>Яндекс</a:t>
                      </a:r>
                    </a:p>
                  </a:txBody>
                  <a:tcPr marL="60000" marR="60000" marT="30000" marB="30000">
                    <a:solidFill>
                      <a:srgbClr val="EBF3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81C4F"/>
                          </a:solidFill>
                        </a:rPr>
                        <a:t>ДС на перевод комиссии</a:t>
                      </a:r>
                    </a:p>
                  </a:txBody>
                  <a:tcPr marL="60000" marR="60000" marT="30000" marB="30000">
                    <a:solidFill>
                      <a:srgbClr val="EBF3FE"/>
                    </a:solidFill>
                  </a:tcPr>
                </a:tc>
              </a:tr>
              <a:tr h="32000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81C4F"/>
                          </a:solidFill>
                        </a:rPr>
                        <a:t>Создание продукта (робота) на А3 Лаб по формированию п/п для АБС РНКО</a:t>
                      </a:r>
                    </a:p>
                  </a:txBody>
                  <a:tcPr marL="60000" marR="60000" marT="30000" marB="30000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81C4F"/>
                          </a:solidFill>
                        </a:rPr>
                        <a:t>Q4 2026</a:t>
                      </a:r>
                    </a:p>
                  </a:txBody>
                  <a:tcPr marL="60000" marR="60000" marT="30000" marB="30000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7" name="Text Placeholder 6"/>
          <p:cNvSpPr>
            <a:spLocks noGrp="1"/>
          </p:cNvSpPr>
          <p:nvPr>
            <p:ph type="body" idx="15" sz="quarter"/>
          </p:nvPr>
        </p:nvSpPr>
        <p:spPr>
          <a:xfrm>
            <a:off x="442913" y="6384626"/>
            <a:ext cx="11198224" cy="260000"/>
          </a:xfrm>
        </p:spPr>
        <p:txBody>
          <a:bodyPr/>
          <a:lstStyle/>
          <a:p>
            <a:r>
              <a:t>A3 Presentation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913" y="671247"/>
            <a:ext cx="11198224" cy="849883"/>
          </a:xfr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600"/>
            </a:pPr>
            <a:r>
              <a:rPr sz="2800"/>
              <a:t>6.4 Аналитика и автоматизация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>
          <a:xfrm>
            <a:off x="442913" y="1821130"/>
            <a:ext cx="11198224" cy="4383496"/>
          </a:xfrm>
        </p:spPr>
        <p:txBody>
          <a:bodyPr wrap="square">
            <a:normAutofit/>
          </a:bodyPr>
          <a:lstStyle/>
          <a:p>
            <a:pPr marL="400000" indent="-200000">
              <a:lnSpc>
                <a:spcPct val="105000"/>
              </a:lnSpc>
              <a:spcAft>
                <a:spcPts val="500"/>
              </a:spcAft>
              <a:buChar char="•"/>
              <a:defRPr sz="1500"/>
            </a:pPr>
            <a:r>
              <a:rPr sz="1500"/>
              <a:t>ClickHouse: аналитическая БД — архитектура создана и тестируется в Q1-Q2</a:t>
            </a:r>
          </a:p>
          <a:p>
            <a:pPr marL="400000" indent="-200000">
              <a:lnSpc>
                <a:spcPct val="105000"/>
              </a:lnSpc>
              <a:spcAft>
                <a:spcPts val="500"/>
              </a:spcAft>
              <a:buChar char="•"/>
              <a:defRPr sz="1500"/>
            </a:pPr>
            <a:r>
              <a:rPr sz="1500"/>
              <a:t>Онбординг поставщика: снижение трудозатрат на 25% vs 2025</a:t>
            </a:r>
          </a:p>
          <a:p>
            <a:pPr marL="400000" indent="-200000">
              <a:lnSpc>
                <a:spcPct val="105000"/>
              </a:lnSpc>
              <a:spcAft>
                <a:spcPts val="500"/>
              </a:spcAft>
              <a:buChar char="•"/>
              <a:defRPr sz="1500"/>
            </a:pPr>
            <a:r>
              <a:rPr sz="1500"/>
              <a:t>Автоматизация договоров: 75% договоров без ручного ввода (через ELMA)</a:t>
            </a:r>
          </a:p>
          <a:p>
            <a:pPr marL="400000" indent="-200000">
              <a:lnSpc>
                <a:spcPct val="105000"/>
              </a:lnSpc>
              <a:spcAft>
                <a:spcPts val="500"/>
              </a:spcAft>
              <a:buChar char="•"/>
              <a:defRPr sz="1500"/>
            </a:pPr>
            <a:r>
              <a:rPr sz="1500"/>
              <a:t>Zero Handover: устранение потерь данных при передаче из AmoCRM в ELMA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442913" y="6384626"/>
            <a:ext cx="11198224" cy="260000"/>
          </a:xfrm>
        </p:spPr>
        <p:txBody>
          <a:bodyPr/>
          <a:lstStyle/>
          <a:p>
            <a:r>
              <a:t>A3 Presentation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913" y="671247"/>
            <a:ext cx="11198224" cy="849883"/>
          </a:xfr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800"/>
            </a:pPr>
            <a:r>
              <a:rPr sz="2800"/>
              <a:t>7. Финансовая модель 2026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>
          <a:xfrm>
            <a:off x="442913" y="1701130"/>
            <a:ext cx="11198224" cy="429767"/>
          </a:xfrm>
        </p:spPr>
        <p:txBody>
          <a:bodyPr wrap="square">
            <a:no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  <a:defRPr sz="800"/>
            </a:pPr>
            <a:r>
              <a:rPr sz="1800"/>
              <a:t>7.1 P&amp;L — ключевые показатели</a:t>
            </a:r>
          </a:p>
        </p:txBody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442914" y="2310897"/>
          <a:ext cx="11198224" cy="38937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03254"/>
                <a:gridCol w="6494970"/>
              </a:tblGrid>
              <a:tr h="245427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Показатель</a:t>
                      </a:r>
                    </a:p>
                  </a:txBody>
                  <a:tcPr marL="40000" marR="40000" marT="20000" marB="20000">
                    <a:solidFill>
                      <a:srgbClr val="1D355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Значение 2026</a:t>
                      </a:r>
                    </a:p>
                  </a:txBody>
                  <a:tcPr marL="40000" marR="40000" marT="20000" marB="20000">
                    <a:solidFill>
                      <a:srgbClr val="1D3557"/>
                    </a:solidFill>
                  </a:tcPr>
                </a:tc>
              </a:tr>
              <a:tr h="245427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Выручка с НДС</a:t>
                      </a:r>
                    </a:p>
                  </a:txBody>
                  <a:tcPr marL="40000" marR="40000" marT="20000" marB="20000">
                    <a:solidFill>
                      <a:srgbClr val="EBF3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2 691 млн ₽</a:t>
                      </a:r>
                    </a:p>
                  </a:txBody>
                  <a:tcPr marL="40000" marR="40000" marT="20000" marB="20000">
                    <a:solidFill>
                      <a:srgbClr val="EBF3FE"/>
                    </a:solidFill>
                  </a:tcPr>
                </a:tc>
              </a:tr>
              <a:tr h="245427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Выручка без НДС</a:t>
                      </a:r>
                    </a:p>
                  </a:txBody>
                  <a:tcPr marL="40000" marR="40000" marT="20000" marB="20000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2 386 млн ₽</a:t>
                      </a:r>
                    </a:p>
                  </a:txBody>
                  <a:tcPr marL="40000" marR="40000" marT="20000" marB="20000">
                    <a:solidFill>
                      <a:srgbClr val="F5F7FA"/>
                    </a:solidFill>
                  </a:tcPr>
                </a:tc>
              </a:tr>
              <a:tr h="245427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Транзакционный доход</a:t>
                      </a:r>
                    </a:p>
                  </a:txBody>
                  <a:tcPr marL="40000" marR="40000" marT="20000" marB="20000">
                    <a:solidFill>
                      <a:srgbClr val="EBF3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1 598 млн ₽ (60%)</a:t>
                      </a:r>
                    </a:p>
                  </a:txBody>
                  <a:tcPr marL="40000" marR="40000" marT="20000" marB="20000">
                    <a:solidFill>
                      <a:srgbClr val="EBF3FE"/>
                    </a:solidFill>
                  </a:tcPr>
                </a:tc>
              </a:tr>
              <a:tr h="245427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Нетранзакционный доход</a:t>
                      </a:r>
                    </a:p>
                  </a:txBody>
                  <a:tcPr marL="40000" marR="40000" marT="20000" marB="20000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1 093 млн ₽ (40%)</a:t>
                      </a:r>
                    </a:p>
                  </a:txBody>
                  <a:tcPr marL="40000" marR="40000" marT="20000" marB="20000">
                    <a:solidFill>
                      <a:srgbClr val="F5F7FA"/>
                    </a:solidFill>
                  </a:tcPr>
                </a:tc>
              </a:tr>
              <a:tr h="245427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Валовая прибыль</a:t>
                      </a:r>
                    </a:p>
                  </a:txBody>
                  <a:tcPr marL="40000" marR="40000" marT="20000" marB="20000">
                    <a:solidFill>
                      <a:srgbClr val="EBF3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1 495 млн ₽ (маржа ~50%)</a:t>
                      </a:r>
                    </a:p>
                  </a:txBody>
                  <a:tcPr marL="40000" marR="40000" marT="20000" marB="20000">
                    <a:solidFill>
                      <a:srgbClr val="EBF3FE"/>
                    </a:solidFill>
                  </a:tcPr>
                </a:tc>
              </a:tr>
              <a:tr h="245427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Операционная прибыль</a:t>
                      </a:r>
                    </a:p>
                  </a:txBody>
                  <a:tcPr marL="40000" marR="40000" marT="20000" marB="20000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1 184 млн ₽ (рент. продаж ~50%)</a:t>
                      </a:r>
                    </a:p>
                  </a:txBody>
                  <a:tcPr marL="40000" marR="40000" marT="20000" marB="20000">
                    <a:solidFill>
                      <a:srgbClr val="F5F7FA"/>
                    </a:solidFill>
                  </a:tcPr>
                </a:tc>
              </a:tr>
              <a:tr h="245427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Чистая прибыль</a:t>
                      </a:r>
                    </a:p>
                  </a:txBody>
                  <a:tcPr marL="40000" marR="40000" marT="20000" marB="20000">
                    <a:solidFill>
                      <a:srgbClr val="EBF3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767 млн ₽ (рент. ~32%)</a:t>
                      </a:r>
                    </a:p>
                  </a:txBody>
                  <a:tcPr marL="40000" marR="40000" marT="20000" marB="20000">
                    <a:solidFill>
                      <a:srgbClr val="EBF3FE"/>
                    </a:solidFill>
                  </a:tcPr>
                </a:tc>
              </a:tr>
              <a:tr h="245427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EBITDA</a:t>
                      </a:r>
                    </a:p>
                  </a:txBody>
                  <a:tcPr marL="40000" marR="40000" marT="20000" marB="20000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~1 128–1 163 млн ₽</a:t>
                      </a:r>
                    </a:p>
                  </a:txBody>
                  <a:tcPr marL="40000" marR="40000" marT="20000" marB="20000">
                    <a:solidFill>
                      <a:srgbClr val="F5F7FA"/>
                    </a:solidFill>
                  </a:tcPr>
                </a:tc>
              </a:tr>
              <a:tr h="245427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НДС к уплате</a:t>
                      </a:r>
                    </a:p>
                  </a:txBody>
                  <a:tcPr marL="40000" marR="40000" marT="20000" marB="20000">
                    <a:solidFill>
                      <a:srgbClr val="EBF3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~276 млн ₽ / год</a:t>
                      </a:r>
                    </a:p>
                  </a:txBody>
                  <a:tcPr marL="40000" marR="40000" marT="20000" marB="20000">
                    <a:solidFill>
                      <a:srgbClr val="EBF3FE"/>
                    </a:solidFill>
                  </a:tcPr>
                </a:tc>
              </a:tr>
            </a:tbl>
          </a:graphicData>
        </a:graphic>
      </p:graphicFrame>
      <p:sp>
        <p:nvSpPr>
          <p:cNvPr id="7" name="Text Placeholder 6"/>
          <p:cNvSpPr>
            <a:spLocks noGrp="1"/>
          </p:cNvSpPr>
          <p:nvPr>
            <p:ph type="body" idx="15" sz="quarter"/>
          </p:nvPr>
        </p:nvSpPr>
        <p:spPr>
          <a:xfrm>
            <a:off x="442913" y="6384626"/>
            <a:ext cx="11198224" cy="260000"/>
          </a:xfrm>
        </p:spPr>
        <p:txBody>
          <a:bodyPr/>
          <a:lstStyle/>
          <a:p>
            <a:r>
              <a:t>A3 Presentation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913" y="671247"/>
            <a:ext cx="11198224" cy="849883"/>
          </a:xfr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800"/>
            </a:pPr>
            <a:r>
              <a:rPr sz="2800"/>
              <a:t>7.2 Квартальный профиль</a:t>
            </a:r>
          </a:p>
        </p:txBody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442914" y="1701130"/>
          <a:ext cx="11198224" cy="4503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4069"/>
                <a:gridCol w="2647924"/>
                <a:gridCol w="6426231"/>
              </a:tblGrid>
              <a:tr h="3200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Квартал</a:t>
                      </a:r>
                    </a:p>
                  </a:txBody>
                  <a:tcPr marL="40000" marR="40000" marT="20000" marB="20000">
                    <a:solidFill>
                      <a:srgbClr val="1D355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Выручка б/НДС</a:t>
                      </a:r>
                    </a:p>
                  </a:txBody>
                  <a:tcPr marL="40000" marR="40000" marT="20000" marB="20000">
                    <a:solidFill>
                      <a:srgbClr val="1D355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Чистая прибыль (от выручки)</a:t>
                      </a:r>
                    </a:p>
                  </a:txBody>
                  <a:tcPr marL="40000" marR="40000" marT="20000" marB="20000">
                    <a:solidFill>
                      <a:srgbClr val="1D3557"/>
                    </a:solidFill>
                  </a:tcPr>
                </a:tc>
              </a:tr>
              <a:tr h="320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Q1 (янв–мар)</a:t>
                      </a:r>
                    </a:p>
                  </a:txBody>
                  <a:tcPr marL="40000" marR="40000" marT="20000" marB="20000">
                    <a:solidFill>
                      <a:srgbClr val="EBF3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490 млн ₽</a:t>
                      </a:r>
                    </a:p>
                  </a:txBody>
                  <a:tcPr marL="40000" marR="40000" marT="20000" marB="20000">
                    <a:solidFill>
                      <a:srgbClr val="EBF3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149 млн ₽ (30%)</a:t>
                      </a:r>
                    </a:p>
                  </a:txBody>
                  <a:tcPr marL="40000" marR="40000" marT="20000" marB="20000">
                    <a:solidFill>
                      <a:srgbClr val="EBF3FE"/>
                    </a:solidFill>
                  </a:tcPr>
                </a:tc>
              </a:tr>
              <a:tr h="320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Q2 (апр–июн)</a:t>
                      </a:r>
                    </a:p>
                  </a:txBody>
                  <a:tcPr marL="40000" marR="40000" marT="20000" marB="20000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561 млн ₽</a:t>
                      </a:r>
                    </a:p>
                  </a:txBody>
                  <a:tcPr marL="40000" marR="40000" marT="20000" marB="20000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223 млн ₽ (40%)</a:t>
                      </a:r>
                    </a:p>
                  </a:txBody>
                  <a:tcPr marL="40000" marR="40000" marT="20000" marB="20000">
                    <a:solidFill>
                      <a:srgbClr val="F5F7FA"/>
                    </a:solidFill>
                  </a:tcPr>
                </a:tc>
              </a:tr>
              <a:tr h="320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Q3 (июл–сен)</a:t>
                      </a:r>
                    </a:p>
                  </a:txBody>
                  <a:tcPr marL="40000" marR="40000" marT="20000" marB="20000">
                    <a:solidFill>
                      <a:srgbClr val="EBF3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624 млн ₽</a:t>
                      </a:r>
                    </a:p>
                  </a:txBody>
                  <a:tcPr marL="40000" marR="40000" marT="20000" marB="20000">
                    <a:solidFill>
                      <a:srgbClr val="EBF3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258 млн ₽ (41%) — минус в сентябре из-за взноса РНКО</a:t>
                      </a:r>
                    </a:p>
                  </a:txBody>
                  <a:tcPr marL="40000" marR="40000" marT="20000" marB="20000">
                    <a:solidFill>
                      <a:srgbClr val="EBF3FE"/>
                    </a:solidFill>
                  </a:tcPr>
                </a:tc>
              </a:tr>
              <a:tr h="320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Q4 (окт–дек)</a:t>
                      </a:r>
                    </a:p>
                  </a:txBody>
                  <a:tcPr marL="40000" marR="40000" marT="20000" marB="20000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711 млн ₽</a:t>
                      </a:r>
                    </a:p>
                  </a:txBody>
                  <a:tcPr marL="40000" marR="40000" marT="20000" marB="20000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284 млн ₽ (40%)</a:t>
                      </a:r>
                    </a:p>
                  </a:txBody>
                  <a:tcPr marL="40000" marR="40000" marT="20000" marB="20000">
                    <a:solidFill>
                      <a:srgbClr val="F5F7FA"/>
                    </a:solidFill>
                  </a:tcPr>
                </a:tc>
              </a:tr>
              <a:tr h="320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Год</a:t>
                      </a:r>
                    </a:p>
                  </a:txBody>
                  <a:tcPr marL="40000" marR="40000" marT="20000" marB="20000">
                    <a:solidFill>
                      <a:srgbClr val="EBF3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2 386 млн ₽</a:t>
                      </a:r>
                    </a:p>
                  </a:txBody>
                  <a:tcPr marL="40000" marR="40000" marT="20000" marB="20000">
                    <a:solidFill>
                      <a:srgbClr val="EBF3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767 млн ₽ (32%)</a:t>
                      </a:r>
                    </a:p>
                  </a:txBody>
                  <a:tcPr marL="40000" marR="40000" marT="20000" marB="20000">
                    <a:solidFill>
                      <a:srgbClr val="EBF3FE"/>
                    </a:solidFill>
                  </a:tcPr>
                </a:tc>
              </a:tr>
            </a:tbl>
          </a:graphicData>
        </a:graphic>
      </p:graphicFrame>
      <p:sp>
        <p:nvSpPr>
          <p:cNvPr id="7" name="Text Placeholder 6"/>
          <p:cNvSpPr>
            <a:spLocks noGrp="1"/>
          </p:cNvSpPr>
          <p:nvPr>
            <p:ph type="body" idx="15" sz="quarter"/>
          </p:nvPr>
        </p:nvSpPr>
        <p:spPr>
          <a:xfrm>
            <a:off x="442913" y="6384626"/>
            <a:ext cx="11198224" cy="260000"/>
          </a:xfrm>
        </p:spPr>
        <p:txBody>
          <a:bodyPr/>
          <a:lstStyle/>
          <a:p>
            <a:r>
              <a:t>A3 Presentation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913" y="671247"/>
            <a:ext cx="11198224" cy="849883"/>
          </a:xfr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800"/>
            </a:pPr>
            <a:r>
              <a:rPr sz="2800"/>
              <a:t>7.2 Квартальный профиль - альтернативный расчет</a:t>
            </a:r>
          </a:p>
        </p:txBody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442914" y="1701130"/>
          <a:ext cx="11198224" cy="4503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5830"/>
                <a:gridCol w="3362083"/>
                <a:gridCol w="5120311"/>
              </a:tblGrid>
              <a:tr h="3200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Квартал</a:t>
                      </a:r>
                    </a:p>
                  </a:txBody>
                  <a:tcPr marL="40000" marR="40000" marT="20000" marB="20000">
                    <a:solidFill>
                      <a:srgbClr val="1D355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Выручка б/НДС</a:t>
                      </a:r>
                    </a:p>
                  </a:txBody>
                  <a:tcPr marL="40000" marR="40000" marT="20000" marB="20000">
                    <a:solidFill>
                      <a:srgbClr val="1D355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EBITDA (от выручки)</a:t>
                      </a:r>
                    </a:p>
                  </a:txBody>
                  <a:tcPr marL="40000" marR="40000" marT="20000" marB="20000">
                    <a:solidFill>
                      <a:srgbClr val="1D3557"/>
                    </a:solidFill>
                  </a:tcPr>
                </a:tc>
              </a:tr>
              <a:tr h="320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Q1 (янв–мар)</a:t>
                      </a:r>
                    </a:p>
                  </a:txBody>
                  <a:tcPr marL="40000" marR="40000" marT="20000" marB="20000">
                    <a:solidFill>
                      <a:srgbClr val="EBF3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436 млн ₽</a:t>
                      </a:r>
                    </a:p>
                  </a:txBody>
                  <a:tcPr marL="40000" marR="40000" marT="20000" marB="20000">
                    <a:solidFill>
                      <a:srgbClr val="EBF3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199 млн ₽ (46%)</a:t>
                      </a:r>
                    </a:p>
                  </a:txBody>
                  <a:tcPr marL="40000" marR="40000" marT="20000" marB="20000">
                    <a:solidFill>
                      <a:srgbClr val="EBF3FE"/>
                    </a:solidFill>
                  </a:tcPr>
                </a:tc>
              </a:tr>
              <a:tr h="320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Q2 (апр–июн)</a:t>
                      </a:r>
                    </a:p>
                  </a:txBody>
                  <a:tcPr marL="40000" marR="40000" marT="20000" marB="20000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499 млн ₽</a:t>
                      </a:r>
                    </a:p>
                  </a:txBody>
                  <a:tcPr marL="40000" marR="40000" marT="20000" marB="20000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242 млн ₽ (49%)</a:t>
                      </a:r>
                    </a:p>
                  </a:txBody>
                  <a:tcPr marL="40000" marR="40000" marT="20000" marB="20000">
                    <a:solidFill>
                      <a:srgbClr val="F5F7FA"/>
                    </a:solidFill>
                  </a:tcPr>
                </a:tc>
              </a:tr>
              <a:tr h="320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Q3 (июл–сен)</a:t>
                      </a:r>
                    </a:p>
                  </a:txBody>
                  <a:tcPr marL="40000" marR="40000" marT="20000" marB="20000">
                    <a:solidFill>
                      <a:srgbClr val="EBF3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555 млн ₽</a:t>
                      </a:r>
                    </a:p>
                  </a:txBody>
                  <a:tcPr marL="40000" marR="40000" marT="20000" marB="20000">
                    <a:solidFill>
                      <a:srgbClr val="EBF3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271 млн ₽ (49%)</a:t>
                      </a:r>
                    </a:p>
                  </a:txBody>
                  <a:tcPr marL="40000" marR="40000" marT="20000" marB="20000">
                    <a:solidFill>
                      <a:srgbClr val="EBF3FE"/>
                    </a:solidFill>
                  </a:tcPr>
                </a:tc>
              </a:tr>
              <a:tr h="320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Q4 (окт–дек)</a:t>
                      </a:r>
                    </a:p>
                  </a:txBody>
                  <a:tcPr marL="40000" marR="40000" marT="20000" marB="20000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632 млн ₽</a:t>
                      </a:r>
                    </a:p>
                  </a:txBody>
                  <a:tcPr marL="40000" marR="40000" marT="20000" marB="20000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315 млн ₽ (50%)</a:t>
                      </a:r>
                    </a:p>
                  </a:txBody>
                  <a:tcPr marL="40000" marR="40000" marT="20000" marB="20000">
                    <a:solidFill>
                      <a:srgbClr val="F5F7FA"/>
                    </a:solidFill>
                  </a:tcPr>
                </a:tc>
              </a:tr>
              <a:tr h="320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Год</a:t>
                      </a:r>
                    </a:p>
                  </a:txBody>
                  <a:tcPr marL="40000" marR="40000" marT="20000" marB="20000">
                    <a:solidFill>
                      <a:srgbClr val="EBF3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2122 млн ₽</a:t>
                      </a:r>
                    </a:p>
                  </a:txBody>
                  <a:tcPr marL="40000" marR="40000" marT="20000" marB="20000">
                    <a:solidFill>
                      <a:srgbClr val="EBF3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1020 млн ₽ (48%)</a:t>
                      </a:r>
                    </a:p>
                  </a:txBody>
                  <a:tcPr marL="40000" marR="40000" marT="20000" marB="20000">
                    <a:solidFill>
                      <a:srgbClr val="EBF3FE"/>
                    </a:solidFill>
                  </a:tcPr>
                </a:tc>
              </a:tr>
            </a:tbl>
          </a:graphicData>
        </a:graphic>
      </p:graphicFrame>
      <p:sp>
        <p:nvSpPr>
          <p:cNvPr id="7" name="Text Placeholder 6"/>
          <p:cNvSpPr>
            <a:spLocks noGrp="1"/>
          </p:cNvSpPr>
          <p:nvPr>
            <p:ph type="body" idx="15" sz="quarter"/>
          </p:nvPr>
        </p:nvSpPr>
        <p:spPr>
          <a:xfrm>
            <a:off x="442913" y="6384626"/>
            <a:ext cx="11198224" cy="260000"/>
          </a:xfrm>
        </p:spPr>
        <p:txBody>
          <a:bodyPr/>
          <a:lstStyle/>
          <a:p>
            <a:r>
              <a:t>A3 Presentation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913" y="671247"/>
            <a:ext cx="11198224" cy="849883"/>
          </a:xfr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800"/>
            </a:pPr>
            <a:r>
              <a:rPr sz="2800"/>
              <a:t>7.3 Структура расходов</a:t>
            </a:r>
          </a:p>
        </p:txBody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442914" y="1701130"/>
          <a:ext cx="11198224" cy="4503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03254"/>
                <a:gridCol w="6494970"/>
              </a:tblGrid>
              <a:tr h="245427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Статья</a:t>
                      </a:r>
                    </a:p>
                  </a:txBody>
                  <a:tcPr marL="40000" marR="40000" marT="20000" marB="20000">
                    <a:solidFill>
                      <a:srgbClr val="1D355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Год, млн ₽</a:t>
                      </a:r>
                    </a:p>
                  </a:txBody>
                  <a:tcPr marL="40000" marR="40000" marT="20000" marB="20000">
                    <a:solidFill>
                      <a:srgbClr val="1D3557"/>
                    </a:solidFill>
                  </a:tcPr>
                </a:tc>
              </a:tr>
              <a:tr h="245427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ФОТ производство</a:t>
                      </a:r>
                    </a:p>
                  </a:txBody>
                  <a:tcPr marL="40000" marR="40000" marT="20000" marB="20000">
                    <a:solidFill>
                      <a:srgbClr val="EBF3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652 млн (27% выручки)</a:t>
                      </a:r>
                    </a:p>
                  </a:txBody>
                  <a:tcPr marL="40000" marR="40000" marT="20000" marB="20000">
                    <a:solidFill>
                      <a:srgbClr val="EBF3FE"/>
                    </a:solidFill>
                  </a:tcPr>
                </a:tc>
              </a:tr>
              <a:tr h="245427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СМЭВ (квартальные платежи)</a:t>
                      </a:r>
                    </a:p>
                  </a:txBody>
                  <a:tcPr marL="40000" marR="40000" marT="20000" marB="20000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120 млн (5%)</a:t>
                      </a:r>
                    </a:p>
                  </a:txBody>
                  <a:tcPr marL="40000" marR="40000" marT="20000" marB="20000">
                    <a:solidFill>
                      <a:srgbClr val="F5F7FA"/>
                    </a:solidFill>
                  </a:tcPr>
                </a:tc>
              </a:tr>
              <a:tr h="245427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ГИС ЖКХ</a:t>
                      </a:r>
                    </a:p>
                  </a:txBody>
                  <a:tcPr marL="40000" marR="40000" marT="20000" marB="20000">
                    <a:solidFill>
                      <a:srgbClr val="EBF3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67 млн (3%)</a:t>
                      </a:r>
                    </a:p>
                  </a:txBody>
                  <a:tcPr marL="40000" marR="40000" marT="20000" marB="20000">
                    <a:solidFill>
                      <a:srgbClr val="EBF3FE"/>
                    </a:solidFill>
                  </a:tcPr>
                </a:tc>
              </a:tr>
              <a:tr h="245427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Аренда ЦОД</a:t>
                      </a:r>
                    </a:p>
                  </a:txBody>
                  <a:tcPr marL="40000" marR="40000" marT="20000" marB="20000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14 млн (0.6%)</a:t>
                      </a:r>
                    </a:p>
                  </a:txBody>
                  <a:tcPr marL="40000" marR="40000" marT="20000" marB="20000">
                    <a:solidFill>
                      <a:srgbClr val="F5F7FA"/>
                    </a:solidFill>
                  </a:tcPr>
                </a:tc>
              </a:tr>
              <a:tr h="245427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Инвестиции в оборудование</a:t>
                      </a:r>
                    </a:p>
                  </a:txBody>
                  <a:tcPr marL="40000" marR="40000" marT="20000" marB="20000">
                    <a:solidFill>
                      <a:srgbClr val="EBF3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105 млн (4%) — пик в Q2–Q3</a:t>
                      </a:r>
                    </a:p>
                  </a:txBody>
                  <a:tcPr marL="40000" marR="40000" marT="20000" marB="20000">
                    <a:solidFill>
                      <a:srgbClr val="EBF3FE"/>
                    </a:solidFill>
                  </a:tcPr>
                </a:tc>
              </a:tr>
              <a:tr h="245427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РНКО — взнос в УК</a:t>
                      </a:r>
                    </a:p>
                  </a:txBody>
                  <a:tcPr marL="40000" marR="40000" marT="20000" marB="20000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120 млн (5%) — разовый, Q3</a:t>
                      </a:r>
                    </a:p>
                  </a:txBody>
                  <a:tcPr marL="40000" marR="40000" marT="20000" marB="20000">
                    <a:solidFill>
                      <a:srgbClr val="F5F7FA"/>
                    </a:solidFill>
                  </a:tcPr>
                </a:tc>
              </a:tr>
              <a:tr h="245427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Маркетинг</a:t>
                      </a:r>
                    </a:p>
                  </a:txBody>
                  <a:tcPr marL="40000" marR="40000" marT="20000" marB="20000">
                    <a:solidFill>
                      <a:srgbClr val="EBF3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37 млн (1.5%) — рост ×4 vs 2025</a:t>
                      </a:r>
                    </a:p>
                  </a:txBody>
                  <a:tcPr marL="40000" marR="40000" marT="20000" marB="20000">
                    <a:solidFill>
                      <a:srgbClr val="EBF3FE"/>
                    </a:solidFill>
                  </a:tcPr>
                </a:tc>
              </a:tr>
              <a:tr h="245427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АУР (офис, HR, юрид.)</a:t>
                      </a:r>
                    </a:p>
                  </a:txBody>
                  <a:tcPr marL="40000" marR="40000" marT="20000" marB="20000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101 млн (4%)</a:t>
                      </a:r>
                    </a:p>
                  </a:txBody>
                  <a:tcPr marL="40000" marR="40000" marT="20000" marB="20000">
                    <a:solidFill>
                      <a:srgbClr val="F5F7FA"/>
                    </a:solidFill>
                  </a:tcPr>
                </a:tc>
              </a:tr>
              <a:tr h="245427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Итого расходы</a:t>
                      </a:r>
                    </a:p>
                  </a:txBody>
                  <a:tcPr marL="40000" marR="40000" marT="20000" marB="20000">
                    <a:solidFill>
                      <a:srgbClr val="EBF3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~1 319 млн (55%)</a:t>
                      </a:r>
                    </a:p>
                  </a:txBody>
                  <a:tcPr marL="40000" marR="40000" marT="20000" marB="20000">
                    <a:solidFill>
                      <a:srgbClr val="EBF3FE"/>
                    </a:solidFill>
                  </a:tcPr>
                </a:tc>
              </a:tr>
            </a:tbl>
          </a:graphicData>
        </a:graphic>
      </p:graphicFrame>
      <p:sp>
        <p:nvSpPr>
          <p:cNvPr id="7" name="Text Placeholder 6"/>
          <p:cNvSpPr>
            <a:spLocks noGrp="1"/>
          </p:cNvSpPr>
          <p:nvPr>
            <p:ph type="body" idx="15" sz="quarter"/>
          </p:nvPr>
        </p:nvSpPr>
        <p:spPr>
          <a:xfrm>
            <a:off x="442913" y="6384626"/>
            <a:ext cx="11198224" cy="260000"/>
          </a:xfrm>
        </p:spPr>
        <p:txBody>
          <a:bodyPr/>
          <a:lstStyle/>
          <a:p>
            <a:r>
              <a:t>A3 Presentation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913" y="671247"/>
            <a:ext cx="11198224" cy="849883"/>
          </a:xfr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600"/>
            </a:pPr>
            <a:r>
              <a:rPr sz="2800"/>
              <a:t>7.4 Финансовые риски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>
          <a:xfrm>
            <a:off x="442913" y="1821130"/>
            <a:ext cx="11198224" cy="4383496"/>
          </a:xfrm>
        </p:spPr>
        <p:txBody>
          <a:bodyPr wrap="square">
            <a:normAutofit/>
          </a:bodyPr>
          <a:lstStyle/>
          <a:p>
            <a:pPr marL="400000" indent="-200000">
              <a:lnSpc>
                <a:spcPct val="105000"/>
              </a:lnSpc>
              <a:spcAft>
                <a:spcPts val="500"/>
              </a:spcAft>
              <a:buChar char="•"/>
              <a:defRPr sz="1600"/>
            </a:pPr>
            <a:r>
              <a:rPr sz="1600"/>
              <a:t>Сентябрь — взнос РНКО: контролируемо при наличии кэш-позиции</a:t>
            </a:r>
          </a:p>
          <a:p>
            <a:pPr marL="400000" indent="-200000">
              <a:lnSpc>
                <a:spcPct val="105000"/>
              </a:lnSpc>
              <a:spcAft>
                <a:spcPts val="500"/>
              </a:spcAft>
              <a:buChar char="•"/>
              <a:defRPr sz="1600"/>
            </a:pPr>
            <a:r>
              <a:rPr sz="1600"/>
              <a:t>Отмена льготы по страховым взносам с 01.07: +13 млн к ФОТ, снижение ЧП на ~1.7 п.п.</a:t>
            </a:r>
          </a:p>
          <a:p>
            <a:pPr marL="400000" indent="-200000">
              <a:lnSpc>
                <a:spcPct val="105000"/>
              </a:lnSpc>
              <a:spcAft>
                <a:spcPts val="500"/>
              </a:spcAft>
              <a:buChar char="•"/>
              <a:defRPr sz="1600"/>
            </a:pPr>
            <a:r>
              <a:rPr sz="1600"/>
              <a:t>СМЭВ — концентрация платежей в Q1/Q2/Q3/Q4: требует планирования cashflow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442913" y="6384626"/>
            <a:ext cx="11198224" cy="260000"/>
          </a:xfrm>
        </p:spPr>
        <p:txBody>
          <a:bodyPr/>
          <a:lstStyle/>
          <a:p>
            <a:r>
              <a:t>A3 Presentation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913" y="671247"/>
            <a:ext cx="11198224" cy="849883"/>
          </a:xfr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600"/>
            </a:pPr>
            <a:r>
              <a:rPr sz="2800"/>
              <a:t>8. Маркетинг и ребрендинг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>
          <a:xfrm>
            <a:off x="442913" y="1821130"/>
            <a:ext cx="11198224" cy="4383496"/>
          </a:xfrm>
        </p:spPr>
        <p:txBody>
          <a:bodyPr wrap="square">
            <a:normAutofit/>
          </a:bodyPr>
          <a:lstStyle/>
          <a:p>
            <a:pPr marL="400000" indent="-200000">
              <a:lnSpc>
                <a:spcPct val="105000"/>
              </a:lnSpc>
              <a:spcAft>
                <a:spcPts val="500"/>
              </a:spcAft>
              <a:buChar char="•"/>
              <a:defRPr sz="1500"/>
            </a:pPr>
            <a:r>
              <a:rPr sz="1500"/>
              <a:t>Аудит метрик бренда: узнаваемость, лояльность ЦА поставщиков и банков</a:t>
            </a:r>
          </a:p>
          <a:p>
            <a:pPr marL="400000" indent="-200000">
              <a:lnSpc>
                <a:spcPct val="105000"/>
              </a:lnSpc>
              <a:spcAft>
                <a:spcPts val="500"/>
              </a:spcAft>
              <a:buChar char="•"/>
              <a:defRPr sz="1500"/>
            </a:pPr>
            <a:r>
              <a:rPr sz="1500"/>
              <a:t>Согласование стратегии маркетинга 2026–2028</a:t>
            </a:r>
          </a:p>
          <a:p>
            <a:pPr marL="400000" indent="-200000">
              <a:lnSpc>
                <a:spcPct val="105000"/>
              </a:lnSpc>
              <a:spcAft>
                <a:spcPts val="500"/>
              </a:spcAft>
              <a:buChar char="•"/>
              <a:defRPr sz="1500"/>
            </a:pPr>
            <a:r>
              <a:rPr sz="1500"/>
              <a:t>Согласование бренд стратегии 2026–2028</a:t>
            </a:r>
          </a:p>
          <a:p>
            <a:pPr marL="400000" indent="-200000">
              <a:lnSpc>
                <a:spcPct val="105000"/>
              </a:lnSpc>
              <a:spcAft>
                <a:spcPts val="500"/>
              </a:spcAft>
              <a:buChar char="•"/>
              <a:defRPr sz="1500"/>
            </a:pPr>
            <a:r>
              <a:rPr sz="1500"/>
              <a:t>Годовой отчет для внешней среды и БРИО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442913" y="6384626"/>
            <a:ext cx="11198224" cy="260000"/>
          </a:xfrm>
        </p:spPr>
        <p:txBody>
          <a:bodyPr/>
          <a:lstStyle/>
          <a:p>
            <a:r>
              <a:t>A3 Presentation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913" y="671247"/>
            <a:ext cx="11198224" cy="849883"/>
          </a:xfr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800"/>
            </a:pPr>
            <a:r>
              <a:rPr sz="2800"/>
              <a:t>8.2 Ребрендинг А3 — дорожная карта</a:t>
            </a:r>
          </a:p>
        </p:txBody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442914" y="1701130"/>
          <a:ext cx="11198224" cy="4503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3609"/>
                <a:gridCol w="8734615"/>
              </a:tblGrid>
              <a:tr h="4000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Квартал</a:t>
                      </a:r>
                    </a:p>
                  </a:txBody>
                  <a:tcPr marL="40000" marR="40000" marT="20000" marB="20000">
                    <a:solidFill>
                      <a:srgbClr val="1D355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Задачи</a:t>
                      </a:r>
                    </a:p>
                  </a:txBody>
                  <a:tcPr marL="40000" marR="40000" marT="20000" marB="20000">
                    <a:solidFill>
                      <a:srgbClr val="1D3557"/>
                    </a:solidFill>
                  </a:tcPr>
                </a:tc>
              </a:tr>
              <a:tr h="400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Q1</a:t>
                      </a:r>
                    </a:p>
                  </a:txBody>
                  <a:tcPr marL="40000" marR="40000" marT="20000" marB="20000">
                    <a:solidFill>
                      <a:srgbClr val="EBF3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Аудит текущего позиционирования · Формирование команды ребрендинга · Старт работ по бренд-стратегии · Найм: продуктовый маркетолог + директор по стратегическим коммуникациям (PR)</a:t>
                      </a:r>
                    </a:p>
                  </a:txBody>
                  <a:tcPr marL="40000" marR="40000" marT="20000" marB="20000">
                    <a:solidFill>
                      <a:srgbClr val="EBF3FE"/>
                    </a:solidFill>
                  </a:tcPr>
                </a:tc>
              </a:tr>
              <a:tr h="400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Q2</a:t>
                      </a:r>
                    </a:p>
                  </a:txBody>
                  <a:tcPr marL="40000" marR="40000" marT="20000" marB="20000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Создание бренд-стратегии: DNA, архитектура, позиционирование, ToV · Создание айдентики: лого, шрифты, цвета · Анализ продуктовой линейки, нейминг (русификация)</a:t>
                      </a:r>
                    </a:p>
                  </a:txBody>
                  <a:tcPr marL="40000" marR="40000" marT="20000" marB="20000">
                    <a:solidFill>
                      <a:srgbClr val="F5F7FA"/>
                    </a:solidFill>
                  </a:tcPr>
                </a:tc>
              </a:tr>
              <a:tr h="400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Q3</a:t>
                      </a:r>
                    </a:p>
                  </a:txBody>
                  <a:tcPr marL="40000" marR="40000" marT="20000" marB="20000">
                    <a:solidFill>
                      <a:srgbClr val="EBF3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Запуск сайта РНКО · Запуск сайта А3 Лаб</a:t>
                      </a:r>
                    </a:p>
                  </a:txBody>
                  <a:tcPr marL="40000" marR="40000" marT="20000" marB="20000">
                    <a:solidFill>
                      <a:srgbClr val="EBF3FE"/>
                    </a:solidFill>
                  </a:tcPr>
                </a:tc>
              </a:tr>
              <a:tr h="400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Q4</a:t>
                      </a:r>
                    </a:p>
                  </a:txBody>
                  <a:tcPr marL="40000" marR="40000" marT="20000" marB="20000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Полноценное внедрение новой айдентики · Оценка результатов ребрендинга</a:t>
                      </a:r>
                    </a:p>
                  </a:txBody>
                  <a:tcPr marL="40000" marR="40000" marT="20000" marB="20000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7" name="Text Placeholder 6"/>
          <p:cNvSpPr>
            <a:spLocks noGrp="1"/>
          </p:cNvSpPr>
          <p:nvPr>
            <p:ph type="body" idx="15" sz="quarter"/>
          </p:nvPr>
        </p:nvSpPr>
        <p:spPr>
          <a:xfrm>
            <a:off x="442913" y="6384626"/>
            <a:ext cx="11198224" cy="260000"/>
          </a:xfrm>
        </p:spPr>
        <p:txBody>
          <a:bodyPr/>
          <a:lstStyle/>
          <a:p>
            <a:r>
              <a:t>A3 Presentation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913" y="671247"/>
            <a:ext cx="11198224" cy="849883"/>
          </a:xfr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600"/>
            </a:pPr>
            <a:r>
              <a:rPr sz="2800"/>
              <a:t>8.3 Риски маркетинга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>
          <a:xfrm>
            <a:off x="442913" y="1821130"/>
            <a:ext cx="11198224" cy="4383496"/>
          </a:xfrm>
        </p:spPr>
        <p:txBody>
          <a:bodyPr wrap="square">
            <a:normAutofit/>
          </a:bodyPr>
          <a:lstStyle/>
          <a:p>
            <a:pPr marL="400000" indent="-200000">
              <a:lnSpc>
                <a:spcPct val="105000"/>
              </a:lnSpc>
              <a:spcAft>
                <a:spcPts val="500"/>
              </a:spcAft>
              <a:buChar char="•"/>
              <a:defRPr sz="1600"/>
            </a:pPr>
            <a:r>
              <a:rPr sz="1600"/>
              <a:t>Снижение устойчивости бренда А3 из-за сокращения работы с ПСБ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442913" y="6384626"/>
            <a:ext cx="11198224" cy="260000"/>
          </a:xfrm>
        </p:spPr>
        <p:txBody>
          <a:bodyPr/>
          <a:lstStyle/>
          <a:p>
            <a:r>
              <a:t>A3 Presentation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913" y="671247"/>
            <a:ext cx="11198224" cy="849883"/>
          </a:xfr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800"/>
            </a:pPr>
            <a:r>
              <a:rPr sz="2800"/>
              <a:t>9. Команда и внутренние коммуникации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>
          <a:xfrm>
            <a:off x="442913" y="1701130"/>
            <a:ext cx="11198224" cy="429767"/>
          </a:xfrm>
        </p:spPr>
        <p:txBody>
          <a:bodyPr wrap="square">
            <a:no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  <a:defRPr sz="800"/>
            </a:pPr>
            <a:r>
              <a:rPr sz="1800"/>
              <a:t>9.1 Структура команды</a:t>
            </a:r>
          </a:p>
        </p:txBody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442914" y="2310897"/>
          <a:ext cx="11198224" cy="38937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03254"/>
                <a:gridCol w="6494970"/>
              </a:tblGrid>
              <a:tr h="3200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Показатель</a:t>
                      </a:r>
                    </a:p>
                  </a:txBody>
                  <a:tcPr marL="60000" marR="60000" marT="30000" marB="30000">
                    <a:solidFill>
                      <a:srgbClr val="1D355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Значение</a:t>
                      </a:r>
                    </a:p>
                  </a:txBody>
                  <a:tcPr marL="60000" marR="60000" marT="30000" marB="30000">
                    <a:solidFill>
                      <a:srgbClr val="1D3557"/>
                    </a:solidFill>
                  </a:tcPr>
                </a:tc>
              </a:tr>
              <a:tr h="32000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81C4F"/>
                          </a:solidFill>
                        </a:rPr>
                        <a:t>Общий ФОТ 2026</a:t>
                      </a:r>
                    </a:p>
                  </a:txBody>
                  <a:tcPr marL="60000" marR="60000" marT="30000" marB="30000">
                    <a:solidFill>
                      <a:srgbClr val="EBF3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81C4F"/>
                          </a:solidFill>
                        </a:rPr>
                        <a:t>~700 млн ₽ / год</a:t>
                      </a:r>
                    </a:p>
                  </a:txBody>
                  <a:tcPr marL="60000" marR="60000" marT="30000" marB="30000">
                    <a:solidFill>
                      <a:srgbClr val="EBF3FE"/>
                    </a:solidFill>
                  </a:tcPr>
                </a:tc>
              </a:tr>
              <a:tr h="32000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81C4F"/>
                          </a:solidFill>
                        </a:rPr>
                        <a:t>Численность (основные)</a:t>
                      </a:r>
                    </a:p>
                  </a:txBody>
                  <a:tcPr marL="60000" marR="60000" marT="30000" marB="30000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81C4F"/>
                          </a:solidFill>
                        </a:rPr>
                        <a:t>~138 сотрудников</a:t>
                      </a:r>
                    </a:p>
                  </a:txBody>
                  <a:tcPr marL="60000" marR="60000" marT="30000" marB="30000">
                    <a:solidFill>
                      <a:srgbClr val="F5F7FA"/>
                    </a:solidFill>
                  </a:tcPr>
                </a:tc>
              </a:tr>
              <a:tr h="32000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81C4F"/>
                          </a:solidFill>
                        </a:rPr>
                        <a:t>Открытых вакансий</a:t>
                      </a:r>
                    </a:p>
                  </a:txBody>
                  <a:tcPr marL="60000" marR="60000" marT="30000" marB="30000">
                    <a:solidFill>
                      <a:srgbClr val="EBF3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81C4F"/>
                          </a:solidFill>
                        </a:rPr>
                        <a:t>26</a:t>
                      </a:r>
                    </a:p>
                  </a:txBody>
                  <a:tcPr marL="60000" marR="60000" marT="30000" marB="30000">
                    <a:solidFill>
                      <a:srgbClr val="EBF3FE"/>
                    </a:solidFill>
                  </a:tcPr>
                </a:tc>
              </a:tr>
              <a:tr h="32000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81C4F"/>
                          </a:solidFill>
                        </a:rPr>
                        <a:t>Команда по банкам</a:t>
                      </a:r>
                    </a:p>
                  </a:txBody>
                  <a:tcPr marL="60000" marR="60000" marT="30000" marB="30000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81C4F"/>
                          </a:solidFill>
                        </a:rPr>
                        <a:t>5 продажников + 5 аккаунт-менеджеров</a:t>
                      </a:r>
                    </a:p>
                  </a:txBody>
                  <a:tcPr marL="60000" marR="60000" marT="30000" marB="30000">
                    <a:solidFill>
                      <a:srgbClr val="F5F7FA"/>
                    </a:solidFill>
                  </a:tcPr>
                </a:tc>
              </a:tr>
              <a:tr h="32000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81C4F"/>
                          </a:solidFill>
                        </a:rPr>
                        <a:t>Команда по поставщикам</a:t>
                      </a:r>
                    </a:p>
                  </a:txBody>
                  <a:tcPr marL="60000" marR="60000" marT="30000" marB="30000">
                    <a:solidFill>
                      <a:srgbClr val="EBF3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81C4F"/>
                          </a:solidFill>
                        </a:rPr>
                        <a:t>~10 менеджеров интеграции и сопровождения</a:t>
                      </a:r>
                    </a:p>
                  </a:txBody>
                  <a:tcPr marL="60000" marR="60000" marT="30000" marB="30000">
                    <a:solidFill>
                      <a:srgbClr val="EBF3FE"/>
                    </a:solidFill>
                  </a:tcPr>
                </a:tc>
              </a:tr>
            </a:tbl>
          </a:graphicData>
        </a:graphic>
      </p:graphicFrame>
      <p:sp>
        <p:nvSpPr>
          <p:cNvPr id="7" name="Text Placeholder 6"/>
          <p:cNvSpPr>
            <a:spLocks noGrp="1"/>
          </p:cNvSpPr>
          <p:nvPr>
            <p:ph type="body" idx="15" sz="quarter"/>
          </p:nvPr>
        </p:nvSpPr>
        <p:spPr>
          <a:xfrm>
            <a:off x="442913" y="6384626"/>
            <a:ext cx="11198224" cy="260000"/>
          </a:xfrm>
        </p:spPr>
        <p:txBody>
          <a:bodyPr/>
          <a:lstStyle/>
          <a:p>
            <a:r>
              <a:t>A3 Presentation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913" y="671247"/>
            <a:ext cx="11198224" cy="849883"/>
          </a:xfr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600"/>
            </a:pPr>
            <a:r>
              <a:rPr sz="2800"/>
              <a:t>9.2 Развитие внутренних коммуникаций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>
          <a:xfrm>
            <a:off x="442913" y="1821130"/>
            <a:ext cx="11198224" cy="4383496"/>
          </a:xfrm>
        </p:spPr>
        <p:txBody>
          <a:bodyPr wrap="square">
            <a:normAutofit/>
          </a:bodyPr>
          <a:lstStyle/>
          <a:p>
            <a:pPr marL="400000" indent="-200000">
              <a:lnSpc>
                <a:spcPct val="105000"/>
              </a:lnSpc>
              <a:spcAft>
                <a:spcPts val="500"/>
              </a:spcAft>
              <a:buChar char="•"/>
              <a:defRPr sz="1500"/>
            </a:pPr>
            <a:r>
              <a:rPr sz="1500"/>
              <a:t>Еженедельная встреча каждый 2й четверг для всех участников страт-сессии</a:t>
            </a:r>
          </a:p>
          <a:p>
            <a:pPr marL="400000" indent="-200000">
              <a:lnSpc>
                <a:spcPct val="105000"/>
              </a:lnSpc>
              <a:spcAft>
                <a:spcPts val="500"/>
              </a:spcAft>
              <a:buChar char="•"/>
              <a:defRPr sz="1500"/>
            </a:pPr>
            <a:r>
              <a:rPr sz="1500"/>
              <a:t>Минимум 2–3 обучения для руководителей в год, 1 из них — в Q1. Стратегия развития ТОП-команды, привлечение коучей, психологов, менторов. Активное использование инструментов ИИ</a:t>
            </a:r>
          </a:p>
          <a:p>
            <a:pPr marL="400000" indent="-200000">
              <a:lnSpc>
                <a:spcPct val="105000"/>
              </a:lnSpc>
              <a:spcAft>
                <a:spcPts val="500"/>
              </a:spcAft>
              <a:buChar char="•"/>
              <a:defRPr sz="1500"/>
            </a:pPr>
            <a:r>
              <a:rPr sz="1500"/>
              <a:t>Тимбилдинг после каждой квартальной страт-сессии</a:t>
            </a:r>
          </a:p>
          <a:p>
            <a:pPr marL="400000" indent="-200000">
              <a:lnSpc>
                <a:spcPct val="105000"/>
              </a:lnSpc>
              <a:spcAft>
                <a:spcPts val="500"/>
              </a:spcAft>
              <a:buChar char="•"/>
              <a:defRPr sz="1500"/>
            </a:pPr>
            <a:r>
              <a:rPr sz="1500"/>
              <a:t>Назначить ответственного за мониторинг внешней ситуации (чёрные/белые лебеди)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442913" y="6384626"/>
            <a:ext cx="11198224" cy="260000"/>
          </a:xfrm>
        </p:spPr>
        <p:txBody>
          <a:bodyPr/>
          <a:lstStyle/>
          <a:p>
            <a:r>
              <a:t>A3 Presentation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913" y="671247"/>
            <a:ext cx="11198224" cy="849883"/>
          </a:xfr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600"/>
            </a:pPr>
            <a:r>
              <a:rPr sz="2800"/>
              <a:t>9.3 Критерии успеха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>
          <a:xfrm>
            <a:off x="442913" y="1821130"/>
            <a:ext cx="11198224" cy="4383496"/>
          </a:xfrm>
        </p:spPr>
        <p:txBody>
          <a:bodyPr wrap="square">
            <a:normAutofit/>
          </a:bodyPr>
          <a:lstStyle/>
          <a:p>
            <a:pPr marL="400000" indent="-200000">
              <a:lnSpc>
                <a:spcPct val="105000"/>
              </a:lnSpc>
              <a:spcAft>
                <a:spcPts val="500"/>
              </a:spcAft>
              <a:buChar char="•"/>
              <a:defRPr sz="1600"/>
            </a:pPr>
            <a:r>
              <a:rPr sz="1600"/>
              <a:t>Результаты опроса удовлетворенности коммуникацией среди топов: 90%+ (высокие)</a:t>
            </a:r>
          </a:p>
          <a:p>
            <a:pPr marL="400000" indent="-200000">
              <a:lnSpc>
                <a:spcPct val="105000"/>
              </a:lnSpc>
              <a:spcAft>
                <a:spcPts val="500"/>
              </a:spcAft>
              <a:buChar char="•"/>
              <a:defRPr sz="1600"/>
            </a:pPr>
            <a:r>
              <a:rPr sz="1600"/>
              <a:t>Глобальная цель 2030: работающая, прозрачная коммуникационная система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442913" y="6384626"/>
            <a:ext cx="11198224" cy="260000"/>
          </a:xfrm>
        </p:spPr>
        <p:txBody>
          <a:bodyPr/>
          <a:lstStyle/>
          <a:p>
            <a:r>
              <a:t>A3 Presentation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913" y="671247"/>
            <a:ext cx="11198224" cy="849883"/>
          </a:xfr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800"/>
            </a:pPr>
            <a:r>
              <a:rPr sz="2800"/>
              <a:t>10. Риски и митигация (1)</a:t>
            </a:r>
          </a:p>
        </p:txBody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442914" y="1701130"/>
          <a:ext cx="11198224" cy="4503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67037"/>
                <a:gridCol w="1567751"/>
                <a:gridCol w="6263436"/>
              </a:tblGrid>
              <a:tr h="3200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Риск</a:t>
                      </a:r>
                    </a:p>
                  </a:txBody>
                  <a:tcPr marL="40000" marR="40000" marT="20000" marB="20000">
                    <a:solidFill>
                      <a:srgbClr val="1D355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Вероятность</a:t>
                      </a:r>
                    </a:p>
                  </a:txBody>
                  <a:tcPr marL="40000" marR="40000" marT="20000" marB="20000">
                    <a:solidFill>
                      <a:srgbClr val="1D355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Митигация</a:t>
                      </a:r>
                    </a:p>
                  </a:txBody>
                  <a:tcPr marL="40000" marR="40000" marT="20000" marB="20000">
                    <a:solidFill>
                      <a:srgbClr val="1D3557"/>
                    </a:solidFill>
                  </a:tcPr>
                </a:tc>
              </a:tr>
              <a:tr h="320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Сбер/ВТБ строят собственную инфраструктуру</a:t>
                      </a:r>
                    </a:p>
                  </a:txBody>
                  <a:tcPr marL="40000" marR="40000" marT="20000" marB="20000">
                    <a:solidFill>
                      <a:srgbClr val="EBF3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Средняя</a:t>
                      </a:r>
                    </a:p>
                  </a:txBody>
                  <a:tcPr marL="40000" marR="40000" marT="20000" marB="20000">
                    <a:solidFill>
                      <a:srgbClr val="EBF3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Развитие уникальных технологий (HH, Notification), углубление экосистемы партнёрств</a:t>
                      </a:r>
                    </a:p>
                  </a:txBody>
                  <a:tcPr marL="40000" marR="40000" marT="20000" marB="20000">
                    <a:solidFill>
                      <a:srgbClr val="EBF3FE"/>
                    </a:solidFill>
                  </a:tcPr>
                </a:tc>
              </a:tr>
              <a:tr h="320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Регуляторные изменения ЦБ</a:t>
                      </a:r>
                    </a:p>
                  </a:txBody>
                  <a:tcPr marL="40000" marR="40000" marT="20000" marB="20000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Средняя</a:t>
                      </a:r>
                    </a:p>
                  </a:txBody>
                  <a:tcPr marL="40000" marR="40000" marT="20000" marB="20000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Проактивный мониторинг, РНКО как инструмент независимости</a:t>
                      </a:r>
                    </a:p>
                  </a:txBody>
                  <a:tcPr marL="40000" marR="40000" marT="20000" marB="20000">
                    <a:solidFill>
                      <a:srgbClr val="F5F7FA"/>
                    </a:solidFill>
                  </a:tcPr>
                </a:tc>
              </a:tr>
              <a:tr h="320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Уход ключевых партнеров (ПСБ и др.)</a:t>
                      </a:r>
                    </a:p>
                  </a:txBody>
                  <a:tcPr marL="40000" marR="40000" marT="20000" marB="20000">
                    <a:solidFill>
                      <a:srgbClr val="EBF3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Низкая</a:t>
                      </a:r>
                    </a:p>
                  </a:txBody>
                  <a:tcPr marL="40000" marR="40000" marT="20000" marB="20000">
                    <a:solidFill>
                      <a:srgbClr val="EBF3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Диверсификация: цель доля Альфы &lt;40%, рост Т Банк / ВТБ / Совкомбанк</a:t>
                      </a:r>
                    </a:p>
                  </a:txBody>
                  <a:tcPr marL="40000" marR="40000" marT="20000" marB="20000">
                    <a:solidFill>
                      <a:srgbClr val="EBF3FE"/>
                    </a:solidFill>
                  </a:tcPr>
                </a:tc>
              </a:tr>
              <a:tr h="320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Отмена реестра российского ПО</a:t>
                      </a:r>
                    </a:p>
                  </a:txBody>
                  <a:tcPr marL="40000" marR="40000" marT="20000" marB="20000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Средняя</a:t>
                      </a:r>
                    </a:p>
                  </a:txBody>
                  <a:tcPr marL="40000" marR="40000" marT="20000" marB="20000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Альтернативные модели налоговой оптимизации, SaaS-структура</a:t>
                      </a:r>
                    </a:p>
                  </a:txBody>
                  <a:tcPr marL="40000" marR="40000" marT="20000" marB="20000">
                    <a:solidFill>
                      <a:srgbClr val="F5F7FA"/>
                    </a:solidFill>
                  </a:tcPr>
                </a:tc>
              </a:tr>
              <a:tr h="320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AI у конкурентов — потеря техно преимущества</a:t>
                      </a:r>
                    </a:p>
                  </a:txBody>
                  <a:tcPr marL="40000" marR="40000" marT="20000" marB="20000">
                    <a:solidFill>
                      <a:srgbClr val="EBF3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Средняя</a:t>
                      </a:r>
                    </a:p>
                  </a:txBody>
                  <a:tcPr marL="40000" marR="40000" marT="20000" marB="20000">
                    <a:solidFill>
                      <a:srgbClr val="EBF3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Инвестиции в AI внутри команды, R&amp;D фабрика гипотез</a:t>
                      </a:r>
                    </a:p>
                  </a:txBody>
                  <a:tcPr marL="40000" marR="40000" marT="20000" marB="20000">
                    <a:solidFill>
                      <a:srgbClr val="EBF3FE"/>
                    </a:solidFill>
                  </a:tcPr>
                </a:tc>
              </a:tr>
            </a:tbl>
          </a:graphicData>
        </a:graphic>
      </p:graphicFrame>
      <p:sp>
        <p:nvSpPr>
          <p:cNvPr id="7" name="Text Placeholder 6"/>
          <p:cNvSpPr>
            <a:spLocks noGrp="1"/>
          </p:cNvSpPr>
          <p:nvPr>
            <p:ph type="body" idx="15" sz="quarter"/>
          </p:nvPr>
        </p:nvSpPr>
        <p:spPr>
          <a:xfrm>
            <a:off x="442913" y="6384626"/>
            <a:ext cx="11198224" cy="260000"/>
          </a:xfrm>
        </p:spPr>
        <p:txBody>
          <a:bodyPr/>
          <a:lstStyle/>
          <a:p>
            <a:r>
              <a:t>A3 Presentation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913" y="671247"/>
            <a:ext cx="11198224" cy="849883"/>
          </a:xfr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800"/>
            </a:pPr>
            <a:r>
              <a:rPr sz="2800"/>
              <a:t>10. Риски и митигация (2)</a:t>
            </a:r>
          </a:p>
        </p:txBody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442914" y="1701130"/>
          <a:ext cx="11198224" cy="4503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43949"/>
                <a:gridCol w="1567751"/>
                <a:gridCol w="6486524"/>
              </a:tblGrid>
              <a:tr h="32000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Риск</a:t>
                      </a:r>
                    </a:p>
                  </a:txBody>
                  <a:tcPr marL="40000" marR="40000" marT="20000" marB="20000">
                    <a:solidFill>
                      <a:srgbClr val="1D355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Вероятность</a:t>
                      </a:r>
                    </a:p>
                  </a:txBody>
                  <a:tcPr marL="40000" marR="40000" marT="20000" marB="20000">
                    <a:solidFill>
                      <a:srgbClr val="1D355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Митигация</a:t>
                      </a:r>
                    </a:p>
                  </a:txBody>
                  <a:tcPr marL="40000" marR="40000" marT="20000" marB="20000">
                    <a:solidFill>
                      <a:srgbClr val="1D3557"/>
                    </a:solidFill>
                  </a:tcPr>
                </a:tc>
              </a:tr>
              <a:tr h="320000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81C4F"/>
                          </a:solidFill>
                        </a:rPr>
                        <a:t>Ужесточение налоговой политики</a:t>
                      </a:r>
                    </a:p>
                  </a:txBody>
                  <a:tcPr marL="40000" marR="40000" marT="20000" marB="20000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81C4F"/>
                          </a:solidFill>
                        </a:rPr>
                        <a:t>Средняя</a:t>
                      </a:r>
                    </a:p>
                  </a:txBody>
                  <a:tcPr marL="40000" marR="40000" marT="20000" marB="20000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81C4F"/>
                          </a:solidFill>
                        </a:rPr>
                        <a:t>Сценарий с отменой льготы по ФОТ уже заложен в бюджет</a:t>
                      </a:r>
                    </a:p>
                  </a:txBody>
                  <a:tcPr marL="40000" marR="40000" marT="20000" marB="20000">
                    <a:solidFill>
                      <a:srgbClr val="F5F7FA"/>
                    </a:solidFill>
                  </a:tcPr>
                </a:tc>
              </a:tr>
              <a:tr h="320000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81C4F"/>
                          </a:solidFill>
                        </a:rPr>
                        <a:t>Задержка РНКО на год</a:t>
                      </a:r>
                    </a:p>
                  </a:txBody>
                  <a:tcPr marL="40000" marR="40000" marT="20000" marB="20000">
                    <a:solidFill>
                      <a:srgbClr val="EBF3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81C4F"/>
                          </a:solidFill>
                        </a:rPr>
                        <a:t>Средняя</a:t>
                      </a:r>
                    </a:p>
                  </a:txBody>
                  <a:tcPr marL="40000" marR="40000" marT="20000" marB="20000">
                    <a:solidFill>
                      <a:srgbClr val="EBF3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81C4F"/>
                          </a:solidFill>
                        </a:rPr>
                        <a:t>Скорректировать стратегию, не менять — альтернативы есть</a:t>
                      </a:r>
                    </a:p>
                  </a:txBody>
                  <a:tcPr marL="40000" marR="40000" marT="20000" marB="20000">
                    <a:solidFill>
                      <a:srgbClr val="EBF3FE"/>
                    </a:solidFill>
                  </a:tcPr>
                </a:tc>
              </a:tr>
              <a:tr h="320000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81C4F"/>
                          </a:solidFill>
                        </a:rPr>
                        <a:t>Рост негатива из-за СМЭВ-согласий</a:t>
                      </a:r>
                    </a:p>
                  </a:txBody>
                  <a:tcPr marL="40000" marR="40000" marT="20000" marB="20000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81C4F"/>
                          </a:solidFill>
                        </a:rPr>
                        <a:t>Средняя</a:t>
                      </a:r>
                    </a:p>
                  </a:txBody>
                  <a:tcPr marL="40000" marR="40000" marT="20000" marB="20000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81C4F"/>
                          </a:solidFill>
                        </a:rPr>
                        <a:t>Коммуникационная стратегия, работа с брендом</a:t>
                      </a:r>
                    </a:p>
                  </a:txBody>
                  <a:tcPr marL="40000" marR="40000" marT="20000" marB="20000">
                    <a:solidFill>
                      <a:srgbClr val="F5F7FA"/>
                    </a:solidFill>
                  </a:tcPr>
                </a:tc>
              </a:tr>
              <a:tr h="320000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81C4F"/>
                          </a:solidFill>
                        </a:rPr>
                        <a:t>Потеря доступа к данным ГИС ЖКХ, ГИС ГМП, СМЭВ</a:t>
                      </a:r>
                    </a:p>
                  </a:txBody>
                  <a:tcPr marL="40000" marR="40000" marT="20000" marB="20000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81C4F"/>
                          </a:solidFill>
                        </a:rPr>
                        <a:t>Низкая</a:t>
                      </a:r>
                    </a:p>
                  </a:txBody>
                  <a:tcPr marL="40000" marR="40000" marT="20000" marB="20000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81C4F"/>
                          </a:solidFill>
                        </a:rPr>
                        <a:t>Переводим поставщиков на прямые договоры, выстраиваем альтернативные источники получения данных</a:t>
                      </a:r>
                    </a:p>
                  </a:txBody>
                  <a:tcPr marL="40000" marR="40000" marT="20000" marB="20000">
                    <a:solidFill>
                      <a:srgbClr val="F5F7FA"/>
                    </a:solidFill>
                  </a:tcPr>
                </a:tc>
              </a:tr>
              <a:tr h="320000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81C4F"/>
                          </a:solidFill>
                        </a:rPr>
                        <a:t>Макроэкономические факторы: высокая ключевая ставка ЦБ ~15%, инфляция, санкционное давление</a:t>
                      </a:r>
                    </a:p>
                  </a:txBody>
                  <a:tcPr marL="40000" marR="40000" marT="20000" marB="20000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81C4F"/>
                          </a:solidFill>
                        </a:rPr>
                        <a:t>Высокая</a:t>
                      </a:r>
                    </a:p>
                  </a:txBody>
                  <a:tcPr marL="40000" marR="40000" marT="20000" marB="20000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81C4F"/>
                          </a:solidFill>
                        </a:rPr>
                        <a:t>Несмотря на высокую вероятность сохранения текущего макроэкономического давления, для ЖКХ и регулярных обязательных платежей — это плюс (обязательные, не зависят от цикла), поэтому наш бизнес - антицикличен, GMV будет продолжать расти от роста инфляции</a:t>
                      </a:r>
                    </a:p>
                  </a:txBody>
                  <a:tcPr marL="40000" marR="40000" marT="20000" marB="20000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7" name="Text Placeholder 6"/>
          <p:cNvSpPr>
            <a:spLocks noGrp="1"/>
          </p:cNvSpPr>
          <p:nvPr>
            <p:ph type="body" idx="15" sz="quarter"/>
          </p:nvPr>
        </p:nvSpPr>
        <p:spPr>
          <a:xfrm>
            <a:off x="442913" y="6384626"/>
            <a:ext cx="11198224" cy="260000"/>
          </a:xfrm>
        </p:spPr>
        <p:txBody>
          <a:bodyPr/>
          <a:lstStyle/>
          <a:p>
            <a:r>
              <a:t>A3 Presentation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913" y="671247"/>
            <a:ext cx="11198224" cy="849883"/>
          </a:xfr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600"/>
            </a:pPr>
            <a:r>
              <a:rPr sz="2800"/>
              <a:t>11. Вопросы и ответы (Q&amp;A)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>
          <a:xfrm>
            <a:off x="442913" y="1821130"/>
            <a:ext cx="11198224" cy="4383496"/>
          </a:xfrm>
        </p:spPr>
        <p:txBody>
          <a:bodyPr wrap="square">
            <a:normAutofit/>
          </a:bodyPr>
          <a:lstStyle/>
          <a:p>
            <a:pPr marL="400000" indent="-200000">
              <a:lnSpc>
                <a:spcPct val="105000"/>
              </a:lnSpc>
              <a:spcAft>
                <a:spcPts val="500"/>
              </a:spcAft>
              <a:buChar char="•"/>
              <a:defRPr sz="1600"/>
            </a:pPr>
            <a:r>
              <a:rPr sz="1600"/>
              <a:t>Поставили выбор в понятную рамку: НДС сверху или нетранзакционная модель</a:t>
            </a:r>
          </a:p>
          <a:p>
            <a:pPr marL="400000" indent="-200000">
              <a:lnSpc>
                <a:spcPct val="105000"/>
              </a:lnSpc>
              <a:spcAft>
                <a:spcPts val="500"/>
              </a:spcAft>
              <a:buChar char="•"/>
              <a:defRPr sz="1600"/>
            </a:pPr>
            <a:r>
              <a:rPr sz="1600"/>
              <a:t>Для крупных банков второй вариант прозрачнее и выгоднее — предсказуемая экономика</a:t>
            </a:r>
          </a:p>
          <a:p>
            <a:pPr marL="400000" indent="-200000">
              <a:lnSpc>
                <a:spcPct val="105000"/>
              </a:lnSpc>
              <a:spcAft>
                <a:spcPts val="500"/>
              </a:spcAft>
              <a:buChar char="•"/>
              <a:defRPr sz="1600"/>
            </a:pPr>
            <a:r>
              <a:rPr sz="1600"/>
              <a:t>Все системные партнеры выбрали нетранзакционные без возражений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442913" y="6384626"/>
            <a:ext cx="11198224" cy="260000"/>
          </a:xfrm>
        </p:spPr>
        <p:txBody>
          <a:bodyPr/>
          <a:lstStyle/>
          <a:p>
            <a:r>
              <a:t>A3 Presentation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913" y="671247"/>
            <a:ext cx="11198224" cy="849883"/>
          </a:xfr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600"/>
            </a:pPr>
            <a:r>
              <a:rPr sz="2800"/>
              <a:t>Q2: Вы зависите от крупных партнёров. Что если один уйдет?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>
          <a:xfrm>
            <a:off x="442913" y="1821130"/>
            <a:ext cx="11198224" cy="4383496"/>
          </a:xfrm>
        </p:spPr>
        <p:txBody>
          <a:bodyPr wrap="square">
            <a:normAutofit/>
          </a:bodyPr>
          <a:lstStyle/>
          <a:p>
            <a:pPr marL="400000" indent="-200000">
              <a:lnSpc>
                <a:spcPct val="105000"/>
              </a:lnSpc>
              <a:spcAft>
                <a:spcPts val="500"/>
              </a:spcAft>
              <a:buChar char="•"/>
              <a:defRPr sz="1500"/>
            </a:pPr>
            <a:r>
              <a:rPr sz="1500"/>
              <a:t>Концентрация только по Альфе: 48.7% трафика. Остальные: Озон 10.7%, ВТБ 9.8%, Т Банк 6.2%, Райф 5.6%, ГПБ 7.4%</a:t>
            </a:r>
          </a:p>
          <a:p>
            <a:pPr marL="400000" indent="-200000">
              <a:lnSpc>
                <a:spcPct val="105000"/>
              </a:lnSpc>
              <a:spcAft>
                <a:spcPts val="500"/>
              </a:spcAft>
              <a:buChar char="•"/>
              <a:defRPr sz="1500"/>
            </a:pPr>
            <a:r>
              <a:rPr sz="1500"/>
              <a:t>Сотовые операторы: у Альфы нет быстрых и недорогих альтернатив — экономически переход нерационален при текущих объемах</a:t>
            </a:r>
          </a:p>
          <a:p>
            <a:pPr marL="400000" indent="-200000">
              <a:lnSpc>
                <a:spcPct val="105000"/>
              </a:lnSpc>
              <a:spcAft>
                <a:spcPts val="500"/>
              </a:spcAft>
              <a:buChar char="•"/>
              <a:defRPr sz="1500"/>
            </a:pPr>
            <a:r>
              <a:rPr sz="1500"/>
              <a:t>ЖКХ: единственный конкурент — Сбер, но у нас подписки и высокий cost of switch</a:t>
            </a:r>
          </a:p>
          <a:p>
            <a:pPr marL="400000" indent="-200000">
              <a:lnSpc>
                <a:spcPct val="105000"/>
              </a:lnSpc>
              <a:spcAft>
                <a:spcPts val="500"/>
              </a:spcAft>
              <a:buChar char="•"/>
              <a:defRPr sz="1500"/>
            </a:pPr>
            <a:r>
              <a:rPr sz="1500"/>
              <a:t>Вывод: риск управляемый и невысокий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442913" y="6384626"/>
            <a:ext cx="11198224" cy="260000"/>
          </a:xfrm>
        </p:spPr>
        <p:txBody>
          <a:bodyPr/>
          <a:lstStyle/>
          <a:p>
            <a:r>
              <a:t>A3 Presentation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913" y="671247"/>
            <a:ext cx="11198224" cy="849883"/>
          </a:xfr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600"/>
            </a:pPr>
            <a:r>
              <a:rPr sz="2800"/>
              <a:t>Q3: Почему доля Альфы снизится до &lt;40%?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>
          <a:xfrm>
            <a:off x="442913" y="1821130"/>
            <a:ext cx="11198224" cy="4383496"/>
          </a:xfrm>
        </p:spPr>
        <p:txBody>
          <a:bodyPr wrap="square">
            <a:normAutofit/>
          </a:bodyPr>
          <a:lstStyle/>
          <a:p>
            <a:pPr marL="400000" indent="-200000">
              <a:lnSpc>
                <a:spcPct val="105000"/>
              </a:lnSpc>
              <a:spcAft>
                <a:spcPts val="500"/>
              </a:spcAft>
              <a:buChar char="•"/>
              <a:defRPr sz="1600"/>
            </a:pPr>
            <a:r>
              <a:rPr sz="1600"/>
              <a:t>Т-Банк: финальная стадия подписочного протокола — нетранзакционные доходы + новый объём</a:t>
            </a:r>
          </a:p>
          <a:p>
            <a:pPr marL="400000" indent="-200000">
              <a:lnSpc>
                <a:spcPct val="105000"/>
              </a:lnSpc>
              <a:spcAft>
                <a:spcPts val="500"/>
              </a:spcAft>
              <a:buChar char="•"/>
              <a:defRPr sz="1600"/>
            </a:pPr>
            <a:r>
              <a:rPr sz="1600"/>
              <a:t>ВТБ: запуск подписок по адресу — рост в обоих направлениях</a:t>
            </a:r>
          </a:p>
          <a:p>
            <a:pPr marL="400000" indent="-200000">
              <a:lnSpc>
                <a:spcPct val="105000"/>
              </a:lnSpc>
              <a:spcAft>
                <a:spcPts val="500"/>
              </a:spcAft>
              <a:buChar char="•"/>
              <a:defRPr sz="1600"/>
            </a:pPr>
            <a:r>
              <a:rPr sz="1600"/>
              <a:t>Совкомбанк: новый партнер 2025 года, потенциал выхода в Топ-3 по объёму. Запуск и развитие необанков: ОЗОН, WB, Яндекс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442913" y="6384626"/>
            <a:ext cx="11198224" cy="260000"/>
          </a:xfrm>
        </p:spPr>
        <p:txBody>
          <a:bodyPr/>
          <a:lstStyle/>
          <a:p>
            <a:r>
              <a:t>A3 Presentation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913" y="671247"/>
            <a:ext cx="11198224" cy="849883"/>
          </a:xfr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600"/>
            </a:pPr>
            <a:r>
              <a:rPr sz="2800"/>
              <a:t>Q4: Почему нетранзакционка вырастет?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>
          <a:xfrm>
            <a:off x="442913" y="1821130"/>
            <a:ext cx="11198224" cy="4383496"/>
          </a:xfrm>
        </p:spPr>
        <p:txBody>
          <a:bodyPr wrap="square">
            <a:normAutofit/>
          </a:bodyPr>
          <a:lstStyle/>
          <a:p>
            <a:pPr marL="400000" indent="-200000">
              <a:lnSpc>
                <a:spcPct val="105000"/>
              </a:lnSpc>
              <a:spcAft>
                <a:spcPts val="500"/>
              </a:spcAft>
              <a:buChar char="•"/>
              <a:defRPr sz="1500"/>
            </a:pPr>
            <a:r>
              <a:rPr sz="1500"/>
              <a:t>Партнёры активно наращивают подписки — оттока нет</a:t>
            </a:r>
          </a:p>
          <a:p>
            <a:pPr marL="400000" indent="-200000">
              <a:lnSpc>
                <a:spcPct val="105000"/>
              </a:lnSpc>
              <a:spcAft>
                <a:spcPts val="500"/>
              </a:spcAft>
              <a:buChar char="•"/>
              <a:defRPr sz="1500"/>
            </a:pPr>
            <a:r>
              <a:rPr sz="1500"/>
              <a:t>Новые банки и сервисы подключаются</a:t>
            </a:r>
          </a:p>
          <a:p>
            <a:pPr marL="400000" indent="-200000">
              <a:lnSpc>
                <a:spcPct val="105000"/>
              </a:lnSpc>
              <a:spcAft>
                <a:spcPts val="500"/>
              </a:spcAft>
              <a:buChar char="•"/>
              <a:defRPr sz="1500"/>
            </a:pPr>
            <a:r>
              <a:rPr sz="1500"/>
              <a:t>Регуляторные изменения СМЭВ подталкивают к нашему шлюзу</a:t>
            </a:r>
          </a:p>
          <a:p>
            <a:pPr marL="400000" indent="-200000">
              <a:lnSpc>
                <a:spcPct val="105000"/>
              </a:lnSpc>
              <a:spcAft>
                <a:spcPts val="500"/>
              </a:spcAft>
              <a:buChar char="•"/>
              <a:defRPr sz="1500"/>
            </a:pPr>
            <a:r>
              <a:rPr sz="1500"/>
              <a:t>80% нетранзакционной выручки 2026 уже законтрактовано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442913" y="6384626"/>
            <a:ext cx="11198224" cy="260000"/>
          </a:xfrm>
        </p:spPr>
        <p:txBody>
          <a:bodyPr/>
          <a:lstStyle/>
          <a:p>
            <a:r>
              <a:t>A3 Presentation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913" y="671247"/>
            <a:ext cx="11198224" cy="849883"/>
          </a:xfr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600"/>
            </a:pPr>
            <a:r>
              <a:rPr sz="2800"/>
              <a:t>Q5: Что произойдёт с маржой при росте?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>
          <a:xfrm>
            <a:off x="442913" y="1821130"/>
            <a:ext cx="11198224" cy="4383496"/>
          </a:xfrm>
        </p:spPr>
        <p:txBody>
          <a:bodyPr wrap="square">
            <a:normAutofit/>
          </a:bodyPr>
          <a:lstStyle/>
          <a:p>
            <a:pPr marL="400000" indent="-200000">
              <a:lnSpc>
                <a:spcPct val="105000"/>
              </a:lnSpc>
              <a:spcAft>
                <a:spcPts val="500"/>
              </a:spcAft>
              <a:buChar char="•"/>
              <a:defRPr sz="1600"/>
            </a:pPr>
            <a:r>
              <a:rPr sz="1600"/>
              <a:t>Маржа зависит от структуры роста — какие партнёры и продукты</a:t>
            </a:r>
          </a:p>
          <a:p>
            <a:pPr marL="400000" indent="-200000">
              <a:lnSpc>
                <a:spcPct val="105000"/>
              </a:lnSpc>
              <a:spcAft>
                <a:spcPts val="500"/>
              </a:spcAft>
              <a:buChar char="•"/>
              <a:defRPr sz="1600"/>
            </a:pPr>
            <a:r>
              <a:rPr sz="1600"/>
              <a:t>Год-к-году маржинальность остаётся стабильной, существенных колебаний нет</a:t>
            </a:r>
          </a:p>
          <a:p>
            <a:pPr marL="400000" indent="-200000">
              <a:lnSpc>
                <a:spcPct val="105000"/>
              </a:lnSpc>
              <a:spcAft>
                <a:spcPts val="500"/>
              </a:spcAft>
              <a:buChar char="•"/>
              <a:defRPr sz="1600"/>
            </a:pPr>
            <a:r>
              <a:rPr sz="1600"/>
              <a:t>Внешние факторы: НДС, стоимость СМЭВ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442913" y="6384626"/>
            <a:ext cx="11198224" cy="260000"/>
          </a:xfrm>
        </p:spPr>
        <p:txBody>
          <a:bodyPr/>
          <a:lstStyle/>
          <a:p>
            <a:r>
              <a:t>A3 Presentation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913" y="671247"/>
            <a:ext cx="11198224" cy="849883"/>
          </a:xfr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600"/>
            </a:pPr>
            <a:r>
              <a:rPr sz="2800"/>
              <a:t>Q6: РНКО — что если задержка или отказ?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>
          <a:xfrm>
            <a:off x="442913" y="1821130"/>
            <a:ext cx="11198224" cy="4383496"/>
          </a:xfrm>
        </p:spPr>
        <p:txBody>
          <a:bodyPr wrap="square">
            <a:normAutofit/>
          </a:bodyPr>
          <a:lstStyle/>
          <a:p>
            <a:pPr marL="400000" indent="-200000">
              <a:lnSpc>
                <a:spcPct val="105000"/>
              </a:lnSpc>
              <a:spcAft>
                <a:spcPts val="500"/>
              </a:spcAft>
              <a:buChar char="•"/>
              <a:defRPr sz="1600"/>
            </a:pPr>
            <a:r>
              <a:rPr sz="1600"/>
              <a:t>Задержка на год: замедлит рост, не меняет стратегию</a:t>
            </a:r>
          </a:p>
          <a:p>
            <a:pPr marL="400000" indent="-200000">
              <a:lnSpc>
                <a:spcPct val="105000"/>
              </a:lnSpc>
              <a:spcAft>
                <a:spcPts val="500"/>
              </a:spcAft>
              <a:buChar char="•"/>
              <a:defRPr sz="1600"/>
            </a:pPr>
            <a:r>
              <a:rPr sz="1600"/>
              <a:t>Отказ в лицензии: либо отказаться от РНКО, либо купить — альтернативы есть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442913" y="6384626"/>
            <a:ext cx="11198224" cy="260000"/>
          </a:xfrm>
        </p:spPr>
        <p:txBody>
          <a:bodyPr/>
          <a:lstStyle/>
          <a:p>
            <a:r>
              <a:t>A3 Presentation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913" y="671247"/>
            <a:ext cx="11198224" cy="849883"/>
          </a:xfr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600"/>
            </a:pPr>
            <a:r>
              <a:rPr sz="2800"/>
              <a:t>Q7: Приоритет №1 среди инициатив?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>
          <a:xfrm>
            <a:off x="442913" y="1821130"/>
            <a:ext cx="11198224" cy="4383496"/>
          </a:xfrm>
        </p:spPr>
        <p:txBody>
          <a:bodyPr wrap="square">
            <a:normAutofit/>
          </a:bodyPr>
          <a:lstStyle/>
          <a:p>
            <a:pPr marL="400000" indent="-200000">
              <a:lnSpc>
                <a:spcPct val="105000"/>
              </a:lnSpc>
              <a:spcAft>
                <a:spcPts val="500"/>
              </a:spcAft>
              <a:buChar char="•"/>
              <a:defRPr sz="1600"/>
            </a:pPr>
            <a:r>
              <a:rPr sz="1600"/>
              <a:t>Приоритет №1 — перевод транзакционной выручки в SaaS и развитие РНКО</a:t>
            </a:r>
          </a:p>
          <a:p>
            <a:pPr marL="400000" indent="-200000">
              <a:lnSpc>
                <a:spcPct val="105000"/>
              </a:lnSpc>
              <a:spcAft>
                <a:spcPts val="500"/>
              </a:spcAft>
              <a:buChar char="•"/>
              <a:defRPr sz="1600"/>
            </a:pPr>
            <a:r>
              <a:rPr sz="1600"/>
              <a:t>Большинство инициатив логически связаны (HH/Notification продаются через SaaS)</a:t>
            </a:r>
          </a:p>
          <a:p>
            <a:pPr marL="400000" indent="-200000">
              <a:lnSpc>
                <a:spcPct val="105000"/>
              </a:lnSpc>
              <a:spcAft>
                <a:spcPts val="500"/>
              </a:spcAft>
              <a:buChar char="•"/>
              <a:defRPr sz="1600"/>
            </a:pPr>
            <a:r>
              <a:rPr sz="1600"/>
              <a:t>Ответственность разделена между топ-менеджерами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442913" y="6384626"/>
            <a:ext cx="11198224" cy="260000"/>
          </a:xfrm>
        </p:spPr>
        <p:txBody>
          <a:bodyPr/>
          <a:lstStyle/>
          <a:p>
            <a:r>
              <a:t>A3 Presentation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913" y="671247"/>
            <a:ext cx="11198224" cy="849883"/>
          </a:xfr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600"/>
            </a:pPr>
            <a:r>
              <a:rPr sz="2800"/>
              <a:t>Q8: Где доказали умение запускать новые продукты?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>
          <a:xfrm>
            <a:off x="442913" y="1821130"/>
            <a:ext cx="11198224" cy="4383496"/>
          </a:xfrm>
        </p:spPr>
        <p:txBody>
          <a:bodyPr wrap="square">
            <a:normAutofit/>
          </a:bodyPr>
          <a:lstStyle/>
          <a:p>
            <a:pPr marL="400000" indent="-200000">
              <a:lnSpc>
                <a:spcPct val="105000"/>
              </a:lnSpc>
              <a:spcAft>
                <a:spcPts val="500"/>
              </a:spcAft>
              <a:buChar char="•"/>
              <a:defRPr sz="1600"/>
            </a:pPr>
            <a:r>
              <a:rPr sz="1600"/>
              <a:t>HH и Notification — полностью новые для рынка решения, запущены с нуля</a:t>
            </a:r>
          </a:p>
          <a:p>
            <a:pPr marL="400000" indent="-200000">
              <a:lnSpc>
                <a:spcPct val="105000"/>
              </a:lnSpc>
              <a:spcAft>
                <a:spcPts val="500"/>
              </a:spcAft>
              <a:buChar char="•"/>
              <a:defRPr sz="1600"/>
            </a:pPr>
            <a:r>
              <a:rPr sz="1600"/>
              <a:t>Масштабированы до внедрения в нескольких крупных банках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442913" y="6384626"/>
            <a:ext cx="11198224" cy="260000"/>
          </a:xfrm>
        </p:spPr>
        <p:txBody>
          <a:bodyPr/>
          <a:lstStyle/>
          <a:p>
            <a:r>
              <a:t>A3 Presentation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913" y="671247"/>
            <a:ext cx="11198224" cy="849883"/>
          </a:xfr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600"/>
            </a:pPr>
            <a:r>
              <a:rPr sz="2800"/>
              <a:t>Q9: Почему pipeline из 50 идей даст деньги?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>
          <a:xfrm>
            <a:off x="442913" y="1821130"/>
            <a:ext cx="11198224" cy="4383496"/>
          </a:xfrm>
        </p:spPr>
        <p:txBody>
          <a:bodyPr wrap="square">
            <a:normAutofit/>
          </a:bodyPr>
          <a:lstStyle/>
          <a:p>
            <a:pPr marL="400000" indent="-200000">
              <a:lnSpc>
                <a:spcPct val="105000"/>
              </a:lnSpc>
              <a:spcAft>
                <a:spcPts val="500"/>
              </a:spcAft>
              <a:buChar char="•"/>
              <a:defRPr sz="1600"/>
            </a:pPr>
            <a:r>
              <a:rPr sz="1600"/>
              <a:t>Pipeline — воронка, а не список задач</a:t>
            </a:r>
          </a:p>
          <a:p>
            <a:pPr marL="400000" indent="-200000">
              <a:lnSpc>
                <a:spcPct val="105000"/>
              </a:lnSpc>
              <a:spcAft>
                <a:spcPts val="500"/>
              </a:spcAft>
              <a:buChar char="•"/>
              <a:defRPr sz="1600"/>
            </a:pPr>
            <a:r>
              <a:rPr sz="1600"/>
              <a:t>Деньги принесут 2–4 выстреливших продукта, не все 50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442913" y="6384626"/>
            <a:ext cx="11198224" cy="260000"/>
          </a:xfrm>
        </p:spPr>
        <p:txBody>
          <a:bodyPr/>
          <a:lstStyle/>
          <a:p>
            <a:r>
              <a:t>A3 Presentation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913" y="671247"/>
            <a:ext cx="11198224" cy="849883"/>
          </a:xfr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600"/>
            </a:pPr>
            <a:r>
              <a:rPr sz="2800"/>
              <a:t>Q10: Зачем собственная инфраструктура (Poseidon, 2-й ЦОД)?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>
          <a:xfrm>
            <a:off x="442913" y="1821130"/>
            <a:ext cx="11198224" cy="4383496"/>
          </a:xfrm>
        </p:spPr>
        <p:txBody>
          <a:bodyPr wrap="square">
            <a:normAutofit/>
          </a:bodyPr>
          <a:lstStyle/>
          <a:p>
            <a:pPr marL="400000" indent="-200000">
              <a:lnSpc>
                <a:spcPct val="105000"/>
              </a:lnSpc>
              <a:spcAft>
                <a:spcPts val="500"/>
              </a:spcAft>
              <a:buChar char="•"/>
              <a:defRPr sz="1500"/>
            </a:pPr>
            <a:r>
              <a:rPr sz="1500"/>
              <a:t>Контроль SLA: uptime 99.95% невозможно гарантировать через внешние решения</a:t>
            </a:r>
          </a:p>
          <a:p>
            <a:pPr marL="400000" indent="-200000">
              <a:lnSpc>
                <a:spcPct val="105000"/>
              </a:lnSpc>
              <a:spcAft>
                <a:spcPts val="500"/>
              </a:spcAft>
              <a:buChar char="•"/>
              <a:defRPr sz="1500"/>
            </a:pPr>
            <a:r>
              <a:rPr sz="1500"/>
              <a:t>Независимость от вендоров: критично для финансовой инфраструктуры</a:t>
            </a:r>
          </a:p>
          <a:p>
            <a:pPr marL="400000" indent="-200000">
              <a:lnSpc>
                <a:spcPct val="105000"/>
              </a:lnSpc>
              <a:spcAft>
                <a:spcPts val="500"/>
              </a:spcAft>
              <a:buChar char="•"/>
              <a:defRPr sz="1500"/>
            </a:pPr>
            <a:r>
              <a:rPr sz="1500"/>
              <a:t>Защита данных: госинтеграции требуют определённого уровня контроля над инфрой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500"/>
            </a:pPr>
            <a:r>
              <a:rPr b="1" i="1" sz="1500"/>
              <a:t>(Детальная аргументация — зона ответственности технологического блока)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442913" y="6384626"/>
            <a:ext cx="11198224" cy="260000"/>
          </a:xfrm>
        </p:spPr>
        <p:txBody>
          <a:bodyPr/>
          <a:lstStyle/>
          <a:p>
            <a:r>
              <a:t>A3 Presentation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913" y="671247"/>
            <a:ext cx="11198224" cy="1731771"/>
          </a:xfr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600"/>
            </a:pPr>
            <a:r>
              <a:rPr sz="2800"/>
              <a:t>Q11: Вопрос – зачем нам нужны малые банки? Почему мы их считаем целевыми? С учетом 95% выручки А3 – в топ 10-20 банках.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>
          <a:xfrm>
            <a:off x="442913" y="2703018"/>
            <a:ext cx="11198224" cy="3501608"/>
          </a:xfrm>
        </p:spPr>
        <p:txBody>
          <a:bodyPr wrap="square">
            <a:normAutofit/>
          </a:bodyPr>
          <a:lstStyle/>
          <a:p>
            <a:pPr marL="400000" indent="-200000">
              <a:lnSpc>
                <a:spcPct val="105000"/>
              </a:lnSpc>
              <a:spcAft>
                <a:spcPts val="500"/>
              </a:spcAft>
              <a:buChar char="•"/>
              <a:defRPr sz="1600"/>
            </a:pPr>
            <a:r>
              <a:rPr sz="1600"/>
              <a:t>Инфраструктурное проникновение</a:t>
            </a:r>
          </a:p>
          <a:p>
            <a:pPr marL="400000" indent="-200000">
              <a:lnSpc>
                <a:spcPct val="105000"/>
              </a:lnSpc>
              <a:spcAft>
                <a:spcPts val="500"/>
              </a:spcAft>
              <a:buChar char="•"/>
              <a:defRPr sz="1600"/>
            </a:pPr>
            <a:r>
              <a:rPr sz="1600"/>
              <a:t>Дополнительный заработок на минимальных контрактах + upsell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442913" y="6384626"/>
            <a:ext cx="11198224" cy="260000"/>
          </a:xfrm>
        </p:spPr>
        <p:txBody>
          <a:bodyPr/>
          <a:lstStyle/>
          <a:p>
            <a:r>
              <a:t>A3 Presentation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913" y="671247"/>
            <a:ext cx="11198224" cy="1290827"/>
          </a:xfr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600"/>
            </a:pPr>
            <a:r>
              <a:rPr sz="2800"/>
              <a:t>Q12: что будете делать, когда подключите 3000 поставщиков в 2028 году?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>
          <a:xfrm>
            <a:off x="442913" y="2262074"/>
            <a:ext cx="11198224" cy="3942552"/>
          </a:xfrm>
        </p:spPr>
        <p:txBody>
          <a:bodyPr wrap="square">
            <a:normAutofit/>
          </a:bodyPr>
          <a:lstStyle/>
          <a:p>
            <a:pPr marL="400000" indent="-200000">
              <a:lnSpc>
                <a:spcPct val="105000"/>
              </a:lnSpc>
              <a:spcAft>
                <a:spcPts val="500"/>
              </a:spcAft>
              <a:buChar char="•"/>
              <a:defRPr sz="1400"/>
            </a:pPr>
            <a:r>
              <a:rPr sz="1400"/>
              <a:t>Будем углублять долю в платежах и подписках в поставщиках. Сейчас средневзвешенная доля в платежах 3,8% и 8,1% - в подписках. Есть потенциал в доп 51-135 млн транзакционного дохода и 24-66 млн нетранзакционного дохода то</a:t>
            </a:r>
          </a:p>
          <a:p>
            <a:pPr marL="400000" indent="-200000">
              <a:lnSpc>
                <a:spcPct val="105000"/>
              </a:lnSpc>
              <a:spcAft>
                <a:spcPts val="500"/>
              </a:spcAft>
              <a:buChar char="•"/>
              <a:defRPr sz="1400"/>
            </a:pPr>
            <a:r>
              <a:rPr sz="1400"/>
              <a:t>Будем выходить на новые рынки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442913" y="6384626"/>
            <a:ext cx="11198224" cy="260000"/>
          </a:xfrm>
        </p:spPr>
        <p:txBody>
          <a:bodyPr/>
          <a:lstStyle/>
          <a:p>
            <a:r>
              <a:t>A3 Presentation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913" y="671247"/>
            <a:ext cx="11198224" cy="849883"/>
          </a:xfr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800"/>
            </a:pPr>
            <a:r>
              <a:rPr sz="2800"/>
              <a:t>12. OKR и ключевые метрики успеха (1)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>
          <a:xfrm>
            <a:off x="442913" y="1701130"/>
            <a:ext cx="11198224" cy="429767"/>
          </a:xfrm>
        </p:spPr>
        <p:txBody>
          <a:bodyPr wrap="square">
            <a:no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  <a:defRPr sz="800"/>
            </a:pPr>
            <a:r>
              <a:rPr sz="1800"/>
              <a:t>Цикл пересмотра стратегии</a:t>
            </a:r>
          </a:p>
        </p:txBody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442914" y="2310897"/>
          <a:ext cx="11198224" cy="38937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03254"/>
                <a:gridCol w="6494970"/>
              </a:tblGrid>
              <a:tr h="223115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Метрика</a:t>
                      </a:r>
                    </a:p>
                  </a:txBody>
                  <a:tcPr marL="40000" marR="40000" marT="20000" marB="20000">
                    <a:solidFill>
                      <a:srgbClr val="1D355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Цель 2026</a:t>
                      </a:r>
                    </a:p>
                  </a:txBody>
                  <a:tcPr marL="40000" marR="40000" marT="20000" marB="20000">
                    <a:solidFill>
                      <a:srgbClr val="1D3557"/>
                    </a:solidFill>
                  </a:tcPr>
                </a:tc>
              </a:tr>
              <a:tr h="223115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Выручка с НДС</a:t>
                      </a:r>
                    </a:p>
                  </a:txBody>
                  <a:tcPr marL="40000" marR="40000" marT="20000" marB="20000">
                    <a:solidFill>
                      <a:srgbClr val="EBF3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2 691 млн ₽ / 2433 млн ₽</a:t>
                      </a:r>
                    </a:p>
                  </a:txBody>
                  <a:tcPr marL="40000" marR="40000" marT="20000" marB="20000">
                    <a:solidFill>
                      <a:srgbClr val="EBF3FE"/>
                    </a:solidFill>
                  </a:tcPr>
                </a:tc>
              </a:tr>
              <a:tr h="223115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Чистая прибыль</a:t>
                      </a:r>
                    </a:p>
                  </a:txBody>
                  <a:tcPr marL="40000" marR="40000" marT="20000" marB="20000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767 млн ₽ / 693 млн ₽</a:t>
                      </a:r>
                    </a:p>
                  </a:txBody>
                  <a:tcPr marL="40000" marR="40000" marT="20000" marB="20000">
                    <a:solidFill>
                      <a:srgbClr val="F5F7FA"/>
                    </a:solidFill>
                  </a:tcPr>
                </a:tc>
              </a:tr>
              <a:tr h="223115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EBITDA</a:t>
                      </a:r>
                    </a:p>
                  </a:txBody>
                  <a:tcPr marL="40000" marR="40000" marT="20000" marB="20000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~1 128–1 163 млн ₽</a:t>
                      </a:r>
                    </a:p>
                  </a:txBody>
                  <a:tcPr marL="40000" marR="40000" marT="20000" marB="20000">
                    <a:solidFill>
                      <a:srgbClr val="F5F7FA"/>
                    </a:solidFill>
                  </a:tcPr>
                </a:tc>
              </a:tr>
              <a:tr h="223115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Нетранзакционный доход</a:t>
                      </a:r>
                    </a:p>
                  </a:txBody>
                  <a:tcPr marL="40000" marR="40000" marT="20000" marB="20000">
                    <a:solidFill>
                      <a:srgbClr val="EBF3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470.3 млн ₽</a:t>
                      </a:r>
                    </a:p>
                  </a:txBody>
                  <a:tcPr marL="40000" marR="40000" marT="20000" marB="20000">
                    <a:solidFill>
                      <a:srgbClr val="EBF3FE"/>
                    </a:solidFill>
                  </a:tcPr>
                </a:tc>
              </a:tr>
              <a:tr h="223115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Доля Альфа-Банка</a:t>
                      </a:r>
                    </a:p>
                  </a:txBody>
                  <a:tcPr marL="40000" marR="40000" marT="20000" marB="20000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&lt; 40%</a:t>
                      </a:r>
                    </a:p>
                  </a:txBody>
                  <a:tcPr marL="40000" marR="40000" marT="20000" marB="20000">
                    <a:solidFill>
                      <a:srgbClr val="F5F7FA"/>
                    </a:solidFill>
                  </a:tcPr>
                </a:tc>
              </a:tr>
              <a:tr h="223115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НДС от выручки</a:t>
                      </a:r>
                    </a:p>
                  </a:txBody>
                  <a:tcPr marL="40000" marR="40000" marT="20000" marB="20000">
                    <a:solidFill>
                      <a:srgbClr val="EBF3FE"/>
                    </a:solidFill>
                  </a:tcPr>
                </a:tc>
                <a:tc>
                  <a:txBody>
                    <a:bodyPr wrap="square"/>
                    <a:lstStyle/>
                    <a:p/>
                  </a:txBody>
                  <a:tcPr marL="40000" marR="40000" marT="20000" marB="20000">
                    <a:solidFill>
                      <a:srgbClr val="EBF3FE"/>
                    </a:solidFill>
                  </a:tcPr>
                </a:tc>
              </a:tr>
              <a:tr h="223115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Партнёры-банки</a:t>
                      </a:r>
                    </a:p>
                  </a:txBody>
                  <a:tcPr marL="40000" marR="40000" marT="20000" marB="20000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58 (+9 новых)</a:t>
                      </a:r>
                    </a:p>
                  </a:txBody>
                  <a:tcPr marL="40000" marR="40000" marT="20000" marB="20000">
                    <a:solidFill>
                      <a:srgbClr val="F5F7FA"/>
                    </a:solidFill>
                  </a:tcPr>
                </a:tc>
              </a:tr>
              <a:tr h="223115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Среднее проникновение продуктов в банках</a:t>
                      </a:r>
                    </a:p>
                  </a:txBody>
                  <a:tcPr marL="40000" marR="40000" marT="20000" marB="20000">
                    <a:solidFill>
                      <a:srgbClr val="EBF3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1.90 (цель 3.4 к 2027)</a:t>
                      </a:r>
                    </a:p>
                  </a:txBody>
                  <a:tcPr marL="40000" marR="40000" marT="20000" marB="20000">
                    <a:solidFill>
                      <a:srgbClr val="EBF3FE"/>
                    </a:solidFill>
                  </a:tcPr>
                </a:tc>
              </a:tr>
              <a:tr h="223115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Новых поставщиков</a:t>
                      </a:r>
                    </a:p>
                  </a:txBody>
                  <a:tcPr marL="40000" marR="40000" marT="20000" marB="20000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+1 000</a:t>
                      </a:r>
                    </a:p>
                  </a:txBody>
                  <a:tcPr marL="40000" marR="40000" marT="20000" marB="20000">
                    <a:solidFill>
                      <a:srgbClr val="F5F7FA"/>
                    </a:solidFill>
                  </a:tcPr>
                </a:tc>
              </a:tr>
              <a:tr h="223115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Poseidon партнёры</a:t>
                      </a:r>
                    </a:p>
                  </a:txBody>
                  <a:tcPr marL="40000" marR="40000" marT="20000" marB="20000">
                    <a:solidFill>
                      <a:srgbClr val="EBF3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81C4F"/>
                          </a:solidFill>
                        </a:rPr>
                        <a:t>6+</a:t>
                      </a:r>
                    </a:p>
                  </a:txBody>
                  <a:tcPr marL="40000" marR="40000" marT="20000" marB="20000">
                    <a:solidFill>
                      <a:srgbClr val="EBF3FE"/>
                    </a:solidFill>
                  </a:tcPr>
                </a:tc>
              </a:tr>
            </a:tbl>
          </a:graphicData>
        </a:graphic>
      </p:graphicFrame>
      <p:sp>
        <p:nvSpPr>
          <p:cNvPr id="7" name="Text Placeholder 6"/>
          <p:cNvSpPr>
            <a:spLocks noGrp="1"/>
          </p:cNvSpPr>
          <p:nvPr>
            <p:ph type="body" idx="15" sz="quarter"/>
          </p:nvPr>
        </p:nvSpPr>
        <p:spPr>
          <a:xfrm>
            <a:off x="442913" y="6384626"/>
            <a:ext cx="11198224" cy="260000"/>
          </a:xfrm>
        </p:spPr>
        <p:txBody>
          <a:bodyPr/>
          <a:lstStyle/>
          <a:p>
            <a:r>
              <a:t>A3 Presentation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913" y="671247"/>
            <a:ext cx="11198224" cy="849883"/>
          </a:xfr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800"/>
            </a:pPr>
            <a:r>
              <a:rPr sz="2800"/>
              <a:t>12. OKR и ключевые метрики успеха (2)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>
          <a:xfrm>
            <a:off x="442913" y="1701130"/>
            <a:ext cx="11198224" cy="429767"/>
          </a:xfrm>
        </p:spPr>
        <p:txBody>
          <a:bodyPr wrap="square">
            <a:no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  <a:defRPr sz="800"/>
            </a:pPr>
            <a:r>
              <a:rPr sz="1800"/>
              <a:t>Цикл пересмотра стратегии</a:t>
            </a:r>
          </a:p>
        </p:txBody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442914" y="2310897"/>
          <a:ext cx="11198224" cy="38937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03254"/>
                <a:gridCol w="6494970"/>
              </a:tblGrid>
              <a:tr h="3200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Метрика</a:t>
                      </a:r>
                    </a:p>
                  </a:txBody>
                  <a:tcPr marL="60000" marR="60000" marT="30000" marB="30000">
                    <a:solidFill>
                      <a:srgbClr val="1D355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Цель 2026</a:t>
                      </a:r>
                    </a:p>
                  </a:txBody>
                  <a:tcPr marL="60000" marR="60000" marT="30000" marB="30000">
                    <a:solidFill>
                      <a:srgbClr val="1D3557"/>
                    </a:solidFill>
                  </a:tcPr>
                </a:tc>
              </a:tr>
              <a:tr h="32000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81C4F"/>
                          </a:solidFill>
                        </a:rPr>
                        <a:t>Uptime продукта</a:t>
                      </a:r>
                    </a:p>
                  </a:txBody>
                  <a:tcPr marL="60000" marR="60000" marT="30000" marB="30000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81C4F"/>
                          </a:solidFill>
                        </a:rPr>
                        <a:t>99.95%</a:t>
                      </a:r>
                    </a:p>
                  </a:txBody>
                  <a:tcPr marL="60000" marR="60000" marT="30000" marB="30000">
                    <a:solidFill>
                      <a:srgbClr val="F5F7FA"/>
                    </a:solidFill>
                  </a:tcPr>
                </a:tc>
              </a:tr>
              <a:tr h="32000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81C4F"/>
                          </a:solidFill>
                        </a:rPr>
                        <a:t>Churn rate банков</a:t>
                      </a:r>
                    </a:p>
                  </a:txBody>
                  <a:tcPr marL="60000" marR="60000" marT="30000" marB="30000">
                    <a:solidFill>
                      <a:srgbClr val="EBF3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81C4F"/>
                          </a:solidFill>
                        </a:rPr>
                        <a:t>0%</a:t>
                      </a:r>
                    </a:p>
                  </a:txBody>
                  <a:tcPr marL="60000" marR="60000" marT="30000" marB="30000">
                    <a:solidFill>
                      <a:srgbClr val="EBF3FE"/>
                    </a:solidFill>
                  </a:tcPr>
                </a:tc>
              </a:tr>
              <a:tr h="32000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81C4F"/>
                          </a:solidFill>
                        </a:rPr>
                        <a:t>РНКО</a:t>
                      </a:r>
                    </a:p>
                  </a:txBody>
                  <a:tcPr marL="60000" marR="60000" marT="30000" marB="30000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81C4F"/>
                          </a:solidFill>
                        </a:rPr>
                        <a:t>Лицензия + корр. счёт + 1 партнёр</a:t>
                      </a:r>
                    </a:p>
                  </a:txBody>
                  <a:tcPr marL="60000" marR="60000" marT="30000" marB="30000">
                    <a:solidFill>
                      <a:srgbClr val="F5F7FA"/>
                    </a:solidFill>
                  </a:tcPr>
                </a:tc>
              </a:tr>
              <a:tr h="32000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81C4F"/>
                          </a:solidFill>
                        </a:rPr>
                        <a:t>Проверенных гипотез R&amp;D</a:t>
                      </a:r>
                    </a:p>
                  </a:txBody>
                  <a:tcPr marL="60000" marR="60000" marT="30000" marB="30000">
                    <a:solidFill>
                      <a:srgbClr val="EBF3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81C4F"/>
                          </a:solidFill>
                        </a:rPr>
                        <a:t>7</a:t>
                      </a:r>
                    </a:p>
                  </a:txBody>
                  <a:tcPr marL="60000" marR="60000" marT="30000" marB="30000">
                    <a:solidFill>
                      <a:srgbClr val="EBF3FE"/>
                    </a:solidFill>
                  </a:tcPr>
                </a:tc>
              </a:tr>
              <a:tr h="32000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81C4F"/>
                          </a:solidFill>
                        </a:rPr>
                        <a:t>Удовлетворённость коммуникацией (топы)</a:t>
                      </a:r>
                    </a:p>
                  </a:txBody>
                  <a:tcPr marL="60000" marR="60000" marT="30000" marB="30000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/>
                  </a:txBody>
                  <a:tcPr marL="60000" marR="60000" marT="30000" marB="30000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7" name="Text Placeholder 6"/>
          <p:cNvSpPr>
            <a:spLocks noGrp="1"/>
          </p:cNvSpPr>
          <p:nvPr>
            <p:ph type="body" idx="15" sz="quarter"/>
          </p:nvPr>
        </p:nvSpPr>
        <p:spPr>
          <a:xfrm>
            <a:off x="442913" y="6384626"/>
            <a:ext cx="11198224" cy="260000"/>
          </a:xfrm>
        </p:spPr>
        <p:txBody>
          <a:bodyPr/>
          <a:lstStyle/>
          <a:p>
            <a:r>
              <a:t>A3 Presentation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913" y="671247"/>
            <a:ext cx="11198224" cy="849883"/>
          </a:xfr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600"/>
            </a:pPr>
            <a:r>
              <a:rPr sz="2800"/>
              <a:t>12. OKR и ключевые метрики успеха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>
          <a:xfrm>
            <a:off x="442913" y="1821130"/>
            <a:ext cx="11198224" cy="4383496"/>
          </a:xfrm>
        </p:spPr>
        <p:txBody>
          <a:bodyPr wrap="square">
            <a:normAutofit/>
          </a:bodyPr>
          <a:lstStyle/>
          <a:p>
            <a:pPr marL="400000" indent="-200000">
              <a:lnSpc>
                <a:spcPct val="105000"/>
              </a:lnSpc>
              <a:spcAft>
                <a:spcPts val="500"/>
              </a:spcAft>
              <a:buChar char="•"/>
              <a:defRPr sz="1500"/>
            </a:pPr>
            <a:r>
              <a:rPr sz="1500"/>
              <a:t>Ежеквартальный: оценка достижения целей, корректировка приоритетов</a:t>
            </a:r>
          </a:p>
          <a:p>
            <a:pPr marL="400000" indent="-200000">
              <a:lnSpc>
                <a:spcPct val="105000"/>
              </a:lnSpc>
              <a:spcAft>
                <a:spcPts val="500"/>
              </a:spcAft>
              <a:buChar char="•"/>
              <a:defRPr sz="1500"/>
            </a:pPr>
            <a:r>
              <a:rPr sz="1500"/>
              <a:t>Годовой стратегический офсайт: обновление Vision, планирование следующего года</a:t>
            </a:r>
          </a:p>
          <a:p>
            <a:pPr marL="400000" indent="-200000">
              <a:lnSpc>
                <a:spcPct val="105000"/>
              </a:lnSpc>
              <a:spcAft>
                <a:spcPts val="500"/>
              </a:spcAft>
              <a:buChar char="•"/>
              <a:defRPr sz="1500"/>
            </a:pPr>
            <a:r>
              <a:rPr sz="1500"/>
              <a:t>Ситуативная корректировка: при изменении внешней среды (регуляторика, рынок)</a:t>
            </a:r>
          </a:p>
          <a:p>
            <a:pPr marL="400000" indent="-200000">
              <a:lnSpc>
                <a:spcPct val="105000"/>
              </a:lnSpc>
              <a:spcAft>
                <a:spcPts val="500"/>
              </a:spcAft>
              <a:buChar char="•"/>
              <a:defRPr sz="1500"/>
            </a:pPr>
            <a:r>
              <a:rPr sz="1500"/>
              <a:t>Ответственный за мониторинг чёрных/белых лебедей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500"/>
            </a:pPr>
            <a:r>
              <a:rPr b="1" i="1" sz="1500"/>
              <a:t>А3 · Бизнес-стратегия 2026 · Конфиденциально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442913" y="6384626"/>
            <a:ext cx="11198224" cy="260000"/>
          </a:xfrm>
        </p:spPr>
        <p:txBody>
          <a:bodyPr/>
          <a:lstStyle/>
          <a:p>
            <a:r>
              <a:t>A3 Presentation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Светлые слайды">
  <a:themeElements>
    <a:clrScheme name="Основной">
      <a:dk1>
        <a:srgbClr val="081C4F"/>
      </a:dk1>
      <a:lt1>
        <a:sysClr val="window" lastClr="FFFFFF"/>
      </a:lt1>
      <a:dk2>
        <a:srgbClr val="3489F3"/>
      </a:dk2>
      <a:lt2>
        <a:srgbClr val="BFCAD4"/>
      </a:lt2>
      <a:accent1>
        <a:srgbClr val="EBF3FE"/>
      </a:accent1>
      <a:accent2>
        <a:srgbClr val="C6DFFF"/>
      </a:accent2>
      <a:accent3>
        <a:srgbClr val="3489F3"/>
      </a:accent3>
      <a:accent4>
        <a:srgbClr val="355BBB"/>
      </a:accent4>
      <a:accent5>
        <a:srgbClr val="081C4F"/>
      </a:accent5>
      <a:accent6>
        <a:srgbClr val="8579EF"/>
      </a:accent6>
      <a:hlink>
        <a:srgbClr val="355BBB"/>
      </a:hlink>
      <a:folHlink>
        <a:srgbClr val="EBF3FE"/>
      </a:folHlink>
    </a:clrScheme>
    <a:fontScheme name="Другая 1">
      <a:majorFont>
        <a:latin typeface="Mont SemiBold"/>
        <a:ea typeface=""/>
        <a:cs typeface=""/>
      </a:majorFont>
      <a:minorFont>
        <a:latin typeface="Mont Regular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Основной" id="{981F5A10-0B4A-4F1C-B2CD-ADCE2B337CB0}" vid="{F80A3D34-1CEE-4A45-B78A-076C77625B07}"/>
    </a:ext>
  </a:extLst>
</a:theme>
</file>

<file path=ppt/theme/theme2.xml><?xml version="1.0" encoding="utf-8"?>
<a:theme xmlns:a="http://schemas.openxmlformats.org/drawingml/2006/main" name="Темные слайды">
  <a:themeElements>
    <a:clrScheme name="Основной">
      <a:dk1>
        <a:srgbClr val="081C4F"/>
      </a:dk1>
      <a:lt1>
        <a:sysClr val="window" lastClr="FFFFFF"/>
      </a:lt1>
      <a:dk2>
        <a:srgbClr val="3489F3"/>
      </a:dk2>
      <a:lt2>
        <a:srgbClr val="BFCAD4"/>
      </a:lt2>
      <a:accent1>
        <a:srgbClr val="EBF3FE"/>
      </a:accent1>
      <a:accent2>
        <a:srgbClr val="C6DFFF"/>
      </a:accent2>
      <a:accent3>
        <a:srgbClr val="3489F3"/>
      </a:accent3>
      <a:accent4>
        <a:srgbClr val="355BBB"/>
      </a:accent4>
      <a:accent5>
        <a:srgbClr val="081C4F"/>
      </a:accent5>
      <a:accent6>
        <a:srgbClr val="8579EF"/>
      </a:accent6>
      <a:hlink>
        <a:srgbClr val="355BBB"/>
      </a:hlink>
      <a:folHlink>
        <a:srgbClr val="EBF3FE"/>
      </a:folHlink>
    </a:clrScheme>
    <a:fontScheme name="Другая 1">
      <a:majorFont>
        <a:latin typeface="Mont SemiBold"/>
        <a:ea typeface=""/>
        <a:cs typeface=""/>
      </a:majorFont>
      <a:minorFont>
        <a:latin typeface="Mont Regular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Основной</Template>
  <TotalTime>781</TotalTime>
  <Words>58</Words>
  <Application>Microsoft Office PowerPoint</Application>
  <PresentationFormat>Широкоэкранный</PresentationFormat>
  <Paragraphs>23</Paragraphs>
  <Slides>7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7</vt:i4>
      </vt:variant>
    </vt:vector>
  </HeadingPairs>
  <TitlesOfParts>
    <vt:vector size="13" baseType="lpstr">
      <vt:lpstr>Mont Regular</vt:lpstr>
      <vt:lpstr>Calibri</vt:lpstr>
      <vt:lpstr>Mont SemiBold</vt:lpstr>
      <vt:lpstr>Arial</vt:lpstr>
      <vt:lpstr>Светлые слайды</vt:lpstr>
      <vt:lpstr>Темные слайды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A3 Presentation</dc:title>
  <dc:creator>a3presentation</dc:creator>
  <cp:lastModifiedBy>Игнатов Иван</cp:lastModifiedBy>
  <cp:revision>59</cp:revision>
  <dcterms:created xsi:type="dcterms:W3CDTF">2023-03-20T12:37:22Z</dcterms:created>
  <dcterms:modified xsi:type="dcterms:W3CDTF">2026-04-01T11:05:46Z</dcterms:modified>
</cp:coreProperties>
</file>