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1"/>
  </p:sldMasterIdLst>
  <p:notesMasterIdLst>
    <p:notesMasterId r:id="rId6"/>
  </p:notesMasterIdLst>
  <p:sldIdLst>
    <p:sldId id="318" r:id="rId2"/>
    <p:sldId id="410" r:id="rId3"/>
    <p:sldId id="412" r:id="rId4"/>
    <p:sldId id="411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Mont Regular" panose="00000700000000000000" pitchFamily="2" charset="0"/>
      <p:regular r:id="rId11"/>
      <p:bold r:id="rId12"/>
    </p:embeddedFont>
    <p:embeddedFont>
      <p:font typeface="Mont SemiBold" panose="00000800000000000000" pitchFamily="2" charset="0"/>
      <p:regular r:id="rId13"/>
      <p:bold r:id="rId14"/>
    </p:embeddedFont>
    <p:embeddedFont>
      <p:font typeface="Mont SemiBold Italic" panose="020B060402020202020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3EA9867-D381-4D1F-B39D-9A7FDD68456C}">
          <p14:sldIdLst>
            <p14:sldId id="318"/>
            <p14:sldId id="410"/>
            <p14:sldId id="412"/>
            <p14:sldId id="4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6" pos="749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  <p188:author id="{084D75A4-7330-DFF7-1F1D-FA9C0A6E196F}" name="Пищулина Анна" initials="ПА" userId="S-1-5-21-2446548926-2867299375-1581538630-428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ищулина Анна" initials="ПА" lastIdx="37" clrIdx="0">
    <p:extLst>
      <p:ext uri="{19B8F6BF-5375-455C-9EA6-DF929625EA0E}">
        <p15:presenceInfo xmlns:p15="http://schemas.microsoft.com/office/powerpoint/2012/main" userId="S-1-5-21-2446548926-2867299375-1581538630-4284" providerId="AD"/>
      </p:ext>
    </p:extLst>
  </p:cmAuthor>
  <p:cmAuthor id="2" name="Office" initials="O" lastIdx="3" clrIdx="1">
    <p:extLst>
      <p:ext uri="{19B8F6BF-5375-455C-9EA6-DF929625EA0E}">
        <p15:presenceInfo xmlns:p15="http://schemas.microsoft.com/office/powerpoint/2012/main" userId="S::264204@365net.co::b537ad19-47e7-4d43-936a-3555599f682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9AF4"/>
    <a:srgbClr val="7C94F3"/>
    <a:srgbClr val="264595"/>
    <a:srgbClr val="D5DDF3"/>
    <a:srgbClr val="6D9EF5"/>
    <a:srgbClr val="6C9FF5"/>
    <a:srgbClr val="ABBCE7"/>
    <a:srgbClr val="8098D6"/>
    <a:srgbClr val="091E38"/>
    <a:srgbClr val="0E2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Темный стиль 1 — акцент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5226" autoAdjust="0"/>
  </p:normalViewPr>
  <p:slideViewPr>
    <p:cSldViewPr snapToGrid="0" showGuides="1">
      <p:cViewPr varScale="1">
        <p:scale>
          <a:sx n="155" d="100"/>
          <a:sy n="155" d="100"/>
        </p:scale>
        <p:origin x="162" y="420"/>
      </p:cViewPr>
      <p:guideLst>
        <p:guide orient="horz" pos="709"/>
        <p:guide orient="horz" pos="4133"/>
        <p:guide pos="7491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DC8EA-21D9-40F8-98D2-55048FC8A8E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5B6D2-EE63-4031-A7A5-B6A56908F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6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73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60DFF-4709-4F5A-99A8-A61D0BB31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598488"/>
            <a:ext cx="6200775" cy="23876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Mont SemiBold Italic" panose="00000800000000000000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6DF89B-3867-4BAB-8512-217C71B813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766" y="5570290"/>
            <a:ext cx="903591" cy="703510"/>
          </a:xfrm>
          <a:prstGeom prst="rect">
            <a:avLst/>
          </a:prstGeom>
        </p:spPr>
      </p:pic>
      <p:sp>
        <p:nvSpPr>
          <p:cNvPr id="8" name="Текст 19">
            <a:extLst>
              <a:ext uri="{FF2B5EF4-FFF2-40B4-BE49-F238E27FC236}">
                <a16:creationId xmlns:a16="http://schemas.microsoft.com/office/drawing/2014/main" id="{C9DA2715-32BC-4498-B10F-A4A40C2867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120605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Дата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064938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12">
            <a:extLst>
              <a:ext uri="{FF2B5EF4-FFF2-40B4-BE49-F238E27FC236}">
                <a16:creationId xmlns:a16="http://schemas.microsoft.com/office/drawing/2014/main" id="{0D2F4FB8-F65E-4FDE-98B4-95712A5BF6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аблица 15">
            <a:extLst>
              <a:ext uri="{FF2B5EF4-FFF2-40B4-BE49-F238E27FC236}">
                <a16:creationId xmlns:a16="http://schemas.microsoft.com/office/drawing/2014/main" id="{9A13E51C-23B4-47E1-8B8C-4EAB8630D011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42914" y="1970088"/>
            <a:ext cx="11198224" cy="2454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F5680B4-608F-4108-B2F0-AFF34CD3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4613563"/>
            <a:ext cx="5525511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8C8ED11-F0CC-4E0A-8EC4-C2A1B830C4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577" y="4613563"/>
            <a:ext cx="5417560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E91CCC5C-33EC-4650-8BA2-A78F6F41C4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5E70279-229D-4234-8294-A207DAE47D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F6C16246-7E0A-4915-B13C-598F6AE7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773C463-D085-4D9A-AC8F-30E668E019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0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12">
            <a:extLst>
              <a:ext uri="{FF2B5EF4-FFF2-40B4-BE49-F238E27FC236}">
                <a16:creationId xmlns:a16="http://schemas.microsoft.com/office/drawing/2014/main" id="{CA8F8B23-E33A-4CAF-BA2D-516123FEBB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2D920E0-504C-421C-A25E-3A82B658C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913" y="1791494"/>
            <a:ext cx="4370387" cy="1932608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9">
            <a:extLst>
              <a:ext uri="{FF2B5EF4-FFF2-40B4-BE49-F238E27FC236}">
                <a16:creationId xmlns:a16="http://schemas.microsoft.com/office/drawing/2014/main" id="{DDEC9A70-E4D3-4614-8E55-DE0EF2E730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3831706"/>
            <a:ext cx="4370387" cy="246462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158CA22C-9BB2-41CA-B2C8-CC858FBCED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0297" y="1228230"/>
            <a:ext cx="4990840" cy="4532490"/>
          </a:xfrm>
          <a:prstGeom prst="roundRect">
            <a:avLst>
              <a:gd name="adj" fmla="val 9337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9E67BA6A-FDC9-4073-9313-D591A2C11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1AF0B1-EB15-4436-9751-7FA773C8E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05C012F5-D8FC-4DAE-A552-D0E55248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CDC0A7C-D49E-45CC-80AE-6568ED0BA5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1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и">
    <p:bg>
      <p:bgPr>
        <a:gradFill>
          <a:gsLst>
            <a:gs pos="6000">
              <a:srgbClr val="081737"/>
            </a:gs>
            <a:gs pos="98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F848E46-E4FC-479B-AED8-0D20C733CB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4240" y="1447801"/>
            <a:ext cx="3636898" cy="4698998"/>
          </a:xfrm>
          <a:prstGeom prst="roundRect">
            <a:avLst>
              <a:gd name="adj" fmla="val 4620"/>
            </a:avLst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74DC60-84DD-4B5E-A050-D0AA7A4841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8394" y="1447801"/>
            <a:ext cx="3636898" cy="469899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F2BE516-5F20-4964-8961-6423C919A0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11" y="1441448"/>
            <a:ext cx="3636898" cy="4698998"/>
          </a:xfrm>
          <a:prstGeom prst="roundRect">
            <a:avLst>
              <a:gd name="adj" fmla="val 3066"/>
            </a:avLst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5CB4F-19F4-408A-BED6-C3E6697B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FE088-06AE-44D2-83AC-6F89B198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873" y="1690688"/>
            <a:ext cx="3134568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ECC3894-6D6E-4507-A3D3-03122A614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1690688"/>
            <a:ext cx="3114675" cy="41290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F380EC8-535E-482F-884B-FF00ADD83D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28757" y="1690688"/>
            <a:ext cx="3134568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706A90-02B8-4304-9400-1A8C7FEEDF3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88BCE02A-3F2D-45E9-AD83-28A34DFC12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932C1E5-4057-47C6-A142-99A12FE74D1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арточками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15183-7C0E-4E92-A103-D3A44EB8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19">
            <a:extLst>
              <a:ext uri="{FF2B5EF4-FFF2-40B4-BE49-F238E27FC236}">
                <a16:creationId xmlns:a16="http://schemas.microsoft.com/office/drawing/2014/main" id="{7049BAE4-38B2-4110-BC05-3E5E100673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ED400A9-3539-4DF4-B406-D969FF76CA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913" y="2278556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CB4A51DD-4CEA-43AF-A834-811E55525B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7563" y="2278556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1C04A93F-ACA7-4B91-9CFB-8C328128E8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2213" y="2278555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9CFE73D-AC97-442F-B5D6-F7E5F7FFD9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86862" y="2278555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54A3B5E-8533-4AD5-9366-6A2190328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2913" y="4191331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A883D5A7-3B54-4393-BBA9-883406527C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57563" y="4191331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547EA07F-F9C1-4D7B-8CD2-59A7BA75977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72213" y="4191330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78D7124B-9B52-4DEF-B256-6F3FB65CDA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86862" y="4191330"/>
            <a:ext cx="2454275" cy="1624013"/>
          </a:xfrm>
          <a:prstGeom prst="roundRect">
            <a:avLst>
              <a:gd name="adj" fmla="val 13220"/>
            </a:avLst>
          </a:prstGeom>
          <a:solidFill>
            <a:schemeClr val="accent2">
              <a:alpha val="30000"/>
            </a:schemeClr>
          </a:solidFill>
        </p:spPr>
        <p:txBody>
          <a:bodyPr anchor="ctr"/>
          <a:lstStyle>
            <a:lvl1pPr algn="ctr">
              <a:defRPr/>
            </a:lvl1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2D90F3-87C5-491E-9C82-730C62B340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B4F4B3-BDDA-4B92-A67A-4D9D40E6B7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3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еречислением _1">
    <p:bg>
      <p:bgPr>
        <a:gradFill>
          <a:gsLst>
            <a:gs pos="6000">
              <a:srgbClr val="081737"/>
            </a:gs>
            <a:gs pos="98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2">
            <a:extLst>
              <a:ext uri="{FF2B5EF4-FFF2-40B4-BE49-F238E27FC236}">
                <a16:creationId xmlns:a16="http://schemas.microsoft.com/office/drawing/2014/main" id="{F3628BC8-F1B5-4631-A176-6D5A879DC4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29D79CE9-52C3-461F-810C-E375E30BD4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tx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22" name="Текст 13">
            <a:extLst>
              <a:ext uri="{FF2B5EF4-FFF2-40B4-BE49-F238E27FC236}">
                <a16:creationId xmlns:a16="http://schemas.microsoft.com/office/drawing/2014/main" id="{1805E424-5D31-44D1-9EC3-52E414C80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378B5B71-E233-4A06-9AF1-09B8D519D4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46770" y="1690688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6C837D5E-C9FF-4231-894D-1AB8EC0E83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46770" y="2337615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46C065B2-433D-408D-912E-4B4CA6D8C2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46770" y="298454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ACF323D5-91B3-4196-B65C-38DF4E64F1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6770" y="3627337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9" name="Рисунок 24">
            <a:extLst>
              <a:ext uri="{FF2B5EF4-FFF2-40B4-BE49-F238E27FC236}">
                <a16:creationId xmlns:a16="http://schemas.microsoft.com/office/drawing/2014/main" id="{856D2F5B-F5D2-429A-9BB9-85A1BD9A628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6770" y="427013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0" name="Рисунок 24">
            <a:extLst>
              <a:ext uri="{FF2B5EF4-FFF2-40B4-BE49-F238E27FC236}">
                <a16:creationId xmlns:a16="http://schemas.microsoft.com/office/drawing/2014/main" id="{14593B76-605D-4E07-B42F-B6BC6E62C6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46770" y="4913483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2" name="Текст 19">
            <a:extLst>
              <a:ext uri="{FF2B5EF4-FFF2-40B4-BE49-F238E27FC236}">
                <a16:creationId xmlns:a16="http://schemas.microsoft.com/office/drawing/2014/main" id="{C5ADD586-2521-403E-80B0-9BCB07A363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FDA0D56C-6E32-4F8B-9809-47D31F79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6C8413E-0CC4-45C9-BDD9-179C0FE34B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B5A0803-319B-4854-B25D-16A0F08A55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перечислением 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BACE0-0B11-4DEE-99E8-FF04EF98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0D8968A-E3BF-4278-9BDD-99FB863866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solidFill>
            <a:schemeClr val="bg2"/>
          </a:solid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tx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Текст 12">
            <a:extLst>
              <a:ext uri="{FF2B5EF4-FFF2-40B4-BE49-F238E27FC236}">
                <a16:creationId xmlns:a16="http://schemas.microsoft.com/office/drawing/2014/main" id="{4D019254-AEE4-4C60-8C49-072764EA9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C9C3A56-913A-4AC7-B463-A142C4AE8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D24A90-DC22-4F1D-968C-6B3A7401B1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3" name="Текст 19">
            <a:extLst>
              <a:ext uri="{FF2B5EF4-FFF2-40B4-BE49-F238E27FC236}">
                <a16:creationId xmlns:a16="http://schemas.microsoft.com/office/drawing/2014/main" id="{9A44F16D-F7F0-4B32-9C84-1D93E64896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1F7946-D796-40C5-B7DE-61BA90EFBA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00" y="324029"/>
            <a:ext cx="883386" cy="2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0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97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акт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ADF5DC7-C739-4BDC-BB45-76E3F1CDAE74}"/>
              </a:ext>
            </a:extLst>
          </p:cNvPr>
          <p:cNvGrpSpPr/>
          <p:nvPr/>
        </p:nvGrpSpPr>
        <p:grpSpPr>
          <a:xfrm>
            <a:off x="6627460" y="1668440"/>
            <a:ext cx="5013677" cy="3632200"/>
            <a:chOff x="7270751" y="1030474"/>
            <a:chExt cx="3867150" cy="2801590"/>
          </a:xfrm>
        </p:grpSpPr>
        <p:sp>
          <p:nvSpPr>
            <p:cNvPr id="6" name="Сквиркл">
              <a:extLst>
                <a:ext uri="{FF2B5EF4-FFF2-40B4-BE49-F238E27FC236}">
                  <a16:creationId xmlns:a16="http://schemas.microsoft.com/office/drawing/2014/main" id="{8FE4899B-F77C-4831-8506-FB49318221C8}"/>
                </a:ext>
              </a:extLst>
            </p:cNvPr>
            <p:cNvSpPr/>
            <p:nvPr/>
          </p:nvSpPr>
          <p:spPr>
            <a:xfrm>
              <a:off x="7270751" y="1030474"/>
              <a:ext cx="3867150" cy="2801590"/>
            </a:xfrm>
            <a:prstGeom prst="roundRect">
              <a:avLst>
                <a:gd name="adj" fmla="val 8974"/>
              </a:avLst>
            </a:prstGeom>
            <a:solidFill>
              <a:srgbClr val="070C2B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6A590D8-CA4F-4350-B4F1-CEA7AB164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29537" y="3105221"/>
              <a:ext cx="174554" cy="174554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7353487-F2F5-410D-90E7-8619BA53A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29537" y="2732291"/>
              <a:ext cx="174554" cy="174554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6D0EDC7-F549-461F-B5C7-59C42FB18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28125" y="2397911"/>
              <a:ext cx="172558" cy="172556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7C74D03-E33C-4909-B782-B8021BB7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96883" y="1544890"/>
              <a:ext cx="211680" cy="211680"/>
            </a:xfrm>
            <a:prstGeom prst="rect">
              <a:avLst/>
            </a:prstGeom>
          </p:spPr>
        </p:pic>
      </p:grpSp>
      <p:sp>
        <p:nvSpPr>
          <p:cNvPr id="13" name="Текст 12">
            <a:extLst>
              <a:ext uri="{FF2B5EF4-FFF2-40B4-BE49-F238E27FC236}">
                <a16:creationId xmlns:a16="http://schemas.microsoft.com/office/drawing/2014/main" id="{ED64AC22-0091-404A-9C90-22C8DD9C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6650" y="2305374"/>
            <a:ext cx="3724275" cy="103790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Адрес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E96CF683-771D-4E00-B585-49A242B8AC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6650" y="3429000"/>
            <a:ext cx="3724275" cy="3619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Телефон</a:t>
            </a: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27F27141-362B-427E-B7DF-C258ECDA9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86650" y="3826037"/>
            <a:ext cx="3724275" cy="3619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Почта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4F82A75D-1F7E-4275-9471-D21BFC59F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86649" y="4290481"/>
            <a:ext cx="3724275" cy="3619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Сайт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2EDD10-A82D-3722-6BDF-B438CD5CDE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1642" y="2823128"/>
            <a:ext cx="3586711" cy="123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3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F711E-F761-4F72-9B31-634CE9D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514DB-6814-407C-8958-FBCF185DE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25167D-77F4-433D-9E54-417CEE411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98722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2" r:id="rId3"/>
    <p:sldLayoutId id="2147483669" r:id="rId4"/>
    <p:sldLayoutId id="2147483673" r:id="rId5"/>
    <p:sldLayoutId id="2147483664" r:id="rId6"/>
    <p:sldLayoutId id="2147483670" r:id="rId7"/>
    <p:sldLayoutId id="2147483674" r:id="rId8"/>
    <p:sldLayoutId id="214748367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svg"/><Relationship Id="rId9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sv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1C64CC-0542-4A52-A3F9-C15EEA6BF134}"/>
              </a:ext>
            </a:extLst>
          </p:cNvPr>
          <p:cNvSpPr txBox="1">
            <a:spLocks/>
          </p:cNvSpPr>
          <p:nvPr/>
        </p:nvSpPr>
        <p:spPr>
          <a:xfrm>
            <a:off x="459614" y="672766"/>
            <a:ext cx="11732386" cy="1276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2800" b="1" dirty="0">
                <a:solidFill>
                  <a:srgbClr val="948DE5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Пример подписки на регулярное получение уведомлений по лицевому счету</a:t>
            </a:r>
            <a:endParaRPr lang="ru-RU" sz="2800" b="1" dirty="0">
              <a:solidFill>
                <a:srgbClr val="948DE5"/>
              </a:solidFill>
              <a:latin typeface="Mont SemiBold" panose="00000800000000000000" pitchFamily="2" charset="0"/>
              <a:sym typeface="Calibri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40B2841-ECA8-4819-A636-8D6D559326F6}"/>
              </a:ext>
            </a:extLst>
          </p:cNvPr>
          <p:cNvSpPr txBox="1">
            <a:spLocks/>
          </p:cNvSpPr>
          <p:nvPr/>
        </p:nvSpPr>
        <p:spPr>
          <a:xfrm>
            <a:off x="480808" y="1471608"/>
            <a:ext cx="5242176" cy="492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2000" b="1" dirty="0">
                <a:solidFill>
                  <a:schemeClr val="bg1"/>
                </a:solidFill>
                <a:latin typeface="Mont SemiBold" panose="00000800000000000000" pitchFamily="2" charset="0"/>
                <a:sym typeface="Calibri"/>
              </a:rPr>
              <a:t>Подзаголовок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818B5F3-B7C0-4C8F-8916-067E1BC05F4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1066" y="6578956"/>
            <a:ext cx="353455" cy="27904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08091" y="5969984"/>
            <a:ext cx="18737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Поиск поставщика</a:t>
            </a:r>
          </a:p>
          <a:p>
            <a:pPr algn="ctr"/>
            <a:r>
              <a:rPr lang="ru-RU" sz="1200" dirty="0"/>
              <a:t>коммунальных </a:t>
            </a:r>
          </a:p>
          <a:p>
            <a:pPr algn="ctr"/>
            <a:r>
              <a:rPr lang="ru-RU" sz="1200" dirty="0"/>
              <a:t>услуг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206162" y="5969984"/>
            <a:ext cx="18737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Поиск счетов по лицевому счету или </a:t>
            </a:r>
            <a:r>
              <a:rPr lang="en-US" sz="1200" dirty="0"/>
              <a:t>QR</a:t>
            </a:r>
            <a:r>
              <a:rPr lang="ru-RU" sz="1200" dirty="0"/>
              <a:t> коду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199206" y="5969984"/>
            <a:ext cx="1873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Подписка на уведомления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6192249" y="5969984"/>
            <a:ext cx="18737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Уведомление о выставленном счете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8185291" y="5969984"/>
            <a:ext cx="18737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Передача показаний счетчиков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302133"/>
            <a:ext cx="1259937" cy="30853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091" y="1691971"/>
            <a:ext cx="1873706" cy="4057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6162" y="1691971"/>
            <a:ext cx="1873706" cy="40572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9206" y="1691971"/>
            <a:ext cx="1873706" cy="40572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2250" y="1691971"/>
            <a:ext cx="1873706" cy="40572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5294" y="1691971"/>
            <a:ext cx="1873706" cy="4057200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109FCF0-B6F1-47D7-BEA2-17D58CCC235D}"/>
              </a:ext>
            </a:extLst>
          </p:cNvPr>
          <p:cNvSpPr/>
          <p:nvPr/>
        </p:nvSpPr>
        <p:spPr>
          <a:xfrm>
            <a:off x="10173915" y="5969984"/>
            <a:ext cx="18737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Успешная оплата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2C203FB-2213-4346-8A61-6AFA06EEFF7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3915" y="1691972"/>
            <a:ext cx="1873706" cy="405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1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6F46EA-4084-4D61-8413-A3A416750C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1" y="317804"/>
            <a:ext cx="1122160" cy="2895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CA6045-FE9A-474C-BA14-7E3CB9E858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494" y="6273800"/>
            <a:ext cx="353455" cy="2790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F2CBCA7-B974-4964-BD58-DF98466FA1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055" y="2275840"/>
            <a:ext cx="1647633" cy="3264507"/>
          </a:xfrm>
          <a:prstGeom prst="roundRect">
            <a:avLst>
              <a:gd name="adj" fmla="val 11107"/>
            </a:avLst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78A8BF-7534-415F-98BB-3D29188A48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346" y="2268289"/>
            <a:ext cx="1647632" cy="3282012"/>
          </a:xfrm>
          <a:prstGeom prst="roundRect">
            <a:avLst>
              <a:gd name="adj" fmla="val 11107"/>
            </a:avLst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2F7E060-4935-4EFE-9AA4-1EF81D9B4A5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1636" y="2264483"/>
            <a:ext cx="1647632" cy="3290834"/>
          </a:xfrm>
          <a:prstGeom prst="roundRect">
            <a:avLst>
              <a:gd name="adj" fmla="val 11107"/>
            </a:avLst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C7E46B7-D53D-40E7-A5F2-4EC0CB6364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5926" y="2256808"/>
            <a:ext cx="1647632" cy="3308622"/>
          </a:xfrm>
          <a:prstGeom prst="roundRect">
            <a:avLst>
              <a:gd name="adj" fmla="val 11107"/>
            </a:avLst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33DE283-EFD5-464C-88D1-3198D499ED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4506" y="2245141"/>
            <a:ext cx="1647632" cy="3335667"/>
          </a:xfrm>
          <a:prstGeom prst="roundRect">
            <a:avLst>
              <a:gd name="adj" fmla="val 11107"/>
            </a:avLst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99E64F-C8DD-484D-87D9-4911E1C806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8796" y="2249050"/>
            <a:ext cx="1647632" cy="3326605"/>
          </a:xfrm>
          <a:prstGeom prst="roundRect">
            <a:avLst>
              <a:gd name="adj" fmla="val 11107"/>
            </a:avLst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155F957-37B6-45EB-9D04-D3C0822657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" r="667"/>
          <a:stretch/>
        </p:blipFill>
        <p:spPr>
          <a:xfrm>
            <a:off x="6970216" y="2256808"/>
            <a:ext cx="1647632" cy="3308622"/>
          </a:xfrm>
          <a:prstGeom prst="roundRect">
            <a:avLst>
              <a:gd name="adj" fmla="val 11107"/>
            </a:avLst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C1511F9-405D-492D-808D-CD99A4B7114A}"/>
              </a:ext>
            </a:extLst>
          </p:cNvPr>
          <p:cNvSpPr txBox="1">
            <a:spLocks/>
          </p:cNvSpPr>
          <p:nvPr/>
        </p:nvSpPr>
        <p:spPr>
          <a:xfrm>
            <a:off x="459614" y="672766"/>
            <a:ext cx="10693901" cy="1276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Пример </a:t>
            </a:r>
            <a:r>
              <a:rPr lang="ru-RU" sz="3500" b="1" dirty="0">
                <a:gradFill flip="none" rotWithShape="1">
                  <a:gsLst>
                    <a:gs pos="0">
                      <a:srgbClr val="8579EF"/>
                    </a:gs>
                    <a:gs pos="100000">
                      <a:srgbClr val="5DA1F5"/>
                    </a:gs>
                  </a:gsLst>
                  <a:lin ang="2700000" scaled="1"/>
                  <a:tileRect/>
                </a:gradFill>
                <a:latin typeface="Mont SemiBold" panose="00000800000000000000" pitchFamily="2" charset="0"/>
                <a:sym typeface="Calibri"/>
              </a:rPr>
              <a:t>получения и оплаты счетов </a:t>
            </a: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по адресу</a:t>
            </a:r>
            <a:endParaRPr lang="ru-RU" sz="3500" b="1" dirty="0">
              <a:gradFill flip="none" rotWithShape="1">
                <a:gsLst>
                  <a:gs pos="0">
                    <a:srgbClr val="8579EF"/>
                  </a:gs>
                  <a:gs pos="100000">
                    <a:srgbClr val="5DA1F5"/>
                  </a:gs>
                </a:gsLst>
                <a:lin ang="2700000" scaled="1"/>
                <a:tileRect/>
              </a:gradFill>
              <a:latin typeface="Mont SemiBold" panose="00000800000000000000" pitchFamily="2" charset="0"/>
              <a:sym typeface="Calibri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1CCAC8C-2364-4E7E-BEA9-49C323C3BFA5}"/>
              </a:ext>
            </a:extLst>
          </p:cNvPr>
          <p:cNvSpPr/>
          <p:nvPr/>
        </p:nvSpPr>
        <p:spPr>
          <a:xfrm>
            <a:off x="153055" y="5627469"/>
            <a:ext cx="15092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Переход в раздел оплаты коммунальных услуг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C99300-FA2E-4CB9-ACE4-C65DD322FF6B}"/>
              </a:ext>
            </a:extLst>
          </p:cNvPr>
          <p:cNvSpPr/>
          <p:nvPr/>
        </p:nvSpPr>
        <p:spPr>
          <a:xfrm>
            <a:off x="1800688" y="5627469"/>
            <a:ext cx="1647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поставщика</a:t>
            </a:r>
          </a:p>
          <a:p>
            <a:pPr algn="ctr"/>
            <a:r>
              <a:rPr lang="ru-RU" sz="1200" dirty="0"/>
              <a:t>коммунальных </a:t>
            </a:r>
          </a:p>
          <a:p>
            <a:pPr algn="ctr"/>
            <a:r>
              <a:rPr lang="ru-RU" sz="1200" dirty="0"/>
              <a:t>услуг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60C299-783B-4DFE-8ECE-17B9787AC637}"/>
              </a:ext>
            </a:extLst>
          </p:cNvPr>
          <p:cNvSpPr/>
          <p:nvPr/>
        </p:nvSpPr>
        <p:spPr>
          <a:xfrm>
            <a:off x="3561636" y="5639273"/>
            <a:ext cx="1647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Ввод адреса для поиска задолженности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7E9E46C-19A9-4C48-B8B2-9DBF8FB5394B}"/>
              </a:ext>
            </a:extLst>
          </p:cNvPr>
          <p:cNvSpPr/>
          <p:nvPr/>
        </p:nvSpPr>
        <p:spPr>
          <a:xfrm>
            <a:off x="5209268" y="5649386"/>
            <a:ext cx="1647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Поиск всех счетов</a:t>
            </a:r>
            <a:r>
              <a:rPr lang="en-US" sz="1200" dirty="0"/>
              <a:t>, </a:t>
            </a:r>
            <a:r>
              <a:rPr lang="ru-RU" sz="1200" dirty="0"/>
              <a:t>привязанных к данному адресу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CB5D34-282E-488C-93B3-BAAE167ABB09}"/>
              </a:ext>
            </a:extLst>
          </p:cNvPr>
          <p:cNvSpPr/>
          <p:nvPr/>
        </p:nvSpPr>
        <p:spPr>
          <a:xfrm>
            <a:off x="6970216" y="5627468"/>
            <a:ext cx="1647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Предоставление списка найденных счетов по поставщикам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8E98578-5D5B-4E20-9625-5FB8514D965C}"/>
              </a:ext>
            </a:extLst>
          </p:cNvPr>
          <p:cNvSpPr/>
          <p:nvPr/>
        </p:nvSpPr>
        <p:spPr>
          <a:xfrm>
            <a:off x="8674506" y="5614242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счетов для оплаты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6BD2BE-52E7-48C0-B579-3797C48C1481}"/>
              </a:ext>
            </a:extLst>
          </p:cNvPr>
          <p:cNvSpPr/>
          <p:nvPr/>
        </p:nvSpPr>
        <p:spPr>
          <a:xfrm>
            <a:off x="10378796" y="5634262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Оплата счетов одним кликом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774873" y="-80675"/>
            <a:ext cx="5117869" cy="86969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 бы перерисовала </a:t>
            </a:r>
            <a:r>
              <a:rPr lang="en-US" dirty="0"/>
              <a:t>CJM</a:t>
            </a:r>
            <a:r>
              <a:rPr lang="ru-RU" dirty="0"/>
              <a:t> с Иваном после согласования, а то очень явно, что Альфа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6774873" y="1174071"/>
            <a:ext cx="5117869" cy="86969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Обсудить с развитием: рисуем </a:t>
            </a:r>
            <a:r>
              <a:rPr lang="en-US" dirty="0"/>
              <a:t>CJM</a:t>
            </a:r>
            <a:r>
              <a:rPr lang="ru-RU" dirty="0"/>
              <a:t> из услуг или через </a:t>
            </a:r>
            <a:r>
              <a:rPr lang="ru-RU" dirty="0" err="1"/>
              <a:t>виджет</a:t>
            </a:r>
            <a:r>
              <a:rPr lang="ru-RU" dirty="0"/>
              <a:t> ДОМ</a:t>
            </a:r>
          </a:p>
        </p:txBody>
      </p:sp>
    </p:spTree>
    <p:extLst>
      <p:ext uri="{BB962C8B-B14F-4D97-AF65-F5344CB8AC3E}">
        <p14:creationId xmlns:p14="http://schemas.microsoft.com/office/powerpoint/2010/main" val="246769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6F46EA-4084-4D61-8413-A3A416750C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1" y="317804"/>
            <a:ext cx="1122160" cy="2895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CA6045-FE9A-474C-BA14-7E3CB9E858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494" y="6273800"/>
            <a:ext cx="353455" cy="2790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F2CBCA7-B974-4964-BD58-DF98466FA1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" b="283"/>
          <a:stretch/>
        </p:blipFill>
        <p:spPr>
          <a:xfrm>
            <a:off x="540131" y="2142991"/>
            <a:ext cx="1647633" cy="3538827"/>
          </a:xfrm>
          <a:prstGeom prst="roundRect">
            <a:avLst>
              <a:gd name="adj" fmla="val 11107"/>
            </a:avLst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78A8BF-7534-415F-98BB-3D29188A48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" b="404"/>
          <a:stretch/>
        </p:blipFill>
        <p:spPr>
          <a:xfrm>
            <a:off x="2244422" y="2142991"/>
            <a:ext cx="1647632" cy="3538828"/>
          </a:xfrm>
          <a:prstGeom prst="roundRect">
            <a:avLst>
              <a:gd name="adj" fmla="val 11107"/>
            </a:avLst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2F7E060-4935-4EFE-9AA4-1EF81D9B4A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" b="-2013"/>
          <a:stretch/>
        </p:blipFill>
        <p:spPr>
          <a:xfrm>
            <a:off x="3948712" y="2149784"/>
            <a:ext cx="1647632" cy="3615736"/>
          </a:xfrm>
          <a:prstGeom prst="roundRect">
            <a:avLst>
              <a:gd name="adj" fmla="val 11107"/>
            </a:avLst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33DE283-EFD5-464C-88D1-3198D499ED1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" b="230"/>
          <a:stretch/>
        </p:blipFill>
        <p:spPr>
          <a:xfrm>
            <a:off x="5658526" y="2149784"/>
            <a:ext cx="1647632" cy="3538827"/>
          </a:xfrm>
          <a:prstGeom prst="roundRect">
            <a:avLst>
              <a:gd name="adj" fmla="val 11107"/>
            </a:avLst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99E64F-C8DD-484D-87D9-4911E1C8062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" b="212"/>
          <a:stretch/>
        </p:blipFill>
        <p:spPr>
          <a:xfrm>
            <a:off x="7375332" y="2149784"/>
            <a:ext cx="1647632" cy="3538827"/>
          </a:xfrm>
          <a:prstGeom prst="roundRect">
            <a:avLst>
              <a:gd name="adj" fmla="val 11107"/>
            </a:avLst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C1511F9-405D-492D-808D-CD99A4B7114A}"/>
              </a:ext>
            </a:extLst>
          </p:cNvPr>
          <p:cNvSpPr txBox="1">
            <a:spLocks/>
          </p:cNvSpPr>
          <p:nvPr/>
        </p:nvSpPr>
        <p:spPr>
          <a:xfrm>
            <a:off x="459614" y="672766"/>
            <a:ext cx="10693901" cy="1276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Пример </a:t>
            </a:r>
            <a:r>
              <a:rPr lang="ru-RU" sz="3500" b="1" dirty="0">
                <a:gradFill flip="none" rotWithShape="1">
                  <a:gsLst>
                    <a:gs pos="0">
                      <a:srgbClr val="8579EF"/>
                    </a:gs>
                    <a:gs pos="100000">
                      <a:srgbClr val="5DA1F5"/>
                    </a:gs>
                  </a:gsLst>
                  <a:lin ang="2700000" scaled="1"/>
                  <a:tileRect/>
                </a:gradFill>
                <a:latin typeface="Mont SemiBold" panose="00000800000000000000" pitchFamily="2" charset="0"/>
                <a:sym typeface="Calibri"/>
              </a:rPr>
              <a:t>получения и оплаты счетов </a:t>
            </a: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по адресу</a:t>
            </a:r>
            <a:endParaRPr lang="ru-RU" sz="3500" b="1" dirty="0">
              <a:gradFill flip="none" rotWithShape="1">
                <a:gsLst>
                  <a:gs pos="0">
                    <a:srgbClr val="8579EF"/>
                  </a:gs>
                  <a:gs pos="100000">
                    <a:srgbClr val="5DA1F5"/>
                  </a:gs>
                </a:gsLst>
                <a:lin ang="2700000" scaled="1"/>
                <a:tileRect/>
              </a:gradFill>
              <a:latin typeface="Mont SemiBold" panose="00000800000000000000" pitchFamily="2" charset="0"/>
              <a:sym typeface="Calibri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1CCAC8C-2364-4E7E-BEA9-49C323C3BFA5}"/>
              </a:ext>
            </a:extLst>
          </p:cNvPr>
          <p:cNvSpPr/>
          <p:nvPr/>
        </p:nvSpPr>
        <p:spPr>
          <a:xfrm>
            <a:off x="540131" y="5681819"/>
            <a:ext cx="15092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Переход в раздел оплаты коммунальных услуг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C99300-FA2E-4CB9-ACE4-C65DD322FF6B}"/>
              </a:ext>
            </a:extLst>
          </p:cNvPr>
          <p:cNvSpPr/>
          <p:nvPr/>
        </p:nvSpPr>
        <p:spPr>
          <a:xfrm>
            <a:off x="2187764" y="5681819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способа поиска счета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60C299-783B-4DFE-8ECE-17B9787AC637}"/>
              </a:ext>
            </a:extLst>
          </p:cNvPr>
          <p:cNvSpPr/>
          <p:nvPr/>
        </p:nvSpPr>
        <p:spPr>
          <a:xfrm>
            <a:off x="3948712" y="5693623"/>
            <a:ext cx="1647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Ввод адреса для поиска задолженности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8E98578-5D5B-4E20-9625-5FB8514D965C}"/>
              </a:ext>
            </a:extLst>
          </p:cNvPr>
          <p:cNvSpPr/>
          <p:nvPr/>
        </p:nvSpPr>
        <p:spPr>
          <a:xfrm>
            <a:off x="5658526" y="5668592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счетов для оплаты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6BD2BE-52E7-48C0-B579-3797C48C1481}"/>
              </a:ext>
            </a:extLst>
          </p:cNvPr>
          <p:cNvSpPr/>
          <p:nvPr/>
        </p:nvSpPr>
        <p:spPr>
          <a:xfrm>
            <a:off x="7375332" y="5688612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Оплата счетов одним кликом</a:t>
            </a:r>
          </a:p>
        </p:txBody>
      </p: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04F1AC34-CABD-4195-BBF1-6120D6421728}"/>
              </a:ext>
            </a:extLst>
          </p:cNvPr>
          <p:cNvCxnSpPr>
            <a:cxnSpLocks/>
          </p:cNvCxnSpPr>
          <p:nvPr/>
        </p:nvCxnSpPr>
        <p:spPr>
          <a:xfrm flipV="1">
            <a:off x="3323968" y="2804984"/>
            <a:ext cx="681402" cy="624017"/>
          </a:xfrm>
          <a:prstGeom prst="bentConnector3">
            <a:avLst/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D0F7B5F8-74F4-48E9-8CC8-5690518F3F5B}"/>
              </a:ext>
            </a:extLst>
          </p:cNvPr>
          <p:cNvCxnSpPr>
            <a:cxnSpLocks/>
          </p:cNvCxnSpPr>
          <p:nvPr/>
        </p:nvCxnSpPr>
        <p:spPr>
          <a:xfrm>
            <a:off x="5035378" y="3058297"/>
            <a:ext cx="674282" cy="271849"/>
          </a:xfrm>
          <a:prstGeom prst="bentConnector3">
            <a:avLst/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80DEEA0A-2667-403B-A7B1-8144750DE70B}"/>
              </a:ext>
            </a:extLst>
          </p:cNvPr>
          <p:cNvCxnSpPr>
            <a:cxnSpLocks/>
          </p:cNvCxnSpPr>
          <p:nvPr/>
        </p:nvCxnSpPr>
        <p:spPr>
          <a:xfrm flipV="1">
            <a:off x="6482344" y="4850027"/>
            <a:ext cx="987604" cy="556055"/>
          </a:xfrm>
          <a:prstGeom prst="bentConnector3">
            <a:avLst>
              <a:gd name="adj1" fmla="val -673"/>
            </a:avLst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23793338-9C8C-4B40-AD78-B3D2EA9AD659}"/>
              </a:ext>
            </a:extLst>
          </p:cNvPr>
          <p:cNvCxnSpPr>
            <a:cxnSpLocks/>
          </p:cNvCxnSpPr>
          <p:nvPr/>
        </p:nvCxnSpPr>
        <p:spPr>
          <a:xfrm flipV="1">
            <a:off x="1101211" y="3429000"/>
            <a:ext cx="1199869" cy="655202"/>
          </a:xfrm>
          <a:prstGeom prst="bentConnector3">
            <a:avLst>
              <a:gd name="adj1" fmla="val 45366"/>
            </a:avLst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36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56F46EA-4084-4D61-8413-A3A416750C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1" y="317804"/>
            <a:ext cx="1122160" cy="2895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CA6045-FE9A-474C-BA14-7E3CB9E858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494" y="6273800"/>
            <a:ext cx="353455" cy="2790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F2CBCA7-B974-4964-BD58-DF98466FA1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" b="283"/>
          <a:stretch/>
        </p:blipFill>
        <p:spPr>
          <a:xfrm>
            <a:off x="540131" y="2142991"/>
            <a:ext cx="1647633" cy="3538827"/>
          </a:xfrm>
          <a:prstGeom prst="roundRect">
            <a:avLst>
              <a:gd name="adj" fmla="val 11107"/>
            </a:avLst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78A8BF-7534-415F-98BB-3D29188A48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" b="404"/>
          <a:stretch/>
        </p:blipFill>
        <p:spPr>
          <a:xfrm>
            <a:off x="2244422" y="2142991"/>
            <a:ext cx="1647632" cy="3538828"/>
          </a:xfrm>
          <a:prstGeom prst="roundRect">
            <a:avLst>
              <a:gd name="adj" fmla="val 11107"/>
            </a:avLst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C7E46B7-D53D-40E7-A5F2-4EC0CB6364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" b="179"/>
          <a:stretch/>
        </p:blipFill>
        <p:spPr>
          <a:xfrm>
            <a:off x="3961228" y="2149784"/>
            <a:ext cx="1647632" cy="3538828"/>
          </a:xfrm>
          <a:prstGeom prst="roundRect">
            <a:avLst>
              <a:gd name="adj" fmla="val 11107"/>
            </a:avLst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33DE283-EFD5-464C-88D1-3198D499ED1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" b="230"/>
          <a:stretch/>
        </p:blipFill>
        <p:spPr>
          <a:xfrm>
            <a:off x="5665518" y="2149784"/>
            <a:ext cx="1647632" cy="3538827"/>
          </a:xfrm>
          <a:prstGeom prst="roundRect">
            <a:avLst>
              <a:gd name="adj" fmla="val 11107"/>
            </a:avLst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99E64F-C8DD-484D-87D9-4911E1C8062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" b="212"/>
          <a:stretch/>
        </p:blipFill>
        <p:spPr>
          <a:xfrm>
            <a:off x="7382324" y="2149784"/>
            <a:ext cx="1647632" cy="3538827"/>
          </a:xfrm>
          <a:prstGeom prst="roundRect">
            <a:avLst>
              <a:gd name="adj" fmla="val 11107"/>
            </a:avLst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C1511F9-405D-492D-808D-CD99A4B7114A}"/>
              </a:ext>
            </a:extLst>
          </p:cNvPr>
          <p:cNvSpPr txBox="1">
            <a:spLocks/>
          </p:cNvSpPr>
          <p:nvPr/>
        </p:nvSpPr>
        <p:spPr>
          <a:xfrm>
            <a:off x="459614" y="672766"/>
            <a:ext cx="10693901" cy="1276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Пример </a:t>
            </a:r>
            <a:r>
              <a:rPr lang="ru-RU" sz="3500" b="1" dirty="0">
                <a:gradFill flip="none" rotWithShape="1">
                  <a:gsLst>
                    <a:gs pos="0">
                      <a:srgbClr val="8579EF"/>
                    </a:gs>
                    <a:gs pos="100000">
                      <a:srgbClr val="5DA1F5"/>
                    </a:gs>
                  </a:gsLst>
                  <a:lin ang="2700000" scaled="1"/>
                  <a:tileRect/>
                </a:gradFill>
                <a:latin typeface="Mont SemiBold" panose="00000800000000000000" pitchFamily="2" charset="0"/>
                <a:sym typeface="Calibri"/>
              </a:rPr>
              <a:t>получения и оплаты счетов </a:t>
            </a:r>
            <a:r>
              <a:rPr lang="ru-RU" sz="3500" b="1" dirty="0">
                <a:solidFill>
                  <a:srgbClr val="FFFFFF"/>
                </a:solidFill>
                <a:latin typeface="Mont SemiBold" panose="00000800000000000000" pitchFamily="2" charset="0"/>
                <a:cs typeface="Mont-SemiBold"/>
                <a:sym typeface="Calibri"/>
              </a:rPr>
              <a:t>по сохраненному дому</a:t>
            </a:r>
            <a:endParaRPr lang="ru-RU" sz="3500" b="1" dirty="0">
              <a:gradFill flip="none" rotWithShape="1">
                <a:gsLst>
                  <a:gs pos="0">
                    <a:srgbClr val="8579EF"/>
                  </a:gs>
                  <a:gs pos="100000">
                    <a:srgbClr val="5DA1F5"/>
                  </a:gs>
                </a:gsLst>
                <a:lin ang="2700000" scaled="1"/>
                <a:tileRect/>
              </a:gradFill>
              <a:latin typeface="Mont SemiBold" panose="00000800000000000000" pitchFamily="2" charset="0"/>
              <a:sym typeface="Calibri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1CCAC8C-2364-4E7E-BEA9-49C323C3BFA5}"/>
              </a:ext>
            </a:extLst>
          </p:cNvPr>
          <p:cNvSpPr/>
          <p:nvPr/>
        </p:nvSpPr>
        <p:spPr>
          <a:xfrm>
            <a:off x="540131" y="5681819"/>
            <a:ext cx="15092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Переход в раздел оплаты коммунальных услуг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C99300-FA2E-4CB9-ACE4-C65DD322FF6B}"/>
              </a:ext>
            </a:extLst>
          </p:cNvPr>
          <p:cNvSpPr/>
          <p:nvPr/>
        </p:nvSpPr>
        <p:spPr>
          <a:xfrm>
            <a:off x="2187764" y="5681819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способа поиска счета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60C299-783B-4DFE-8ECE-17B9787AC637}"/>
              </a:ext>
            </a:extLst>
          </p:cNvPr>
          <p:cNvSpPr/>
          <p:nvPr/>
        </p:nvSpPr>
        <p:spPr>
          <a:xfrm>
            <a:off x="3948712" y="5693623"/>
            <a:ext cx="1647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ранее сохранённого адреса или новый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8E98578-5D5B-4E20-9625-5FB8514D965C}"/>
              </a:ext>
            </a:extLst>
          </p:cNvPr>
          <p:cNvSpPr/>
          <p:nvPr/>
        </p:nvSpPr>
        <p:spPr>
          <a:xfrm>
            <a:off x="5694453" y="5688612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Выбор счетов для оплаты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6BD2BE-52E7-48C0-B579-3797C48C1481}"/>
              </a:ext>
            </a:extLst>
          </p:cNvPr>
          <p:cNvSpPr/>
          <p:nvPr/>
        </p:nvSpPr>
        <p:spPr>
          <a:xfrm>
            <a:off x="7382324" y="5695467"/>
            <a:ext cx="1647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/>
              <a:t>Оплата счетов одним кликом</a:t>
            </a:r>
          </a:p>
        </p:txBody>
      </p: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04F1AC34-CABD-4195-BBF1-6120D6421728}"/>
              </a:ext>
            </a:extLst>
          </p:cNvPr>
          <p:cNvCxnSpPr>
            <a:cxnSpLocks/>
          </p:cNvCxnSpPr>
          <p:nvPr/>
        </p:nvCxnSpPr>
        <p:spPr>
          <a:xfrm flipV="1">
            <a:off x="3323968" y="2804984"/>
            <a:ext cx="681402" cy="624017"/>
          </a:xfrm>
          <a:prstGeom prst="bentConnector3">
            <a:avLst/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F940F31F-66F7-4C22-8D95-E3E35F669A92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276540" y="3641274"/>
            <a:ext cx="1388978" cy="277924"/>
          </a:xfrm>
          <a:prstGeom prst="bentConnector3">
            <a:avLst>
              <a:gd name="adj1" fmla="val 626"/>
            </a:avLst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80DEEA0A-2667-403B-A7B1-8144750DE70B}"/>
              </a:ext>
            </a:extLst>
          </p:cNvPr>
          <p:cNvCxnSpPr>
            <a:cxnSpLocks/>
          </p:cNvCxnSpPr>
          <p:nvPr/>
        </p:nvCxnSpPr>
        <p:spPr>
          <a:xfrm flipV="1">
            <a:off x="6489336" y="4850027"/>
            <a:ext cx="987604" cy="556055"/>
          </a:xfrm>
          <a:prstGeom prst="bentConnector3">
            <a:avLst>
              <a:gd name="adj1" fmla="val -673"/>
            </a:avLst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23793338-9C8C-4B40-AD78-B3D2EA9AD659}"/>
              </a:ext>
            </a:extLst>
          </p:cNvPr>
          <p:cNvCxnSpPr>
            <a:cxnSpLocks/>
          </p:cNvCxnSpPr>
          <p:nvPr/>
        </p:nvCxnSpPr>
        <p:spPr>
          <a:xfrm flipV="1">
            <a:off x="1101211" y="3429000"/>
            <a:ext cx="1199869" cy="655202"/>
          </a:xfrm>
          <a:prstGeom prst="bentConnector3">
            <a:avLst>
              <a:gd name="adj1" fmla="val 45366"/>
            </a:avLst>
          </a:prstGeom>
          <a:ln w="19050">
            <a:solidFill>
              <a:srgbClr val="759A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9876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ные слайды">
  <a:themeElements>
    <a:clrScheme name="Другая 25">
      <a:dk1>
        <a:srgbClr val="070C2B"/>
      </a:dk1>
      <a:lt1>
        <a:srgbClr val="FFFFFF"/>
      </a:lt1>
      <a:dk2>
        <a:srgbClr val="081C4F"/>
      </a:dk2>
      <a:lt2>
        <a:srgbClr val="8D9BC2"/>
      </a:lt2>
      <a:accent1>
        <a:srgbClr val="264595"/>
      </a:accent1>
      <a:accent2>
        <a:srgbClr val="355BBB"/>
      </a:accent2>
      <a:accent3>
        <a:srgbClr val="1558A9"/>
      </a:accent3>
      <a:accent4>
        <a:srgbClr val="8D9BC2"/>
      </a:accent4>
      <a:accent5>
        <a:srgbClr val="1558A9"/>
      </a:accent5>
      <a:accent6>
        <a:srgbClr val="05071B"/>
      </a:accent6>
      <a:hlink>
        <a:srgbClr val="FFFFFF"/>
      </a:hlink>
      <a:folHlink>
        <a:srgbClr val="8299B6"/>
      </a:folHlink>
    </a:clrScheme>
    <a:fontScheme name="Другая 1">
      <a:majorFont>
        <a:latin typeface="Mont SemiBold"/>
        <a:ea typeface=""/>
        <a:cs typeface=""/>
      </a:majorFont>
      <a:minorFont>
        <a:latin typeface="Mont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58611</TotalTime>
  <Words>169</Words>
  <Application>Microsoft Office PowerPoint</Application>
  <PresentationFormat>Широкоэкранный</PresentationFormat>
  <Paragraphs>35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Mont Regular</vt:lpstr>
      <vt:lpstr>Calibri</vt:lpstr>
      <vt:lpstr>Mont SemiBold Italic</vt:lpstr>
      <vt:lpstr>Arial</vt:lpstr>
      <vt:lpstr>Mont SemiBold</vt:lpstr>
      <vt:lpstr>Темные слайды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Елизавета Котораева</dc:creator>
  <cp:lastModifiedBy>Игнатов Иван</cp:lastModifiedBy>
  <cp:revision>322</cp:revision>
  <dcterms:created xsi:type="dcterms:W3CDTF">2023-03-20T12:37:22Z</dcterms:created>
  <dcterms:modified xsi:type="dcterms:W3CDTF">2026-04-21T18:48:52Z</dcterms:modified>
</cp:coreProperties>
</file>